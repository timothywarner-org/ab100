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41"/>
  </p:notesMasterIdLst>
  <p:sldIdLst>
    <p:sldId id="279" r:id="rId3"/>
    <p:sldId id="4954" r:id="rId4"/>
    <p:sldId id="2134805738" r:id="rId5"/>
    <p:sldId id="362" r:id="rId6"/>
    <p:sldId id="2134805735" r:id="rId7"/>
    <p:sldId id="2134805750" r:id="rId8"/>
    <p:sldId id="2134805748" r:id="rId9"/>
    <p:sldId id="2076137130" r:id="rId10"/>
    <p:sldId id="2134805724" r:id="rId11"/>
    <p:sldId id="2134805749" r:id="rId12"/>
    <p:sldId id="2134805806" r:id="rId13"/>
    <p:sldId id="2134805807" r:id="rId14"/>
    <p:sldId id="2134805808" r:id="rId15"/>
    <p:sldId id="329" r:id="rId16"/>
    <p:sldId id="2134805739" r:id="rId17"/>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DA92DF5-2234-4982-B7AD-8B793923F20A}">
          <p14:sldIdLst>
            <p14:sldId id="279"/>
            <p14:sldId id="4954"/>
            <p14:sldId id="2134805738"/>
            <p14:sldId id="362"/>
            <p14:sldId id="2134805735"/>
            <p14:sldId id="2134805750"/>
            <p14:sldId id="2134805748"/>
            <p14:sldId id="2076137130"/>
            <p14:sldId id="2134805724"/>
            <p14:sldId id="2134805749"/>
            <p14:sldId id="2134805806"/>
            <p14:sldId id="2134805807"/>
            <p14:sldId id="2134805808"/>
            <p14:sldId id="329"/>
            <p14:sldId id="2134805739"/>
          </p14:sldIdLst>
        </p14:section>
        <p14:section name="Default Section" id="{E2D7B8DE-D4A3-4D26-BE2B-E5B6426840E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11"/>
    <p:restoredTop sz="94610"/>
  </p:normalViewPr>
  <p:slideViewPr>
    <p:cSldViewPr snapToGrid="0" snapToObjects="1">
      <p:cViewPr varScale="1">
        <p:scale>
          <a:sx n="145" d="100"/>
          <a:sy n="145" d="100"/>
        </p:scale>
        <p:origin x="100" y="5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153C74-BDE5-40A8-97C9-60F610E3A9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51ECDE-7F91-41EE-83FF-A5A0B30C64B6}">
      <dgm:prSet custT="1"/>
      <dgm:spPr/>
      <dgm:t>
        <a:bodyPr/>
        <a:lstStyle/>
        <a:p>
          <a:r>
            <a:rPr lang="en-US" sz="1800" dirty="0"/>
            <a:t>Course materials: </a:t>
          </a:r>
          <a:r>
            <a:rPr lang="en-US" sz="1800" b="1" dirty="0">
              <a:solidFill>
                <a:srgbClr val="FFFF00"/>
              </a:solidFill>
            </a:rPr>
            <a:t>github.com/</a:t>
          </a:r>
          <a:r>
            <a:rPr lang="en-US" sz="1800" b="1" dirty="0" err="1">
              <a:solidFill>
                <a:srgbClr val="FFFF00"/>
              </a:solidFill>
            </a:rPr>
            <a:t>timothywarner</a:t>
          </a:r>
          <a:r>
            <a:rPr lang="en-US" sz="1800" b="1" dirty="0">
              <a:solidFill>
                <a:srgbClr val="FFFF00"/>
              </a:solidFill>
            </a:rPr>
            <a:t>-org/ab100</a:t>
          </a:r>
        </a:p>
      </dgm:t>
    </dgm:pt>
    <dgm:pt modelId="{9C59B82A-49CF-4B0E-B6B5-FF62960F1236}" type="parTrans" cxnId="{374444DA-359A-40BB-AA3C-CB4B23E1DEE6}">
      <dgm:prSet/>
      <dgm:spPr/>
      <dgm:t>
        <a:bodyPr/>
        <a:lstStyle/>
        <a:p>
          <a:endParaRPr lang="en-US"/>
        </a:p>
      </dgm:t>
    </dgm:pt>
    <dgm:pt modelId="{C4705C84-C0A0-43AD-815D-1B5CC937168C}" type="sibTrans" cxnId="{374444DA-359A-40BB-AA3C-CB4B23E1DEE6}">
      <dgm:prSet/>
      <dgm:spPr/>
      <dgm:t>
        <a:bodyPr/>
        <a:lstStyle/>
        <a:p>
          <a:endParaRPr lang="en-US"/>
        </a:p>
      </dgm:t>
    </dgm:pt>
    <dgm:pt modelId="{611853A7-54C7-4654-8593-89A6186AA0E8}">
      <dgm:prSet custT="1"/>
      <dgm:spPr/>
      <dgm:t>
        <a:bodyPr/>
        <a:lstStyle/>
        <a:p>
          <a:r>
            <a:rPr lang="en-US" sz="1800" kern="1200" dirty="0"/>
            <a:t>Contact: </a:t>
          </a:r>
          <a:r>
            <a:rPr lang="en-US" sz="1800" b="1" kern="1200" dirty="0">
              <a:solidFill>
                <a:srgbClr val="FFFF00"/>
              </a:solidFill>
              <a:latin typeface="Calibri"/>
              <a:ea typeface="+mn-ea"/>
              <a:cs typeface="+mn-cs"/>
            </a:rPr>
            <a:t>TechTrainerTim.com</a:t>
          </a:r>
        </a:p>
      </dgm:t>
    </dgm:pt>
    <dgm:pt modelId="{EABA855E-B61A-49A1-A387-C0A792E97BC8}" type="parTrans" cxnId="{C13D4C49-B3A7-481A-ACC0-B2BCF00DBF62}">
      <dgm:prSet/>
      <dgm:spPr/>
      <dgm:t>
        <a:bodyPr/>
        <a:lstStyle/>
        <a:p>
          <a:endParaRPr lang="en-US"/>
        </a:p>
      </dgm:t>
    </dgm:pt>
    <dgm:pt modelId="{5B37FC59-1FCD-48BC-90BC-C855AD8A450C}" type="sibTrans" cxnId="{C13D4C49-B3A7-481A-ACC0-B2BCF00DBF62}">
      <dgm:prSet/>
      <dgm:spPr/>
      <dgm:t>
        <a:bodyPr/>
        <a:lstStyle/>
        <a:p>
          <a:endParaRPr lang="en-US"/>
        </a:p>
      </dgm:t>
    </dgm:pt>
    <dgm:pt modelId="{B0B9912E-BBF7-44D7-A843-499290D132C0}" type="pres">
      <dgm:prSet presAssocID="{9F153C74-BDE5-40A8-97C9-60F610E3A982}" presName="linear" presStyleCnt="0">
        <dgm:presLayoutVars>
          <dgm:dir/>
          <dgm:animLvl val="lvl"/>
          <dgm:resizeHandles val="exact"/>
        </dgm:presLayoutVars>
      </dgm:prSet>
      <dgm:spPr/>
    </dgm:pt>
    <dgm:pt modelId="{8C8EE7C5-2A01-4D7E-B387-AC2AC02D80C6}" type="pres">
      <dgm:prSet presAssocID="{2B51ECDE-7F91-41EE-83FF-A5A0B30C64B6}" presName="parentLin" presStyleCnt="0"/>
      <dgm:spPr/>
    </dgm:pt>
    <dgm:pt modelId="{3260CFAD-EAE8-42F7-A926-28A9A0B80F28}" type="pres">
      <dgm:prSet presAssocID="{2B51ECDE-7F91-41EE-83FF-A5A0B30C64B6}" presName="parentLeftMargin" presStyleLbl="node1" presStyleIdx="0" presStyleCnt="2"/>
      <dgm:spPr/>
    </dgm:pt>
    <dgm:pt modelId="{9D30D2F7-4B33-4D42-A652-B3E840684F23}" type="pres">
      <dgm:prSet presAssocID="{2B51ECDE-7F91-41EE-83FF-A5A0B30C64B6}" presName="parentText" presStyleLbl="node1" presStyleIdx="0" presStyleCnt="2">
        <dgm:presLayoutVars>
          <dgm:chMax val="0"/>
          <dgm:bulletEnabled val="1"/>
        </dgm:presLayoutVars>
      </dgm:prSet>
      <dgm:spPr/>
    </dgm:pt>
    <dgm:pt modelId="{2EC163D8-F551-4A4A-B222-F2F2E6E9426A}" type="pres">
      <dgm:prSet presAssocID="{2B51ECDE-7F91-41EE-83FF-A5A0B30C64B6}" presName="negativeSpace" presStyleCnt="0"/>
      <dgm:spPr/>
    </dgm:pt>
    <dgm:pt modelId="{2418270F-B1F3-42BE-AA03-9D6610EF0D7C}" type="pres">
      <dgm:prSet presAssocID="{2B51ECDE-7F91-41EE-83FF-A5A0B30C64B6}" presName="childText" presStyleLbl="conFgAcc1" presStyleIdx="0" presStyleCnt="2">
        <dgm:presLayoutVars>
          <dgm:bulletEnabled val="1"/>
        </dgm:presLayoutVars>
      </dgm:prSet>
      <dgm:spPr/>
    </dgm:pt>
    <dgm:pt modelId="{BB98CA99-1F97-48A9-A046-D3793DB2EB64}" type="pres">
      <dgm:prSet presAssocID="{C4705C84-C0A0-43AD-815D-1B5CC937168C}" presName="spaceBetweenRectangles" presStyleCnt="0"/>
      <dgm:spPr/>
    </dgm:pt>
    <dgm:pt modelId="{37D73758-DF08-4919-86E7-FBDB09310D85}" type="pres">
      <dgm:prSet presAssocID="{611853A7-54C7-4654-8593-89A6186AA0E8}" presName="parentLin" presStyleCnt="0"/>
      <dgm:spPr/>
    </dgm:pt>
    <dgm:pt modelId="{19A92570-F3E7-46A2-9583-AD53522C3A8A}" type="pres">
      <dgm:prSet presAssocID="{611853A7-54C7-4654-8593-89A6186AA0E8}" presName="parentLeftMargin" presStyleLbl="node1" presStyleIdx="0" presStyleCnt="2"/>
      <dgm:spPr/>
    </dgm:pt>
    <dgm:pt modelId="{A756F9DA-770F-4E71-BA6F-6782027AA6E6}" type="pres">
      <dgm:prSet presAssocID="{611853A7-54C7-4654-8593-89A6186AA0E8}" presName="parentText" presStyleLbl="node1" presStyleIdx="1" presStyleCnt="2">
        <dgm:presLayoutVars>
          <dgm:chMax val="0"/>
          <dgm:bulletEnabled val="1"/>
        </dgm:presLayoutVars>
      </dgm:prSet>
      <dgm:spPr/>
    </dgm:pt>
    <dgm:pt modelId="{7CF59D77-EE5A-4B20-BC63-117C296D3B1A}" type="pres">
      <dgm:prSet presAssocID="{611853A7-54C7-4654-8593-89A6186AA0E8}" presName="negativeSpace" presStyleCnt="0"/>
      <dgm:spPr/>
    </dgm:pt>
    <dgm:pt modelId="{9551A5F1-CFDA-429B-A533-DA941662AD22}" type="pres">
      <dgm:prSet presAssocID="{611853A7-54C7-4654-8593-89A6186AA0E8}" presName="childText" presStyleLbl="conFgAcc1" presStyleIdx="1" presStyleCnt="2">
        <dgm:presLayoutVars>
          <dgm:bulletEnabled val="1"/>
        </dgm:presLayoutVars>
      </dgm:prSet>
      <dgm:spPr/>
    </dgm:pt>
  </dgm:ptLst>
  <dgm:cxnLst>
    <dgm:cxn modelId="{AA11F703-1D2B-4D72-8C08-AD7DE648903A}" type="presOf" srcId="{2B51ECDE-7F91-41EE-83FF-A5A0B30C64B6}" destId="{9D30D2F7-4B33-4D42-A652-B3E840684F23}" srcOrd="1" destOrd="0" presId="urn:microsoft.com/office/officeart/2005/8/layout/list1"/>
    <dgm:cxn modelId="{7937C166-5627-488F-8D4E-0A4A6BDA75BB}" type="presOf" srcId="{9F153C74-BDE5-40A8-97C9-60F610E3A982}" destId="{B0B9912E-BBF7-44D7-A843-499290D132C0}" srcOrd="0" destOrd="0" presId="urn:microsoft.com/office/officeart/2005/8/layout/list1"/>
    <dgm:cxn modelId="{C13D4C49-B3A7-481A-ACC0-B2BCF00DBF62}" srcId="{9F153C74-BDE5-40A8-97C9-60F610E3A982}" destId="{611853A7-54C7-4654-8593-89A6186AA0E8}" srcOrd="1" destOrd="0" parTransId="{EABA855E-B61A-49A1-A387-C0A792E97BC8}" sibTransId="{5B37FC59-1FCD-48BC-90BC-C855AD8A450C}"/>
    <dgm:cxn modelId="{374444DA-359A-40BB-AA3C-CB4B23E1DEE6}" srcId="{9F153C74-BDE5-40A8-97C9-60F610E3A982}" destId="{2B51ECDE-7F91-41EE-83FF-A5A0B30C64B6}" srcOrd="0" destOrd="0" parTransId="{9C59B82A-49CF-4B0E-B6B5-FF62960F1236}" sibTransId="{C4705C84-C0A0-43AD-815D-1B5CC937168C}"/>
    <dgm:cxn modelId="{9DDF81E5-573A-418D-9C37-31992FCA0834}" type="presOf" srcId="{611853A7-54C7-4654-8593-89A6186AA0E8}" destId="{19A92570-F3E7-46A2-9583-AD53522C3A8A}" srcOrd="0" destOrd="0" presId="urn:microsoft.com/office/officeart/2005/8/layout/list1"/>
    <dgm:cxn modelId="{245319ED-D700-40C1-9C3E-555525F6B9BF}" type="presOf" srcId="{2B51ECDE-7F91-41EE-83FF-A5A0B30C64B6}" destId="{3260CFAD-EAE8-42F7-A926-28A9A0B80F28}" srcOrd="0" destOrd="0" presId="urn:microsoft.com/office/officeart/2005/8/layout/list1"/>
    <dgm:cxn modelId="{9475AFFB-1AFE-486C-B012-A3442B977040}" type="presOf" srcId="{611853A7-54C7-4654-8593-89A6186AA0E8}" destId="{A756F9DA-770F-4E71-BA6F-6782027AA6E6}" srcOrd="1" destOrd="0" presId="urn:microsoft.com/office/officeart/2005/8/layout/list1"/>
    <dgm:cxn modelId="{637BB273-A337-423C-9BDA-5AB5F9437376}" type="presParOf" srcId="{B0B9912E-BBF7-44D7-A843-499290D132C0}" destId="{8C8EE7C5-2A01-4D7E-B387-AC2AC02D80C6}" srcOrd="0" destOrd="0" presId="urn:microsoft.com/office/officeart/2005/8/layout/list1"/>
    <dgm:cxn modelId="{99B88204-CDE7-47EF-97C1-5ECBE36AFD5F}" type="presParOf" srcId="{8C8EE7C5-2A01-4D7E-B387-AC2AC02D80C6}" destId="{3260CFAD-EAE8-42F7-A926-28A9A0B80F28}" srcOrd="0" destOrd="0" presId="urn:microsoft.com/office/officeart/2005/8/layout/list1"/>
    <dgm:cxn modelId="{8C6728B6-92C8-4777-B5FC-804935F00280}" type="presParOf" srcId="{8C8EE7C5-2A01-4D7E-B387-AC2AC02D80C6}" destId="{9D30D2F7-4B33-4D42-A652-B3E840684F23}" srcOrd="1" destOrd="0" presId="urn:microsoft.com/office/officeart/2005/8/layout/list1"/>
    <dgm:cxn modelId="{1B6BE77A-6342-4288-ABD4-3823AA37A57F}" type="presParOf" srcId="{B0B9912E-BBF7-44D7-A843-499290D132C0}" destId="{2EC163D8-F551-4A4A-B222-F2F2E6E9426A}" srcOrd="1" destOrd="0" presId="urn:microsoft.com/office/officeart/2005/8/layout/list1"/>
    <dgm:cxn modelId="{7ECB4726-AFA1-44D7-8482-AF6D3E26D484}" type="presParOf" srcId="{B0B9912E-BBF7-44D7-A843-499290D132C0}" destId="{2418270F-B1F3-42BE-AA03-9D6610EF0D7C}" srcOrd="2" destOrd="0" presId="urn:microsoft.com/office/officeart/2005/8/layout/list1"/>
    <dgm:cxn modelId="{C2142FAD-823C-4438-8784-5BA933E9D3AE}" type="presParOf" srcId="{B0B9912E-BBF7-44D7-A843-499290D132C0}" destId="{BB98CA99-1F97-48A9-A046-D3793DB2EB64}" srcOrd="3" destOrd="0" presId="urn:microsoft.com/office/officeart/2005/8/layout/list1"/>
    <dgm:cxn modelId="{ED5A8098-6121-4A1F-8D37-A6A3B3AC5CF4}" type="presParOf" srcId="{B0B9912E-BBF7-44D7-A843-499290D132C0}" destId="{37D73758-DF08-4919-86E7-FBDB09310D85}" srcOrd="4" destOrd="0" presId="urn:microsoft.com/office/officeart/2005/8/layout/list1"/>
    <dgm:cxn modelId="{6429E9F9-5F64-4AD5-B4AB-D7BF994C6560}" type="presParOf" srcId="{37D73758-DF08-4919-86E7-FBDB09310D85}" destId="{19A92570-F3E7-46A2-9583-AD53522C3A8A}" srcOrd="0" destOrd="0" presId="urn:microsoft.com/office/officeart/2005/8/layout/list1"/>
    <dgm:cxn modelId="{0C4B5241-80C9-4503-BC09-848E1448975F}" type="presParOf" srcId="{37D73758-DF08-4919-86E7-FBDB09310D85}" destId="{A756F9DA-770F-4E71-BA6F-6782027AA6E6}" srcOrd="1" destOrd="0" presId="urn:microsoft.com/office/officeart/2005/8/layout/list1"/>
    <dgm:cxn modelId="{15368D64-1F9C-411E-B58E-3710EE230947}" type="presParOf" srcId="{B0B9912E-BBF7-44D7-A843-499290D132C0}" destId="{7CF59D77-EE5A-4B20-BC63-117C296D3B1A}" srcOrd="5" destOrd="0" presId="urn:microsoft.com/office/officeart/2005/8/layout/list1"/>
    <dgm:cxn modelId="{12C2D6AE-FE20-467A-B70A-C90E8E2BD12E}" type="presParOf" srcId="{B0B9912E-BBF7-44D7-A843-499290D132C0}" destId="{9551A5F1-CFDA-429B-A533-DA941662AD2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8270F-B1F3-42BE-AA03-9D6610EF0D7C}">
      <dsp:nvSpPr>
        <dsp:cNvPr id="0" name=""/>
        <dsp:cNvSpPr/>
      </dsp:nvSpPr>
      <dsp:spPr>
        <a:xfrm>
          <a:off x="0" y="452127"/>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30D2F7-4B33-4D42-A652-B3E840684F23}">
      <dsp:nvSpPr>
        <dsp:cNvPr id="0" name=""/>
        <dsp:cNvSpPr/>
      </dsp:nvSpPr>
      <dsp:spPr>
        <a:xfrm>
          <a:off x="332972" y="93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Course materials: </a:t>
          </a:r>
          <a:r>
            <a:rPr lang="en-US" sz="1800" b="1" kern="1200" dirty="0">
              <a:solidFill>
                <a:srgbClr val="FFFF00"/>
              </a:solidFill>
            </a:rPr>
            <a:t>github.com/</a:t>
          </a:r>
          <a:r>
            <a:rPr lang="en-US" sz="1800" b="1" kern="1200" dirty="0" err="1">
              <a:solidFill>
                <a:srgbClr val="FFFF00"/>
              </a:solidFill>
            </a:rPr>
            <a:t>timothywarner</a:t>
          </a:r>
          <a:r>
            <a:rPr lang="en-US" sz="1800" b="1" kern="1200" dirty="0">
              <a:solidFill>
                <a:srgbClr val="FFFF00"/>
              </a:solidFill>
            </a:rPr>
            <a:t>-org/ab100</a:t>
          </a:r>
        </a:p>
      </dsp:txBody>
      <dsp:txXfrm>
        <a:off x="376203" y="52558"/>
        <a:ext cx="4575154" cy="799138"/>
      </dsp:txXfrm>
    </dsp:sp>
    <dsp:sp modelId="{9551A5F1-CFDA-429B-A533-DA941662AD22}">
      <dsp:nvSpPr>
        <dsp:cNvPr id="0" name=""/>
        <dsp:cNvSpPr/>
      </dsp:nvSpPr>
      <dsp:spPr>
        <a:xfrm>
          <a:off x="0" y="1812928"/>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56F9DA-770F-4E71-BA6F-6782027AA6E6}">
      <dsp:nvSpPr>
        <dsp:cNvPr id="0" name=""/>
        <dsp:cNvSpPr/>
      </dsp:nvSpPr>
      <dsp:spPr>
        <a:xfrm>
          <a:off x="332972" y="13701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Contact: </a:t>
          </a:r>
          <a:r>
            <a:rPr lang="en-US" sz="1800" b="1" kern="1200" dirty="0">
              <a:solidFill>
                <a:srgbClr val="FFFF00"/>
              </a:solidFill>
              <a:latin typeface="Calibri"/>
              <a:ea typeface="+mn-ea"/>
              <a:cs typeface="+mn-cs"/>
            </a:rPr>
            <a:t>TechTrainerTim.com</a:t>
          </a:r>
        </a:p>
      </dsp:txBody>
      <dsp:txXfrm>
        <a:off x="376203" y="1413358"/>
        <a:ext cx="4575154"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0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How much flexibility am I allowed with these slide layouts? If you right-click a slide, you can play with layouts, but otherwise, not much flexibility. </a:t>
            </a:r>
          </a:p>
          <a:p>
            <a:pPr marL="228600" indent="-228600">
              <a:buAutoNum type="arabicPeriod"/>
            </a:pPr>
            <a:r>
              <a:rPr lang="en-US"/>
              <a:t>Am I free to add my own graphics, providing MSFT attribution where necessary? When it comes to MS graphics, we're not allowed to use those, so please do not add in graphics unless they are created FROM SCRATCH by you. </a:t>
            </a:r>
            <a:endParaRPr lang="en-US">
              <a:cs typeface="Calibri"/>
            </a:endParaRPr>
          </a:p>
          <a:p>
            <a:pPr marL="228600" indent="-228600">
              <a:buAutoNum type="arabicPeriod"/>
            </a:pPr>
            <a:r>
              <a:rPr lang="en-US"/>
              <a:t>Can I make the font a bit smaller? Some of the objectives are verbose and I don’t want to crowd the skills? Yes, I do this, too, when I review the slides because sometimes the default size just won't work.</a:t>
            </a:r>
            <a:endParaRPr lang="en-US">
              <a:cs typeface="Calibri"/>
            </a:endParaRPr>
          </a:p>
          <a:p>
            <a:pPr marL="228600" indent="-228600">
              <a:buAutoNum type="arabicPeriod"/>
            </a:pPr>
            <a:r>
              <a:rPr lang="en-US"/>
              <a:t>Do the bullet points here need to be word-for-word from the outline or can I condense? We prefer word-for-word, but some of the sub-lesson titles are super long. Use your discretion, and we can address case-by-case during the review of each lesson's slides.</a:t>
            </a:r>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159554-38D3-AB43-BFE6-DF62978A17A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34562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CB432F0-E49E-4C04-A383-401B93C7130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436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0" y="-7951"/>
            <a:ext cx="3638809" cy="4603805"/>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3742175" y="223404"/>
            <a:ext cx="5505191" cy="724334"/>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0" y="5188"/>
            <a:ext cx="3638809" cy="4590666"/>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spTree>
    <p:extLst>
      <p:ext uri="{BB962C8B-B14F-4D97-AF65-F5344CB8AC3E}">
        <p14:creationId xmlns:p14="http://schemas.microsoft.com/office/powerpoint/2010/main" val="270889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7605FD-9760-4542-AA9A-73939422455B}"/>
              </a:ext>
            </a:extLst>
          </p:cNvPr>
          <p:cNvSpPr/>
          <p:nvPr userDrawn="1"/>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C83BD3-B120-F546-94C9-3421EA0D53AB}"/>
              </a:ext>
            </a:extLst>
          </p:cNvPr>
          <p:cNvSpPr/>
          <p:nvPr userDrawn="1"/>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3758076" y="94720"/>
            <a:ext cx="5505191" cy="658485"/>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2600"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303336" y="1523583"/>
            <a:ext cx="3446991" cy="209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664066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836832" y="1597819"/>
            <a:ext cx="4975394" cy="1102519"/>
          </a:xfrm>
          <a:prstGeom prst="rect">
            <a:avLst/>
          </a:prstGeom>
        </p:spPr>
        <p:txBody>
          <a:bodyPr>
            <a:noAutofit/>
          </a:bodyPr>
          <a:lstStyle>
            <a:lvl1pPr algn="l">
              <a:defRPr sz="36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3836831" y="2788538"/>
            <a:ext cx="4975395" cy="1314450"/>
          </a:xfrm>
        </p:spPr>
        <p:txBody>
          <a:bodyPr>
            <a:normAutofit/>
          </a:bodyPr>
          <a:lstStyle>
            <a:lvl1pPr marL="685800" indent="-630936" algn="l">
              <a:buNone/>
              <a:tabLst>
                <a:tab pos="574675" algn="l"/>
              </a:tabLst>
              <a:defRPr sz="2800" b="0" baseline="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978265" y="953484"/>
            <a:ext cx="771429" cy="1746853"/>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1529867" y="1226900"/>
            <a:ext cx="1198092" cy="1173400"/>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809803" y="1053105"/>
            <a:ext cx="1901382" cy="1537695"/>
          </a:xfrm>
          <a:prstGeom prst="rect">
            <a:avLst/>
          </a:prstGeom>
        </p:spPr>
      </p:pic>
    </p:spTree>
    <p:extLst>
      <p:ext uri="{BB962C8B-B14F-4D97-AF65-F5344CB8AC3E}">
        <p14:creationId xmlns:p14="http://schemas.microsoft.com/office/powerpoint/2010/main" val="463446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6839712"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25700681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0"/>
            <a:ext cx="7552944"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457200" y="946140"/>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344" y="946356"/>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173350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57149"/>
            <a:ext cx="7556938"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3978536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7"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349435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6" name="Title 1"/>
          <p:cNvSpPr>
            <a:spLocks noGrp="1"/>
          </p:cNvSpPr>
          <p:nvPr>
            <p:ph type="title"/>
          </p:nvPr>
        </p:nvSpPr>
        <p:spPr>
          <a:xfrm>
            <a:off x="1138620" y="-6349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1942672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89489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473530" y="351790"/>
            <a:ext cx="2809167" cy="4439921"/>
          </a:xfrm>
          <a:prstGeom prst="rect">
            <a:avLst/>
          </a:prstGeom>
        </p:spPr>
        <p:txBody>
          <a:bodyPr anchor="ctr">
            <a:noAutofit/>
          </a:bodyPr>
          <a:lstStyle>
            <a:lvl1pPr algn="r">
              <a:defRPr sz="1700" b="0" i="0">
                <a:solidFill>
                  <a:schemeClr val="accent1"/>
                </a:solidFill>
                <a:latin typeface="+mn-lt"/>
                <a:ea typeface="PS TT Commons DemiBold" charset="0"/>
                <a:cs typeface="PS TT Commons DemiBold" charset="0"/>
              </a:defRPr>
            </a:lvl1pPr>
            <a:lvl2pPr marL="586003" indent="-288930"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2pPr>
            <a:lvl3pPr marL="883074" indent="-28689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3pPr>
            <a:lvl4pPr marL="1096724" indent="-21364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4pPr>
            <a:lvl5pPr marL="1096722" indent="0" algn="r">
              <a:buFont typeface="Myriad Pro" panose="020B0503030403020204" pitchFamily="34" charset="0"/>
              <a:buNone/>
              <a:defRPr sz="1700"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3536188" y="351790"/>
            <a:ext cx="0" cy="4439921"/>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3789682" y="748738"/>
            <a:ext cx="4927599" cy="3646025"/>
          </a:xfrm>
          <a:prstGeom prst="rect">
            <a:avLst/>
          </a:prstGeom>
        </p:spPr>
        <p:txBody>
          <a:bodyPr anchor="ctr">
            <a:noAutofit/>
          </a:bodyPr>
          <a:lstStyle>
            <a:lvl1pPr>
              <a:lnSpc>
                <a:spcPct val="100000"/>
              </a:lnSpc>
              <a:defRPr sz="27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355526"/>
            <a:ext cx="3582453" cy="276999"/>
          </a:xfrm>
          <a:prstGeom prst="rect">
            <a:avLst/>
          </a:prstGeom>
        </p:spPr>
        <p:txBody>
          <a:bodyPr wrap="square">
            <a:spAutoFit/>
          </a:bodyPr>
          <a:lstStyle/>
          <a:p>
            <a:pPr algn="l" defTabSz="914378"/>
            <a:r>
              <a:rPr lang="en-US" sz="1200" b="1" i="0">
                <a:solidFill>
                  <a:srgbClr val="404040"/>
                </a:solidFill>
                <a:latin typeface="PS TT Commons DemiBold" charset="0"/>
                <a:ea typeface="PS TT Commons DemiBold" charset="0"/>
                <a:cs typeface="PS TT Commons DemiBold" charset="0"/>
              </a:rPr>
              <a:t>This slidelist is </a:t>
            </a:r>
            <a:r>
              <a:rPr lang="en-US" sz="1200" b="1" i="0">
                <a:solidFill>
                  <a:srgbClr val="F05A28"/>
                </a:solidFill>
                <a:latin typeface="PS TT Commons DemiBold" charset="0"/>
                <a:ea typeface="PS TT Commons DemiBold" charset="0"/>
                <a:cs typeface="PS TT Commons DemiBold" charset="0"/>
              </a:rPr>
              <a:t>preset </a:t>
            </a:r>
            <a:r>
              <a:rPr lang="en-US" sz="1200" b="1" i="0">
                <a:solidFill>
                  <a:srgbClr val="404040"/>
                </a:solidFill>
                <a:latin typeface="PS TT Commons DemiBold" charset="0"/>
                <a:ea typeface="PS TT Commons DemiBold" charset="0"/>
                <a:cs typeface="PS TT Commons DemiBold" charset="0"/>
              </a:rPr>
              <a:t>with</a:t>
            </a:r>
            <a:r>
              <a:rPr lang="en-US" sz="1200" b="1" i="0" baseline="0">
                <a:solidFill>
                  <a:srgbClr val="404040"/>
                </a:solidFill>
                <a:latin typeface="PS TT Commons DemiBold" charset="0"/>
                <a:ea typeface="PS TT Commons DemiBold" charset="0"/>
                <a:cs typeface="PS TT Commons DemiBold" charset="0"/>
              </a:rPr>
              <a:t> </a:t>
            </a:r>
            <a:r>
              <a:rPr lang="en-US" sz="1200" b="1" i="0">
                <a:solidFill>
                  <a:srgbClr val="F05A28"/>
                </a:solidFill>
                <a:latin typeface="PS TT Commons DemiBold" charset="0"/>
                <a:ea typeface="PS TT Commons DemiBold" charset="0"/>
                <a:cs typeface="PS TT Commons DemiBold" charset="0"/>
              </a:rPr>
              <a:t>animations</a:t>
            </a:r>
            <a:endParaRPr lang="en-US" sz="12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128971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500237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3324634"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628651"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6020616"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3324634"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628651"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6020616"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899726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0785080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1.jpe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Segoe Pro" charset="0"/>
              </a:defRPr>
            </a:lvl1pPr>
          </a:lstStyle>
          <a:p>
            <a:fld id="{128B0A6C-EF38-9441-ADBF-8FE45FA6C46E}" type="datetimeFigureOut">
              <a:rPr lang="en-US" smtClean="0"/>
              <a:pPr/>
              <a:t>Wed, 4/29/2026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264650149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Segoe Pro"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Segoe Pro"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Segoe Pro"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9.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79A3E908-449E-044A-9510-AD48B0E8FE3B}"/>
              </a:ext>
            </a:extLst>
          </p:cNvPr>
          <p:cNvSpPr/>
          <p:nvPr/>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1653CF1-49CF-AE4B-9D66-090C6B2B3917}"/>
              </a:ext>
            </a:extLst>
          </p:cNvPr>
          <p:cNvSpPr/>
          <p:nvPr/>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12B4D47F-A755-0D45-BC12-086C687FD70E}"/>
              </a:ext>
            </a:extLst>
          </p:cNvPr>
          <p:cNvSpPr/>
          <p:nvPr/>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itle 1">
            <a:extLst>
              <a:ext uri="{FF2B5EF4-FFF2-40B4-BE49-F238E27FC236}">
                <a16:creationId xmlns:a16="http://schemas.microsoft.com/office/drawing/2014/main" id="{412337A7-EF2F-BD4E-96DF-29677C30DFCF}"/>
              </a:ext>
            </a:extLst>
          </p:cNvPr>
          <p:cNvSpPr txBox="1">
            <a:spLocks/>
          </p:cNvSpPr>
          <p:nvPr/>
        </p:nvSpPr>
        <p:spPr>
          <a:xfrm>
            <a:off x="3734819" y="-38100"/>
            <a:ext cx="5533440" cy="993314"/>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egoe Pro" charset="0"/>
                <a:ea typeface="+mj-ea"/>
                <a:cs typeface="+mj-cs"/>
              </a:rPr>
              <a:t>GitHub Copilot for Almost Everyone</a:t>
            </a:r>
          </a:p>
        </p:txBody>
      </p:sp>
      <p:pic>
        <p:nvPicPr>
          <p:cNvPr id="3" name="Picture 2">
            <a:extLst>
              <a:ext uri="{FF2B5EF4-FFF2-40B4-BE49-F238E27FC236}">
                <a16:creationId xmlns:a16="http://schemas.microsoft.com/office/drawing/2014/main" id="{4BB8DB96-E122-7455-6046-6112A98E4D79}"/>
              </a:ext>
            </a:extLst>
          </p:cNvPr>
          <p:cNvPicPr>
            <a:picLocks noChangeAspect="1"/>
          </p:cNvPicPr>
          <p:nvPr/>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C8F613B-EFA5-BEBA-670B-878DA49A4355}"/>
              </a:ext>
            </a:extLst>
          </p:cNvPr>
          <p:cNvPicPr>
            <a:picLocks noChangeAspect="1"/>
          </p:cNvPicPr>
          <p:nvPr/>
        </p:nvPicPr>
        <p:blipFill>
          <a:blip r:embed="rId4"/>
          <a:stretch>
            <a:fillRect/>
          </a:stretch>
        </p:blipFill>
        <p:spPr>
          <a:xfrm>
            <a:off x="4920012" y="1286687"/>
            <a:ext cx="3163054" cy="3125127"/>
          </a:xfrm>
          <a:prstGeom prst="rect">
            <a:avLst/>
          </a:prstGeom>
        </p:spPr>
      </p:pic>
      <p:pic>
        <p:nvPicPr>
          <p:cNvPr id="9" name="Picture 8" descr="A group of people sitting around a table with laptops&#10;&#10;Description automatically generated">
            <a:extLst>
              <a:ext uri="{FF2B5EF4-FFF2-40B4-BE49-F238E27FC236}">
                <a16:creationId xmlns:a16="http://schemas.microsoft.com/office/drawing/2014/main" id="{41F3C2C8-EDF1-C1F1-DEC4-1304DB65FDD3}"/>
              </a:ext>
            </a:extLst>
          </p:cNvPr>
          <p:cNvPicPr>
            <a:picLocks noChangeAspect="1"/>
          </p:cNvPicPr>
          <p:nvPr/>
        </p:nvPicPr>
        <p:blipFill>
          <a:blip r:embed="rId5">
            <a:extLst>
              <a:ext uri="{BEBA8EAE-BF5A-486C-A8C5-ECC9F3942E4B}">
                <a14:imgProps xmlns:a14="http://schemas.microsoft.com/office/drawing/2010/main">
                  <a14:imgLayer r:embed="rId6">
                    <a14:imgEffect>
                      <a14:artisticPencilSketch/>
                    </a14:imgEffect>
                  </a14:imgLayer>
                </a14:imgProps>
              </a:ext>
            </a:extLst>
          </a:blip>
          <a:stretch>
            <a:fillRect/>
          </a:stretch>
        </p:blipFill>
        <p:spPr>
          <a:xfrm>
            <a:off x="495381" y="1161183"/>
            <a:ext cx="3802470" cy="2374431"/>
          </a:xfrm>
          <a:prstGeom prst="rect">
            <a:avLst/>
          </a:prstGeom>
        </p:spPr>
      </p:pic>
      <p:sp>
        <p:nvSpPr>
          <p:cNvPr id="10" name="Subtitle 2">
            <a:extLst>
              <a:ext uri="{FF2B5EF4-FFF2-40B4-BE49-F238E27FC236}">
                <a16:creationId xmlns:a16="http://schemas.microsoft.com/office/drawing/2014/main" id="{2D52FBAA-CCB8-6A63-FE6F-EB94D38E8571}"/>
              </a:ext>
            </a:extLst>
          </p:cNvPr>
          <p:cNvSpPr>
            <a:spLocks noGrp="1"/>
          </p:cNvSpPr>
          <p:nvPr>
            <p:ph type="subTitle" idx="1"/>
          </p:nvPr>
        </p:nvSpPr>
        <p:spPr>
          <a:xfrm>
            <a:off x="123114" y="3727316"/>
            <a:ext cx="4975395" cy="1314450"/>
          </a:xfrm>
        </p:spPr>
        <p:txBody>
          <a:bodyPr/>
          <a:lstStyle/>
          <a:p>
            <a:r>
              <a:rPr lang="en-US" sz="2400" dirty="0"/>
              <a:t>Tim Warner</a:t>
            </a:r>
          </a:p>
          <a:p>
            <a:r>
              <a:rPr lang="en-US" sz="2400" dirty="0"/>
              <a:t>timw.info/linkedin</a:t>
            </a:r>
          </a:p>
          <a:p>
            <a:endParaRPr lang="en-US" dirty="0"/>
          </a:p>
        </p:txBody>
      </p:sp>
      <p:pic>
        <p:nvPicPr>
          <p:cNvPr id="4" name="Picture 3">
            <a:extLst>
              <a:ext uri="{FF2B5EF4-FFF2-40B4-BE49-F238E27FC236}">
                <a16:creationId xmlns:a16="http://schemas.microsoft.com/office/drawing/2014/main" id="{F627E40B-EEE9-59E6-97D9-61D5752FFBD0}"/>
              </a:ext>
            </a:extLst>
          </p:cNvPr>
          <p:cNvPicPr>
            <a:picLocks noChangeAspect="1"/>
          </p:cNvPicPr>
          <p:nvPr/>
        </p:nvPicPr>
        <p:blipFill>
          <a:blip r:embed="rId7"/>
          <a:stretch>
            <a:fillRect/>
          </a:stretch>
        </p:blipFill>
        <p:spPr>
          <a:xfrm>
            <a:off x="0" y="0"/>
            <a:ext cx="9144000" cy="5143500"/>
          </a:xfrm>
          <a:prstGeom prst="rect">
            <a:avLst/>
          </a:prstGeom>
        </p:spPr>
      </p:pic>
      <p:pic>
        <p:nvPicPr>
          <p:cNvPr id="5" name="Picture 4" descr="A black square with white text&#10;&#10;AI-generated content may be incorrect.">
            <a:extLst>
              <a:ext uri="{FF2B5EF4-FFF2-40B4-BE49-F238E27FC236}">
                <a16:creationId xmlns:a16="http://schemas.microsoft.com/office/drawing/2014/main" id="{CFC6D385-9EB4-D708-2C38-DC758BFDEC2A}"/>
              </a:ext>
            </a:extLst>
          </p:cNvPr>
          <p:cNvPicPr>
            <a:picLocks noChangeAspect="1"/>
          </p:cNvPicPr>
          <p:nvPr/>
        </p:nvPicPr>
        <p:blipFill>
          <a:blip r:embed="rId8"/>
          <a:stretch>
            <a:fillRect/>
          </a:stretch>
        </p:blipFill>
        <p:spPr>
          <a:xfrm>
            <a:off x="7792344" y="93193"/>
            <a:ext cx="1200150" cy="1200150"/>
          </a:xfrm>
          <a:prstGeom prst="rect">
            <a:avLst/>
          </a:prstGeom>
        </p:spPr>
      </p:pic>
      <p:pic>
        <p:nvPicPr>
          <p:cNvPr id="6" name="Picture 5">
            <a:extLst>
              <a:ext uri="{FF2B5EF4-FFF2-40B4-BE49-F238E27FC236}">
                <a16:creationId xmlns:a16="http://schemas.microsoft.com/office/drawing/2014/main" id="{EFC3226C-E75D-D50A-40E3-231004ADBC02}"/>
              </a:ext>
            </a:extLst>
          </p:cNvPr>
          <p:cNvPicPr>
            <a:picLocks noChangeAspect="1"/>
          </p:cNvPicPr>
          <p:nvPr/>
        </p:nvPicPr>
        <p:blipFill>
          <a:blip r:embed="rId9"/>
          <a:stretch>
            <a:fillRect/>
          </a:stretch>
        </p:blipFill>
        <p:spPr>
          <a:xfrm>
            <a:off x="-10612" y="0"/>
            <a:ext cx="9144000" cy="5143500"/>
          </a:xfrm>
          <a:prstGeom prst="rect">
            <a:avLst/>
          </a:prstGeom>
        </p:spPr>
      </p:pic>
    </p:spTree>
    <p:extLst>
      <p:ext uri="{BB962C8B-B14F-4D97-AF65-F5344CB8AC3E}">
        <p14:creationId xmlns:p14="http://schemas.microsoft.com/office/powerpoint/2010/main" val="2192088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Tim Warner</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a:xfrm>
            <a:off x="1210101" y="0"/>
            <a:ext cx="5412767" cy="5143500"/>
          </a:xfrm>
        </p:spPr>
        <p:txBody>
          <a:bodyPr anchor="ctr"/>
          <a:lstStyle/>
          <a:p>
            <a:r>
              <a:rPr lang="en-US" dirty="0"/>
              <a:t>Based in Nashville, TN, US</a:t>
            </a:r>
          </a:p>
          <a:p>
            <a:r>
              <a:rPr lang="en-US" dirty="0"/>
              <a:t>29-year Microsoft Certified Trainer (MCT)</a:t>
            </a:r>
          </a:p>
          <a:p>
            <a:r>
              <a:rPr lang="en-US" dirty="0"/>
              <a:t>8-year Microsoft MVP in Azure AI</a:t>
            </a:r>
          </a:p>
          <a:p>
            <a:r>
              <a:rPr lang="en-US" dirty="0"/>
              <a:t>Contact: </a:t>
            </a:r>
            <a:r>
              <a:rPr lang="en-US" b="1" dirty="0">
                <a:solidFill>
                  <a:srgbClr val="0070C0"/>
                </a:solidFill>
              </a:rPr>
              <a:t>TechTrainerTim.com</a:t>
            </a:r>
          </a:p>
        </p:txBody>
      </p:sp>
      <p:pic>
        <p:nvPicPr>
          <p:cNvPr id="4" name="Picture 3" descr="A person wearing glasses and a black jacket&#10;&#10;Description automatically generated">
            <a:extLst>
              <a:ext uri="{FF2B5EF4-FFF2-40B4-BE49-F238E27FC236}">
                <a16:creationId xmlns:a16="http://schemas.microsoft.com/office/drawing/2014/main" id="{1AA0544B-0605-925D-D660-448D42C54C4A}"/>
              </a:ext>
            </a:extLst>
          </p:cNvPr>
          <p:cNvPicPr>
            <a:picLocks noChangeAspect="1"/>
          </p:cNvPicPr>
          <p:nvPr/>
        </p:nvPicPr>
        <p:blipFill>
          <a:blip r:embed="rId2"/>
          <a:stretch>
            <a:fillRect/>
          </a:stretch>
        </p:blipFill>
        <p:spPr>
          <a:xfrm>
            <a:off x="6477638" y="1618786"/>
            <a:ext cx="2313384" cy="1994670"/>
          </a:xfrm>
          <a:prstGeom prst="rect">
            <a:avLst/>
          </a:prstGeom>
        </p:spPr>
      </p:pic>
      <p:pic>
        <p:nvPicPr>
          <p:cNvPr id="5" name="Picture 4" descr="GitHub Copilot - Credly">
            <a:extLst>
              <a:ext uri="{FF2B5EF4-FFF2-40B4-BE49-F238E27FC236}">
                <a16:creationId xmlns:a16="http://schemas.microsoft.com/office/drawing/2014/main" id="{E8123ADF-0012-F710-57A1-1FC7A08A18B3}"/>
              </a:ext>
            </a:extLst>
          </p:cNvPr>
          <p:cNvPicPr>
            <a:picLocks noChangeAspect="1"/>
          </p:cNvPicPr>
          <p:nvPr/>
        </p:nvPicPr>
        <p:blipFill>
          <a:blip r:embed="rId3"/>
          <a:stretch>
            <a:fillRect/>
          </a:stretch>
        </p:blipFill>
        <p:spPr>
          <a:xfrm>
            <a:off x="32657" y="1962150"/>
            <a:ext cx="1072968" cy="1072968"/>
          </a:xfrm>
          <a:prstGeom prst="rect">
            <a:avLst/>
          </a:prstGeom>
        </p:spPr>
      </p:pic>
    </p:spTree>
    <p:extLst>
      <p:ext uri="{BB962C8B-B14F-4D97-AF65-F5344CB8AC3E}">
        <p14:creationId xmlns:p14="http://schemas.microsoft.com/office/powerpoint/2010/main" val="189248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46CF2-1033-1D6A-4041-35049987BDC1}"/>
              </a:ext>
            </a:extLst>
          </p:cNvPr>
          <p:cNvSpPr>
            <a:spLocks noGrp="1"/>
          </p:cNvSpPr>
          <p:nvPr>
            <p:ph type="title"/>
          </p:nvPr>
        </p:nvSpPr>
        <p:spPr>
          <a:xfrm>
            <a:off x="1143000" y="-19050"/>
            <a:ext cx="7548179" cy="560552"/>
          </a:xfrm>
        </p:spPr>
        <p:txBody>
          <a:bodyPr/>
          <a:lstStyle/>
          <a:p>
            <a:r>
              <a:rPr lang="en-US" sz="3200" dirty="0"/>
              <a:t>Course Flow (Central Time Zone)</a:t>
            </a:r>
          </a:p>
        </p:txBody>
      </p:sp>
      <p:sp>
        <p:nvSpPr>
          <p:cNvPr id="5" name="Content Placeholder 4">
            <a:extLst>
              <a:ext uri="{FF2B5EF4-FFF2-40B4-BE49-F238E27FC236}">
                <a16:creationId xmlns:a16="http://schemas.microsoft.com/office/drawing/2014/main" id="{58ABDDE3-ED2D-5076-01A2-9459E36154BB}"/>
              </a:ext>
            </a:extLst>
          </p:cNvPr>
          <p:cNvSpPr>
            <a:spLocks noGrp="1"/>
          </p:cNvSpPr>
          <p:nvPr>
            <p:ph idx="1"/>
          </p:nvPr>
        </p:nvSpPr>
        <p:spPr>
          <a:xfrm>
            <a:off x="609600" y="971550"/>
            <a:ext cx="8915400" cy="3810000"/>
          </a:xfrm>
        </p:spPr>
        <p:txBody>
          <a:bodyPr/>
          <a:lstStyle/>
          <a:p>
            <a:r>
              <a:rPr lang="en-US" sz="2000" dirty="0"/>
              <a:t>09:00 am  -  Start - Segment 1 </a:t>
            </a:r>
            <a:r>
              <a:rPr lang="en-US" sz="2000" b="1" dirty="0">
                <a:solidFill>
                  <a:schemeClr val="accent1"/>
                </a:solidFill>
              </a:rPr>
              <a:t>[Plan AI Solutions]</a:t>
            </a:r>
          </a:p>
          <a:p>
            <a:r>
              <a:rPr lang="en-US" sz="2000" dirty="0"/>
              <a:t>10:00 am  -  10-minute break - Segment 2 </a:t>
            </a:r>
            <a:r>
              <a:rPr lang="en-US" sz="2000" b="1" dirty="0">
                <a:solidFill>
                  <a:schemeClr val="accent1"/>
                </a:solidFill>
              </a:rPr>
              <a:t>[Design AI Solutions]</a:t>
            </a:r>
          </a:p>
          <a:p>
            <a:r>
              <a:rPr lang="en-US" sz="2000" dirty="0"/>
              <a:t>11:00 am   -  10-minute break - Segment 3 </a:t>
            </a:r>
            <a:r>
              <a:rPr lang="en-US" sz="2000" b="1" dirty="0">
                <a:solidFill>
                  <a:schemeClr val="accent1"/>
                </a:solidFill>
              </a:rPr>
              <a:t>[Deploy AI Solutions]</a:t>
            </a:r>
          </a:p>
          <a:p>
            <a:r>
              <a:rPr lang="en-US" sz="2000" dirty="0"/>
              <a:t>12:00 pm   - 10-minute break - Segment 4 </a:t>
            </a:r>
            <a:r>
              <a:rPr lang="en-US" sz="2000" b="1" dirty="0">
                <a:solidFill>
                  <a:schemeClr val="accent1"/>
                </a:solidFill>
              </a:rPr>
              <a:t>[RAI, Gov, Exam Prep]</a:t>
            </a:r>
          </a:p>
          <a:p>
            <a:r>
              <a:rPr lang="en-US" sz="2000" dirty="0"/>
              <a:t>01:00 pm -  Finish</a:t>
            </a:r>
          </a:p>
        </p:txBody>
      </p:sp>
    </p:spTree>
    <p:extLst>
      <p:ext uri="{BB962C8B-B14F-4D97-AF65-F5344CB8AC3E}">
        <p14:creationId xmlns:p14="http://schemas.microsoft.com/office/powerpoint/2010/main" val="409809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4166-601F-40DD-95B0-100D121D02EF}"/>
              </a:ext>
            </a:extLst>
          </p:cNvPr>
          <p:cNvSpPr>
            <a:spLocks noGrp="1"/>
          </p:cNvSpPr>
          <p:nvPr>
            <p:ph type="title"/>
          </p:nvPr>
        </p:nvSpPr>
        <p:spPr/>
        <p:txBody>
          <a:bodyPr/>
          <a:lstStyle/>
          <a:p>
            <a:r>
              <a:rPr lang="en-US" dirty="0"/>
              <a:t>Course materials</a:t>
            </a:r>
          </a:p>
        </p:txBody>
      </p:sp>
      <p:sp>
        <p:nvSpPr>
          <p:cNvPr id="7" name="Rectangle 6">
            <a:extLst>
              <a:ext uri="{FF2B5EF4-FFF2-40B4-BE49-F238E27FC236}">
                <a16:creationId xmlns:a16="http://schemas.microsoft.com/office/drawing/2014/main" id="{2261ADE4-9EEE-29A6-C5EE-F9443C0FC968}"/>
              </a:ext>
            </a:extLst>
          </p:cNvPr>
          <p:cNvSpPr/>
          <p:nvPr/>
        </p:nvSpPr>
        <p:spPr>
          <a:xfrm>
            <a:off x="76200" y="2114550"/>
            <a:ext cx="8915400" cy="1200329"/>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github.com/</a:t>
            </a:r>
            <a:r>
              <a:rPr kumimoji="0" lang="en-US" sz="3600" b="0" i="0" u="none" strike="noStrike" kern="1200" cap="none" spc="0" normalizeH="0" baseline="0" noProof="0" dirty="0" err="1">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timothywarner</a:t>
            </a: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-org/</a:t>
            </a:r>
            <a:b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b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ab100</a:t>
            </a:r>
          </a:p>
        </p:txBody>
      </p:sp>
    </p:spTree>
    <p:extLst>
      <p:ext uri="{BB962C8B-B14F-4D97-AF65-F5344CB8AC3E}">
        <p14:creationId xmlns:p14="http://schemas.microsoft.com/office/powerpoint/2010/main" val="256518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51AF7529-3EF3-F0A5-72E3-978DA3B5FDE4}"/>
              </a:ext>
            </a:extLst>
          </p:cNvPr>
          <p:cNvPicPr>
            <a:picLocks noChangeAspect="1"/>
          </p:cNvPicPr>
          <p:nvPr/>
        </p:nvPicPr>
        <p:blipFill>
          <a:blip r:embed="rId2"/>
          <a:stretch>
            <a:fillRect/>
          </a:stretch>
        </p:blipFill>
        <p:spPr>
          <a:xfrm>
            <a:off x="1525270" y="917060"/>
            <a:ext cx="6093460" cy="4145898"/>
          </a:xfrm>
          <a:prstGeom prst="rect">
            <a:avLst/>
          </a:prstGeom>
        </p:spPr>
      </p:pic>
    </p:spTree>
    <p:extLst>
      <p:ext uri="{BB962C8B-B14F-4D97-AF65-F5344CB8AC3E}">
        <p14:creationId xmlns:p14="http://schemas.microsoft.com/office/powerpoint/2010/main" val="219175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07BDE609-3102-33A5-0D76-F8404830B597}"/>
              </a:ext>
            </a:extLst>
          </p:cNvPr>
          <p:cNvPicPr>
            <a:picLocks noChangeAspect="1"/>
          </p:cNvPicPr>
          <p:nvPr/>
        </p:nvPicPr>
        <p:blipFill>
          <a:blip r:embed="rId2"/>
          <a:stretch>
            <a:fillRect/>
          </a:stretch>
        </p:blipFill>
        <p:spPr>
          <a:xfrm>
            <a:off x="2273166" y="884150"/>
            <a:ext cx="5042034" cy="4204717"/>
          </a:xfrm>
          <a:prstGeom prst="rect">
            <a:avLst/>
          </a:prstGeom>
        </p:spPr>
      </p:pic>
    </p:spTree>
    <p:extLst>
      <p:ext uri="{BB962C8B-B14F-4D97-AF65-F5344CB8AC3E}">
        <p14:creationId xmlns:p14="http://schemas.microsoft.com/office/powerpoint/2010/main" val="239898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ED3D589A-55D8-E106-C2FD-6D91BE7041E3}"/>
              </a:ext>
            </a:extLst>
          </p:cNvPr>
          <p:cNvPicPr>
            <a:picLocks noChangeAspect="1"/>
          </p:cNvPicPr>
          <p:nvPr/>
        </p:nvPicPr>
        <p:blipFill>
          <a:blip r:embed="rId2"/>
          <a:stretch>
            <a:fillRect/>
          </a:stretch>
        </p:blipFill>
        <p:spPr>
          <a:xfrm>
            <a:off x="1819175" y="958796"/>
            <a:ext cx="5505651" cy="4014803"/>
          </a:xfrm>
          <a:prstGeom prst="rect">
            <a:avLst/>
          </a:prstGeom>
        </p:spPr>
      </p:pic>
    </p:spTree>
    <p:extLst>
      <p:ext uri="{BB962C8B-B14F-4D97-AF65-F5344CB8AC3E}">
        <p14:creationId xmlns:p14="http://schemas.microsoft.com/office/powerpoint/2010/main" val="1150841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Mobile Browser: learning.oreilly.com</a:t>
            </a:r>
          </a:p>
        </p:txBody>
      </p:sp>
      <p:pic>
        <p:nvPicPr>
          <p:cNvPr id="5" name="Picture 4" descr="Graphical user interface, application&#10;&#10;Description automatically generated">
            <a:extLst>
              <a:ext uri="{FF2B5EF4-FFF2-40B4-BE49-F238E27FC236}">
                <a16:creationId xmlns:a16="http://schemas.microsoft.com/office/drawing/2014/main" id="{827554A8-F92C-F14A-8C83-9F8E5E8E7744}"/>
              </a:ext>
            </a:extLst>
          </p:cNvPr>
          <p:cNvPicPr>
            <a:picLocks noChangeAspect="1"/>
          </p:cNvPicPr>
          <p:nvPr/>
        </p:nvPicPr>
        <p:blipFill>
          <a:blip r:embed="rId2"/>
          <a:stretch>
            <a:fillRect/>
          </a:stretch>
        </p:blipFill>
        <p:spPr>
          <a:xfrm>
            <a:off x="1859796" y="620760"/>
            <a:ext cx="2042656" cy="4420819"/>
          </a:xfrm>
          <a:prstGeom prst="rect">
            <a:avLst/>
          </a:prstGeom>
          <a:ln w="25400">
            <a:solidFill>
              <a:schemeClr val="tx1"/>
            </a:solidFill>
          </a:ln>
        </p:spPr>
      </p:pic>
      <p:pic>
        <p:nvPicPr>
          <p:cNvPr id="7" name="Picture 6" descr="Graphical user interface, application&#10;&#10;Description automatically generated">
            <a:extLst>
              <a:ext uri="{FF2B5EF4-FFF2-40B4-BE49-F238E27FC236}">
                <a16:creationId xmlns:a16="http://schemas.microsoft.com/office/drawing/2014/main" id="{021EF08F-9341-6342-AF6B-776AFF8862FD}"/>
              </a:ext>
            </a:extLst>
          </p:cNvPr>
          <p:cNvPicPr>
            <a:picLocks noChangeAspect="1"/>
          </p:cNvPicPr>
          <p:nvPr/>
        </p:nvPicPr>
        <p:blipFill>
          <a:blip r:embed="rId3"/>
          <a:stretch>
            <a:fillRect/>
          </a:stretch>
        </p:blipFill>
        <p:spPr>
          <a:xfrm>
            <a:off x="5197593" y="620760"/>
            <a:ext cx="2042656" cy="4420819"/>
          </a:xfrm>
          <a:prstGeom prst="rect">
            <a:avLst/>
          </a:prstGeom>
          <a:ln w="25400">
            <a:solidFill>
              <a:schemeClr val="tx1"/>
            </a:solidFill>
          </a:ln>
        </p:spPr>
      </p:pic>
    </p:spTree>
    <p:extLst>
      <p:ext uri="{BB962C8B-B14F-4D97-AF65-F5344CB8AC3E}">
        <p14:creationId xmlns:p14="http://schemas.microsoft.com/office/powerpoint/2010/main" val="3387338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O'Reilly Mobile App</a:t>
            </a:r>
          </a:p>
        </p:txBody>
      </p:sp>
      <p:sp>
        <p:nvSpPr>
          <p:cNvPr id="3" name="Content Placeholder 2">
            <a:extLst>
              <a:ext uri="{FF2B5EF4-FFF2-40B4-BE49-F238E27FC236}">
                <a16:creationId xmlns:a16="http://schemas.microsoft.com/office/drawing/2014/main" id="{711A448E-1641-C6C6-5E8B-F04A26A92A2F}"/>
              </a:ext>
            </a:extLst>
          </p:cNvPr>
          <p:cNvSpPr>
            <a:spLocks noGrp="1"/>
          </p:cNvSpPr>
          <p:nvPr>
            <p:ph idx="1"/>
          </p:nvPr>
        </p:nvSpPr>
        <p:spPr/>
        <p:txBody>
          <a:bodyPr/>
          <a:lstStyle/>
          <a:p>
            <a:endParaRPr lang="en-US"/>
          </a:p>
        </p:txBody>
      </p:sp>
      <p:pic>
        <p:nvPicPr>
          <p:cNvPr id="4" name="Picture 3" descr="A picture containing graphical user interface&#10;&#10;Description automatically generated">
            <a:extLst>
              <a:ext uri="{FF2B5EF4-FFF2-40B4-BE49-F238E27FC236}">
                <a16:creationId xmlns:a16="http://schemas.microsoft.com/office/drawing/2014/main" id="{315DC88E-7054-4252-AFD8-4AA02679E7C4}"/>
              </a:ext>
            </a:extLst>
          </p:cNvPr>
          <p:cNvPicPr>
            <a:picLocks noChangeAspect="1"/>
          </p:cNvPicPr>
          <p:nvPr/>
        </p:nvPicPr>
        <p:blipFill>
          <a:blip r:embed="rId2"/>
          <a:stretch>
            <a:fillRect/>
          </a:stretch>
        </p:blipFill>
        <p:spPr>
          <a:xfrm>
            <a:off x="5810791" y="631723"/>
            <a:ext cx="1890237" cy="4083169"/>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21634B22-A0C3-44CF-AAF2-82E811B1485D}"/>
              </a:ext>
            </a:extLst>
          </p:cNvPr>
          <p:cNvPicPr>
            <a:picLocks noChangeAspect="1"/>
          </p:cNvPicPr>
          <p:nvPr/>
        </p:nvPicPr>
        <p:blipFill>
          <a:blip r:embed="rId3"/>
          <a:stretch>
            <a:fillRect/>
          </a:stretch>
        </p:blipFill>
        <p:spPr>
          <a:xfrm>
            <a:off x="3611218" y="631723"/>
            <a:ext cx="1890237" cy="4083169"/>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628EA13E-A4E6-4C85-AEDB-54DAA302A8EB}"/>
              </a:ext>
            </a:extLst>
          </p:cNvPr>
          <p:cNvPicPr>
            <a:picLocks noChangeAspect="1"/>
          </p:cNvPicPr>
          <p:nvPr/>
        </p:nvPicPr>
        <p:blipFill>
          <a:blip r:embed="rId4"/>
          <a:stretch>
            <a:fillRect/>
          </a:stretch>
        </p:blipFill>
        <p:spPr>
          <a:xfrm>
            <a:off x="1411645" y="631723"/>
            <a:ext cx="1890237" cy="4083169"/>
          </a:xfrm>
          <a:prstGeom prst="rect">
            <a:avLst/>
          </a:prstGeom>
        </p:spPr>
      </p:pic>
    </p:spTree>
    <p:extLst>
      <p:ext uri="{BB962C8B-B14F-4D97-AF65-F5344CB8AC3E}">
        <p14:creationId xmlns:p14="http://schemas.microsoft.com/office/powerpoint/2010/main" val="906806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sp>
        <p:nvSpPr>
          <p:cNvPr id="4" name="Content Placeholder 3">
            <a:extLst>
              <a:ext uri="{FF2B5EF4-FFF2-40B4-BE49-F238E27FC236}">
                <a16:creationId xmlns:a16="http://schemas.microsoft.com/office/drawing/2014/main" id="{36ABFEBF-5A09-4AF5-A729-2BA151A8BA2D}"/>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0E569151-7122-0468-8CFE-079000584105}"/>
              </a:ext>
            </a:extLst>
          </p:cNvPr>
          <p:cNvPicPr>
            <a:picLocks noChangeAspect="1"/>
          </p:cNvPicPr>
          <p:nvPr/>
        </p:nvPicPr>
        <p:blipFill>
          <a:blip r:embed="rId2"/>
          <a:stretch>
            <a:fillRect/>
          </a:stretch>
        </p:blipFill>
        <p:spPr>
          <a:xfrm>
            <a:off x="2676102" y="932046"/>
            <a:ext cx="3791797" cy="3929583"/>
          </a:xfrm>
          <a:prstGeom prst="rect">
            <a:avLst/>
          </a:prstGeom>
        </p:spPr>
      </p:pic>
    </p:spTree>
    <p:extLst>
      <p:ext uri="{BB962C8B-B14F-4D97-AF65-F5344CB8AC3E}">
        <p14:creationId xmlns:p14="http://schemas.microsoft.com/office/powerpoint/2010/main" val="127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78AE-F548-FC79-99A8-D85EC42C4D70}"/>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99FD87FF-CB86-2383-0712-FFA9C41BCE7C}"/>
              </a:ext>
            </a:extLst>
          </p:cNvPr>
          <p:cNvSpPr>
            <a:spLocks noGrp="1"/>
          </p:cNvSpPr>
          <p:nvPr>
            <p:ph idx="1"/>
          </p:nvPr>
        </p:nvSpPr>
        <p:spPr/>
        <p:txBody>
          <a:bodyPr/>
          <a:lstStyle/>
          <a:p>
            <a:r>
              <a:rPr lang="en-US" dirty="0"/>
              <a:t>Please add questions to the </a:t>
            </a:r>
            <a:r>
              <a:rPr lang="en-US" b="1" dirty="0"/>
              <a:t>Q&amp;A window </a:t>
            </a:r>
            <a:r>
              <a:rPr lang="en-US" dirty="0"/>
              <a:t>so I don’t miss them</a:t>
            </a:r>
          </a:p>
          <a:p>
            <a:r>
              <a:rPr lang="en-US" dirty="0"/>
              <a:t>Only O’Reilly folks and I can read them</a:t>
            </a:r>
          </a:p>
          <a:p>
            <a:r>
              <a:rPr lang="en-US" dirty="0"/>
              <a:t>Your name shows up as initials with no company name</a:t>
            </a:r>
          </a:p>
          <a:p>
            <a:r>
              <a:rPr lang="en-US" dirty="0"/>
              <a:t>Let us know in the Q&amp;A </a:t>
            </a:r>
            <a:r>
              <a:rPr lang="en-US" b="1" dirty="0"/>
              <a:t>if my audio and/or video gets “crispy”</a:t>
            </a:r>
          </a:p>
          <a:p>
            <a:endParaRPr lang="en-US" dirty="0"/>
          </a:p>
        </p:txBody>
      </p:sp>
    </p:spTree>
    <p:extLst>
      <p:ext uri="{BB962C8B-B14F-4D97-AF65-F5344CB8AC3E}">
        <p14:creationId xmlns:p14="http://schemas.microsoft.com/office/powerpoint/2010/main" val="343051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Prerequisites</a:t>
            </a:r>
          </a:p>
        </p:txBody>
      </p:sp>
      <p:pic>
        <p:nvPicPr>
          <p:cNvPr id="6" name="Picture 5">
            <a:extLst>
              <a:ext uri="{FF2B5EF4-FFF2-40B4-BE49-F238E27FC236}">
                <a16:creationId xmlns:a16="http://schemas.microsoft.com/office/drawing/2014/main" id="{063D5E45-F5A0-4C7F-A9A6-9823C300FD92}"/>
              </a:ext>
            </a:extLst>
          </p:cNvPr>
          <p:cNvPicPr>
            <a:picLocks noChangeAspect="1"/>
          </p:cNvPicPr>
          <p:nvPr/>
        </p:nvPicPr>
        <p:blipFill>
          <a:blip r:embed="rId2"/>
          <a:stretch>
            <a:fillRect/>
          </a:stretch>
        </p:blipFill>
        <p:spPr>
          <a:xfrm>
            <a:off x="3215386" y="1424354"/>
            <a:ext cx="5584468" cy="2684201"/>
          </a:xfrm>
          <a:prstGeom prst="rect">
            <a:avLst/>
          </a:prstGeom>
        </p:spPr>
      </p:pic>
      <p:pic>
        <p:nvPicPr>
          <p:cNvPr id="8" name="Picture 7">
            <a:extLst>
              <a:ext uri="{FF2B5EF4-FFF2-40B4-BE49-F238E27FC236}">
                <a16:creationId xmlns:a16="http://schemas.microsoft.com/office/drawing/2014/main" id="{C0CF6F50-7F70-30B3-7177-56D143E35BB3}"/>
              </a:ext>
            </a:extLst>
          </p:cNvPr>
          <p:cNvPicPr>
            <a:picLocks noChangeAspect="1"/>
          </p:cNvPicPr>
          <p:nvPr/>
        </p:nvPicPr>
        <p:blipFill>
          <a:blip r:embed="rId3"/>
          <a:stretch>
            <a:fillRect/>
          </a:stretch>
        </p:blipFill>
        <p:spPr>
          <a:xfrm>
            <a:off x="542380" y="1588468"/>
            <a:ext cx="2203563" cy="2355971"/>
          </a:xfrm>
          <a:prstGeom prst="rect">
            <a:avLst/>
          </a:prstGeom>
        </p:spPr>
      </p:pic>
    </p:spTree>
    <p:extLst>
      <p:ext uri="{BB962C8B-B14F-4D97-AF65-F5344CB8AC3E}">
        <p14:creationId xmlns:p14="http://schemas.microsoft.com/office/powerpoint/2010/main" val="3705594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Azure AI Engineer Associate</a:t>
            </a:r>
          </a:p>
        </p:txBody>
      </p:sp>
      <p:sp>
        <p:nvSpPr>
          <p:cNvPr id="2" name="Rectangle: Rounded Corners 1">
            <a:extLst>
              <a:ext uri="{FF2B5EF4-FFF2-40B4-BE49-F238E27FC236}">
                <a16:creationId xmlns:a16="http://schemas.microsoft.com/office/drawing/2014/main" id="{C4B3D05D-97BE-CAD6-3B77-7CC1D80192CE}"/>
              </a:ext>
            </a:extLst>
          </p:cNvPr>
          <p:cNvSpPr/>
          <p:nvPr/>
        </p:nvSpPr>
        <p:spPr>
          <a:xfrm>
            <a:off x="457201" y="1516673"/>
            <a:ext cx="8304334" cy="84406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t>Exam AI-102: Designing and Implementing a Microsoft Azure AI Solution</a:t>
            </a:r>
          </a:p>
        </p:txBody>
      </p:sp>
      <p:sp>
        <p:nvSpPr>
          <p:cNvPr id="4" name="Rectangle: Rounded Corners 3">
            <a:extLst>
              <a:ext uri="{FF2B5EF4-FFF2-40B4-BE49-F238E27FC236}">
                <a16:creationId xmlns:a16="http://schemas.microsoft.com/office/drawing/2014/main" id="{15490F8A-1D5A-4601-56A5-94F07A1FC0F4}"/>
              </a:ext>
            </a:extLst>
          </p:cNvPr>
          <p:cNvSpPr/>
          <p:nvPr/>
        </p:nvSpPr>
        <p:spPr>
          <a:xfrm>
            <a:off x="419833" y="3072912"/>
            <a:ext cx="8304334" cy="84406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t>Exam AI-103: Developing AI Apps and Agents on Azure</a:t>
            </a:r>
          </a:p>
        </p:txBody>
      </p:sp>
    </p:spTree>
    <p:extLst>
      <p:ext uri="{BB962C8B-B14F-4D97-AF65-F5344CB8AC3E}">
        <p14:creationId xmlns:p14="http://schemas.microsoft.com/office/powerpoint/2010/main" val="3986650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Tim's IT Certification Study Model</a:t>
            </a:r>
          </a:p>
        </p:txBody>
      </p:sp>
      <p:grpSp>
        <p:nvGrpSpPr>
          <p:cNvPr id="10" name="Group 9">
            <a:extLst>
              <a:ext uri="{FF2B5EF4-FFF2-40B4-BE49-F238E27FC236}">
                <a16:creationId xmlns:a16="http://schemas.microsoft.com/office/drawing/2014/main" id="{D1B1122D-9177-6236-3A23-81E9FE9D3D57}"/>
              </a:ext>
            </a:extLst>
          </p:cNvPr>
          <p:cNvGrpSpPr/>
          <p:nvPr/>
        </p:nvGrpSpPr>
        <p:grpSpPr>
          <a:xfrm>
            <a:off x="1025607" y="810634"/>
            <a:ext cx="7083648" cy="3968535"/>
            <a:chOff x="1025607" y="810634"/>
            <a:chExt cx="7083648" cy="3968535"/>
          </a:xfrm>
        </p:grpSpPr>
        <p:pic>
          <p:nvPicPr>
            <p:cNvPr id="5" name="Picture 4" descr="A wooden stool with text on it&#10;&#10;AI-generated content may be incorrect.">
              <a:extLst>
                <a:ext uri="{FF2B5EF4-FFF2-40B4-BE49-F238E27FC236}">
                  <a16:creationId xmlns:a16="http://schemas.microsoft.com/office/drawing/2014/main" id="{215FEF25-F898-F71F-0EF5-D48AB82DFE0F}"/>
                </a:ext>
              </a:extLst>
            </p:cNvPr>
            <p:cNvPicPr>
              <a:picLocks noChangeAspect="1"/>
            </p:cNvPicPr>
            <p:nvPr/>
          </p:nvPicPr>
          <p:blipFill>
            <a:blip r:embed="rId2"/>
            <a:stretch>
              <a:fillRect/>
            </a:stretch>
          </p:blipFill>
          <p:spPr>
            <a:xfrm>
              <a:off x="1025607" y="810634"/>
              <a:ext cx="7083648" cy="3968535"/>
            </a:xfrm>
            <a:prstGeom prst="rect">
              <a:avLst/>
            </a:prstGeom>
          </p:spPr>
        </p:pic>
        <p:pic>
          <p:nvPicPr>
            <p:cNvPr id="9" name="Picture 8">
              <a:extLst>
                <a:ext uri="{FF2B5EF4-FFF2-40B4-BE49-F238E27FC236}">
                  <a16:creationId xmlns:a16="http://schemas.microsoft.com/office/drawing/2014/main" id="{B2126A8E-EA8E-9EE9-AD1F-32BB2E39C6C8}"/>
                </a:ext>
              </a:extLst>
            </p:cNvPr>
            <p:cNvPicPr>
              <a:picLocks noChangeAspect="1"/>
            </p:cNvPicPr>
            <p:nvPr/>
          </p:nvPicPr>
          <p:blipFill>
            <a:blip r:embed="rId3"/>
            <a:stretch>
              <a:fillRect/>
            </a:stretch>
          </p:blipFill>
          <p:spPr>
            <a:xfrm>
              <a:off x="1585279" y="917086"/>
              <a:ext cx="5431538" cy="411199"/>
            </a:xfrm>
            <a:prstGeom prst="rect">
              <a:avLst/>
            </a:prstGeom>
          </p:spPr>
        </p:pic>
      </p:grpSp>
    </p:spTree>
    <p:extLst>
      <p:ext uri="{BB962C8B-B14F-4D97-AF65-F5344CB8AC3E}">
        <p14:creationId xmlns:p14="http://schemas.microsoft.com/office/powerpoint/2010/main" val="2973039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Thank you!</a:t>
            </a:r>
          </a:p>
        </p:txBody>
      </p:sp>
      <p:graphicFrame>
        <p:nvGraphicFramePr>
          <p:cNvPr id="8" name="Content Placeholder 2">
            <a:extLst>
              <a:ext uri="{FF2B5EF4-FFF2-40B4-BE49-F238E27FC236}">
                <a16:creationId xmlns:a16="http://schemas.microsoft.com/office/drawing/2014/main" id="{D9943E7B-A596-34C1-5378-FDFF8C0F479F}"/>
              </a:ext>
            </a:extLst>
          </p:cNvPr>
          <p:cNvGraphicFramePr>
            <a:graphicFrameLocks noGrp="1"/>
          </p:cNvGraphicFramePr>
          <p:nvPr>
            <p:ph idx="1"/>
            <p:extLst>
              <p:ext uri="{D42A27DB-BD31-4B8C-83A1-F6EECF244321}">
                <p14:modId xmlns:p14="http://schemas.microsoft.com/office/powerpoint/2010/main" val="1864475422"/>
              </p:ext>
            </p:extLst>
          </p:nvPr>
        </p:nvGraphicFramePr>
        <p:xfrm>
          <a:off x="1327639" y="1669236"/>
          <a:ext cx="6659452" cy="257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person wearing glasses and a black jacket&#10;&#10;Description automatically generated">
            <a:extLst>
              <a:ext uri="{FF2B5EF4-FFF2-40B4-BE49-F238E27FC236}">
                <a16:creationId xmlns:a16="http://schemas.microsoft.com/office/drawing/2014/main" id="{92297AF4-D93F-A1DC-D317-3D9E6FDAA5AC}"/>
              </a:ext>
            </a:extLst>
          </p:cNvPr>
          <p:cNvPicPr>
            <a:picLocks noChangeAspect="1"/>
          </p:cNvPicPr>
          <p:nvPr/>
        </p:nvPicPr>
        <p:blipFill>
          <a:blip r:embed="rId7"/>
          <a:stretch>
            <a:fillRect/>
          </a:stretch>
        </p:blipFill>
        <p:spPr>
          <a:xfrm>
            <a:off x="6852858" y="1669236"/>
            <a:ext cx="2011305" cy="1734208"/>
          </a:xfrm>
          <a:prstGeom prst="rect">
            <a:avLst/>
          </a:prstGeom>
        </p:spPr>
      </p:pic>
    </p:spTree>
    <p:extLst>
      <p:ext uri="{BB962C8B-B14F-4D97-AF65-F5344CB8AC3E}">
        <p14:creationId xmlns:p14="http://schemas.microsoft.com/office/powerpoint/2010/main" val="4004251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0" y="0"/>
            <a:ext cx="152400" cy="5143500"/>
          </a:xfrm>
          <a:prstGeom prst="rect">
            <a:avLst/>
          </a:prstGeom>
          <a:solidFill>
            <a:srgbClr val="00B4D8"/>
          </a:solidFill>
          <a:ln/>
        </p:spPr>
        <p:txBody>
          <a:bodyPr wrap="square" rtlCol="0" anchor="ctr"/>
          <a:lstStyle/>
          <a:p>
            <a:pPr marL="0" indent="0">
              <a:buNone/>
            </a:pPr>
            <a:endParaRPr lang="en-US" dirty="0"/>
          </a:p>
        </p:txBody>
      </p:sp>
      <p:sp>
        <p:nvSpPr>
          <p:cNvPr id="3" name="Text 1"/>
          <p:cNvSpPr/>
          <p:nvPr/>
        </p:nvSpPr>
        <p:spPr>
          <a:xfrm>
            <a:off x="6350050" y="0"/>
            <a:ext cx="2793950" cy="5143500"/>
          </a:xfrm>
          <a:prstGeom prst="rect">
            <a:avLst/>
          </a:prstGeom>
          <a:solidFill>
            <a:srgbClr val="2A3A6E"/>
          </a:solidFill>
          <a:ln/>
        </p:spPr>
        <p:txBody>
          <a:bodyPr wrap="square" rtlCol="0" anchor="ctr"/>
          <a:lstStyle/>
          <a:p>
            <a:pPr marL="0" indent="0">
              <a:buNone/>
            </a:pPr>
            <a:endParaRPr lang="en-US" dirty="0"/>
          </a:p>
        </p:txBody>
      </p:sp>
      <p:sp>
        <p:nvSpPr>
          <p:cNvPr id="4" name="Text 2"/>
          <p:cNvSpPr/>
          <p:nvPr/>
        </p:nvSpPr>
        <p:spPr>
          <a:xfrm>
            <a:off x="7620149" y="3810000"/>
            <a:ext cx="1015901" cy="101501"/>
          </a:xfrm>
          <a:prstGeom prst="rect">
            <a:avLst/>
          </a:prstGeom>
          <a:solidFill>
            <a:srgbClr val="F4845F"/>
          </a:solidFill>
          <a:ln/>
        </p:spPr>
        <p:txBody>
          <a:bodyPr wrap="square" rtlCol="0" anchor="ctr"/>
          <a:lstStyle/>
          <a:p>
            <a:pPr marL="0" indent="0">
              <a:buNone/>
            </a:pPr>
            <a:endParaRPr lang="en-US" dirty="0"/>
          </a:p>
        </p:txBody>
      </p:sp>
      <p:sp>
        <p:nvSpPr>
          <p:cNvPr id="5" name="Text 3"/>
          <p:cNvSpPr/>
          <p:nvPr/>
        </p:nvSpPr>
        <p:spPr>
          <a:xfrm>
            <a:off x="1168301" y="762000"/>
            <a:ext cx="7357973" cy="219075"/>
          </a:xfrm>
          <a:prstGeom prst="rect">
            <a:avLst/>
          </a:prstGeom>
          <a:noFill/>
          <a:ln/>
        </p:spPr>
        <p:txBody>
          <a:bodyPr wrap="square" lIns="0" tIns="0" rIns="0" bIns="0" rtlCol="0" anchor="t"/>
          <a:lstStyle/>
          <a:p>
            <a:pPr marL="0" indent="0" algn="l">
              <a:spcAft>
                <a:spcPts val="3000"/>
              </a:spcAft>
              <a:buNone/>
            </a:pPr>
            <a:r>
              <a:rPr lang="en-US" sz="1400" b="1" dirty="0">
                <a:solidFill>
                  <a:srgbClr val="00B4D8"/>
                </a:solidFill>
                <a:latin typeface="Verdana" pitchFamily="34" charset="0"/>
                <a:ea typeface="Verdana" pitchFamily="34" charset="-122"/>
                <a:cs typeface="Verdana" pitchFamily="34" charset="-120"/>
              </a:rPr>
              <a:t>MICROSOFT AB-100 EXAM PREP</a:t>
            </a:r>
            <a:endParaRPr lang="en-US" sz="1400" dirty="0"/>
          </a:p>
        </p:txBody>
      </p:sp>
      <p:sp>
        <p:nvSpPr>
          <p:cNvPr id="6" name="Text 4"/>
          <p:cNvSpPr/>
          <p:nvPr/>
        </p:nvSpPr>
        <p:spPr>
          <a:xfrm>
            <a:off x="1168301" y="1362075"/>
            <a:ext cx="7357973" cy="1117402"/>
          </a:xfrm>
          <a:prstGeom prst="rect">
            <a:avLst/>
          </a:prstGeom>
          <a:noFill/>
          <a:ln/>
        </p:spPr>
        <p:txBody>
          <a:bodyPr wrap="square" lIns="0" tIns="0" rIns="0" bIns="0" rtlCol="0" anchor="t"/>
          <a:lstStyle/>
          <a:p>
            <a:pPr marL="0" indent="0" algn="l">
              <a:lnSpc>
                <a:spcPts val="4400"/>
              </a:lnSpc>
              <a:spcAft>
                <a:spcPts val="1800"/>
              </a:spcAft>
              <a:buNone/>
            </a:pPr>
            <a:r>
              <a:rPr lang="en-US" sz="4000" b="1" dirty="0">
                <a:solidFill>
                  <a:srgbClr val="FFFFFF"/>
                </a:solidFill>
                <a:latin typeface="Verdana" pitchFamily="34" charset="0"/>
                <a:ea typeface="Verdana" pitchFamily="34" charset="-122"/>
                <a:cs typeface="Verdana" pitchFamily="34" charset="-120"/>
              </a:rPr>
              <a:t>Agentic AI Business Solutions Architect</a:t>
            </a:r>
            <a:endParaRPr lang="en-US" sz="4000" dirty="0"/>
          </a:p>
        </p:txBody>
      </p:sp>
      <p:sp>
        <p:nvSpPr>
          <p:cNvPr id="7" name="Text 5"/>
          <p:cNvSpPr/>
          <p:nvPr/>
        </p:nvSpPr>
        <p:spPr>
          <a:xfrm>
            <a:off x="1168301" y="2708077"/>
            <a:ext cx="7357973" cy="628650"/>
          </a:xfrm>
          <a:prstGeom prst="rect">
            <a:avLst/>
          </a:prstGeom>
          <a:noFill/>
          <a:ln/>
        </p:spPr>
        <p:txBody>
          <a:bodyPr wrap="square" lIns="0" tIns="0" rIns="0" bIns="0" rtlCol="0" anchor="t"/>
          <a:lstStyle/>
          <a:p>
            <a:pPr marL="0" indent="0" algn="l">
              <a:spcAft>
                <a:spcPts val="4000"/>
              </a:spcAft>
              <a:buNone/>
            </a:pPr>
            <a:r>
              <a:rPr lang="en-US" sz="2000" dirty="0">
                <a:solidFill>
                  <a:srgbClr val="E9ECF2"/>
                </a:solidFill>
                <a:latin typeface="Verdana" pitchFamily="34" charset="0"/>
                <a:ea typeface="Verdana" pitchFamily="34" charset="-122"/>
                <a:cs typeface="Verdana" pitchFamily="34" charset="-120"/>
              </a:rPr>
              <a:t>Plan, design, and deploy AI-powered business solutions in 4 hours</a:t>
            </a:r>
            <a:endParaRPr lang="en-US" sz="2000" dirty="0"/>
          </a:p>
        </p:txBody>
      </p:sp>
      <p:sp>
        <p:nvSpPr>
          <p:cNvPr id="8" name="Text 6"/>
          <p:cNvSpPr/>
          <p:nvPr/>
        </p:nvSpPr>
        <p:spPr>
          <a:xfrm>
            <a:off x="1168301" y="3844677"/>
            <a:ext cx="7357973" cy="238125"/>
          </a:xfrm>
          <a:prstGeom prst="rect">
            <a:avLst/>
          </a:prstGeom>
          <a:noFill/>
          <a:ln/>
        </p:spPr>
        <p:txBody>
          <a:bodyPr wrap="square" lIns="0" tIns="0" rIns="0" bIns="0" rtlCol="0" anchor="t"/>
          <a:lstStyle/>
          <a:p>
            <a:pPr marL="0" indent="0" algn="l">
              <a:spcAft>
                <a:spcPts val="400"/>
              </a:spcAft>
              <a:buNone/>
            </a:pPr>
            <a:r>
              <a:rPr lang="en-US" sz="1600" b="1" dirty="0">
                <a:solidFill>
                  <a:srgbClr val="FFFFFF"/>
                </a:solidFill>
                <a:latin typeface="Verdana" pitchFamily="34" charset="0"/>
                <a:ea typeface="Verdana" pitchFamily="34" charset="-122"/>
                <a:cs typeface="Verdana" pitchFamily="34" charset="-120"/>
              </a:rPr>
              <a:t>Tim Warner</a:t>
            </a:r>
            <a:endParaRPr lang="en-US" sz="1600" dirty="0"/>
          </a:p>
        </p:txBody>
      </p:sp>
      <p:sp>
        <p:nvSpPr>
          <p:cNvPr id="9" name="Text 7"/>
          <p:cNvSpPr/>
          <p:nvPr/>
        </p:nvSpPr>
        <p:spPr>
          <a:xfrm>
            <a:off x="1168301" y="4133552"/>
            <a:ext cx="7357973" cy="200025"/>
          </a:xfrm>
          <a:prstGeom prst="rect">
            <a:avLst/>
          </a:prstGeom>
          <a:noFill/>
          <a:ln/>
        </p:spPr>
        <p:txBody>
          <a:bodyPr wrap="square" lIns="0" tIns="0" rIns="0" bIns="0" rtlCol="0" anchor="t"/>
          <a:lstStyle/>
          <a:p>
            <a:pPr marL="0" indent="0" algn="l">
              <a:spcAft>
                <a:spcPts val="600"/>
              </a:spcAft>
              <a:buNone/>
            </a:pPr>
            <a:r>
              <a:rPr lang="en-US" sz="1300" dirty="0">
                <a:solidFill>
                  <a:srgbClr val="A8B5D1"/>
                </a:solidFill>
                <a:latin typeface="Verdana" pitchFamily="34" charset="0"/>
                <a:ea typeface="Verdana" pitchFamily="34" charset="-122"/>
                <a:cs typeface="Verdana" pitchFamily="34" charset="-120"/>
              </a:rPr>
              <a:t>O'Reilly Live Learning -- 4 hours, four 50-minute segments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61876"/>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53901"/>
            <a:ext cx="8290661" cy="171450"/>
          </a:xfrm>
          <a:prstGeom prst="rect">
            <a:avLst/>
          </a:prstGeom>
          <a:noFill/>
          <a:ln/>
        </p:spPr>
        <p:txBody>
          <a:bodyPr wrap="square" lIns="0" tIns="0" rIns="0" bIns="0" rtlCol="0" anchor="t"/>
          <a:lstStyle/>
          <a:p>
            <a:pPr marL="0" indent="0" algn="l">
              <a:spcBef>
                <a:spcPts val="400"/>
              </a:spcBef>
              <a:buNone/>
            </a:pPr>
            <a:r>
              <a:rPr lang="en-US" sz="1100" b="1" dirty="0">
                <a:solidFill>
                  <a:srgbClr val="00B4D8"/>
                </a:solidFill>
                <a:latin typeface="Verdana" pitchFamily="34" charset="0"/>
                <a:ea typeface="Verdana" pitchFamily="34" charset="-122"/>
                <a:cs typeface="Verdana" pitchFamily="34" charset="-120"/>
              </a:rPr>
              <a:t>WHAT YOU WILL LEARN</a:t>
            </a:r>
            <a:endParaRPr lang="en-US" sz="1100" dirty="0"/>
          </a:p>
        </p:txBody>
      </p:sp>
      <p:sp>
        <p:nvSpPr>
          <p:cNvPr id="4" name="Text 2"/>
          <p:cNvSpPr/>
          <p:nvPr/>
        </p:nvSpPr>
        <p:spPr>
          <a:xfrm>
            <a:off x="507950" y="425351"/>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Course agenda -- four 50-minute segments</a:t>
            </a:r>
            <a:endParaRPr lang="en-US" sz="2200" dirty="0"/>
          </a:p>
        </p:txBody>
      </p:sp>
      <p:sp>
        <p:nvSpPr>
          <p:cNvPr id="5" name="Text 3"/>
          <p:cNvSpPr/>
          <p:nvPr/>
        </p:nvSpPr>
        <p:spPr>
          <a:xfrm>
            <a:off x="355550" y="1190476"/>
            <a:ext cx="1993850" cy="3260973"/>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393650" y="1190476"/>
            <a:ext cx="0" cy="3260973"/>
          </a:xfrm>
          <a:prstGeom prst="line">
            <a:avLst/>
          </a:prstGeom>
          <a:noFill/>
          <a:ln w="76200">
            <a:solidFill>
              <a:srgbClr val="00B4D8"/>
            </a:solidFill>
            <a:prstDash val="solid"/>
          </a:ln>
        </p:spPr>
        <p:txBody>
          <a:bodyPr/>
          <a:lstStyle/>
          <a:p>
            <a:endParaRPr lang="en-US"/>
          </a:p>
        </p:txBody>
      </p:sp>
      <p:sp>
        <p:nvSpPr>
          <p:cNvPr id="7" name="Text 5"/>
          <p:cNvSpPr/>
          <p:nvPr/>
        </p:nvSpPr>
        <p:spPr>
          <a:xfrm>
            <a:off x="584150" y="1368177"/>
            <a:ext cx="1645107" cy="400050"/>
          </a:xfrm>
          <a:prstGeom prst="rect">
            <a:avLst/>
          </a:prstGeom>
          <a:noFill/>
          <a:ln/>
        </p:spPr>
        <p:txBody>
          <a:bodyPr wrap="square" lIns="0" tIns="0" rIns="0" bIns="0" rtlCol="0" anchor="t"/>
          <a:lstStyle/>
          <a:p>
            <a:pPr marL="0" indent="0" algn="l">
              <a:spcAft>
                <a:spcPts val="200"/>
              </a:spcAft>
              <a:buNone/>
            </a:pPr>
            <a:r>
              <a:rPr lang="en-US" sz="2600" b="1" dirty="0">
                <a:solidFill>
                  <a:srgbClr val="1F2A56"/>
                </a:solidFill>
                <a:latin typeface="Verdana" pitchFamily="34" charset="0"/>
                <a:ea typeface="Verdana" pitchFamily="34" charset="-122"/>
                <a:cs typeface="Verdana" pitchFamily="34" charset="-120"/>
              </a:rPr>
              <a:t>1</a:t>
            </a:r>
            <a:endParaRPr lang="en-US" sz="2600" dirty="0"/>
          </a:p>
        </p:txBody>
      </p:sp>
      <p:sp>
        <p:nvSpPr>
          <p:cNvPr id="8" name="Text 6"/>
          <p:cNvSpPr/>
          <p:nvPr/>
        </p:nvSpPr>
        <p:spPr>
          <a:xfrm>
            <a:off x="584150" y="1793528"/>
            <a:ext cx="1645107" cy="142875"/>
          </a:xfrm>
          <a:prstGeom prst="rect">
            <a:avLst/>
          </a:prstGeom>
          <a:noFill/>
          <a:ln/>
        </p:spPr>
        <p:txBody>
          <a:bodyPr wrap="square" lIns="0" tIns="0" rIns="0" bIns="0" rtlCol="0" anchor="t"/>
          <a:lstStyle/>
          <a:p>
            <a:pPr marL="0" indent="0" algn="l">
              <a:spcAft>
                <a:spcPts val="600"/>
              </a:spcAft>
              <a:buNone/>
            </a:pPr>
            <a:r>
              <a:rPr lang="en-US" sz="900" b="1" dirty="0">
                <a:solidFill>
                  <a:srgbClr val="00B4D8"/>
                </a:solidFill>
                <a:latin typeface="Verdana" pitchFamily="34" charset="0"/>
                <a:ea typeface="Verdana" pitchFamily="34" charset="-122"/>
                <a:cs typeface="Verdana" pitchFamily="34" charset="-120"/>
              </a:rPr>
              <a:t>PLAN -- 25-30%</a:t>
            </a:r>
            <a:endParaRPr lang="en-US" sz="900" dirty="0"/>
          </a:p>
        </p:txBody>
      </p:sp>
      <p:sp>
        <p:nvSpPr>
          <p:cNvPr id="9" name="Text 7"/>
          <p:cNvSpPr/>
          <p:nvPr/>
        </p:nvSpPr>
        <p:spPr>
          <a:xfrm>
            <a:off x="584150" y="2012603"/>
            <a:ext cx="1645107" cy="180975"/>
          </a:xfrm>
          <a:prstGeom prst="rect">
            <a:avLst/>
          </a:prstGeom>
          <a:noFill/>
          <a:ln/>
        </p:spPr>
        <p:txBody>
          <a:bodyPr wrap="square" lIns="0" tIns="0" rIns="0" bIns="0" rtlCol="0" anchor="t"/>
          <a:lstStyle/>
          <a:p>
            <a:pPr marL="0" indent="0" algn="l">
              <a:spcAft>
                <a:spcPts val="600"/>
              </a:spcAft>
              <a:buNone/>
            </a:pPr>
            <a:r>
              <a:rPr lang="en-US" sz="1200" b="1" dirty="0">
                <a:solidFill>
                  <a:srgbClr val="1A1A2E"/>
                </a:solidFill>
                <a:latin typeface="Verdana" pitchFamily="34" charset="0"/>
                <a:ea typeface="Verdana" pitchFamily="34" charset="-122"/>
                <a:cs typeface="Verdana" pitchFamily="34" charset="-120"/>
              </a:rPr>
              <a:t>Plan AI Solutions</a:t>
            </a:r>
            <a:endParaRPr lang="en-US" sz="1200" dirty="0"/>
          </a:p>
        </p:txBody>
      </p:sp>
      <p:sp>
        <p:nvSpPr>
          <p:cNvPr id="10" name="Text 8"/>
          <p:cNvSpPr/>
          <p:nvPr/>
        </p:nvSpPr>
        <p:spPr>
          <a:xfrm>
            <a:off x="584150" y="2269778"/>
            <a:ext cx="1645107" cy="888504"/>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Requirements, grounding data, CAF AI adoption, platform choice, ROI and TCO, build vs buy vs extend.</a:t>
            </a:r>
            <a:endParaRPr lang="en-US" sz="1000" dirty="0"/>
          </a:p>
        </p:txBody>
      </p:sp>
      <p:sp>
        <p:nvSpPr>
          <p:cNvPr id="11" name="Text 9"/>
          <p:cNvSpPr/>
          <p:nvPr/>
        </p:nvSpPr>
        <p:spPr>
          <a:xfrm>
            <a:off x="2501801" y="1190476"/>
            <a:ext cx="1993999" cy="3260973"/>
          </a:xfrm>
          <a:prstGeom prst="rect">
            <a:avLst/>
          </a:prstGeom>
          <a:solidFill>
            <a:srgbClr val="E9ECF2"/>
          </a:solidFill>
          <a:ln/>
        </p:spPr>
        <p:txBody>
          <a:bodyPr wrap="square" rtlCol="0" anchor="ctr"/>
          <a:lstStyle/>
          <a:p>
            <a:pPr marL="0" indent="0">
              <a:buNone/>
            </a:pPr>
            <a:endParaRPr lang="en-US" dirty="0"/>
          </a:p>
        </p:txBody>
      </p:sp>
      <p:sp>
        <p:nvSpPr>
          <p:cNvPr id="12" name="Shape 10"/>
          <p:cNvSpPr/>
          <p:nvPr/>
        </p:nvSpPr>
        <p:spPr>
          <a:xfrm>
            <a:off x="2539901" y="1190476"/>
            <a:ext cx="0" cy="3260973"/>
          </a:xfrm>
          <a:prstGeom prst="line">
            <a:avLst/>
          </a:prstGeom>
          <a:noFill/>
          <a:ln w="76200">
            <a:solidFill>
              <a:srgbClr val="00B4D8"/>
            </a:solidFill>
            <a:prstDash val="solid"/>
          </a:ln>
        </p:spPr>
        <p:txBody>
          <a:bodyPr/>
          <a:lstStyle/>
          <a:p>
            <a:endParaRPr lang="en-US"/>
          </a:p>
        </p:txBody>
      </p:sp>
      <p:sp>
        <p:nvSpPr>
          <p:cNvPr id="13" name="Text 11"/>
          <p:cNvSpPr/>
          <p:nvPr/>
        </p:nvSpPr>
        <p:spPr>
          <a:xfrm>
            <a:off x="2730401" y="1368177"/>
            <a:ext cx="1645259" cy="400050"/>
          </a:xfrm>
          <a:prstGeom prst="rect">
            <a:avLst/>
          </a:prstGeom>
          <a:noFill/>
          <a:ln/>
        </p:spPr>
        <p:txBody>
          <a:bodyPr wrap="square" lIns="0" tIns="0" rIns="0" bIns="0" rtlCol="0" anchor="t"/>
          <a:lstStyle/>
          <a:p>
            <a:pPr marL="0" indent="0" algn="l">
              <a:spcAft>
                <a:spcPts val="200"/>
              </a:spcAft>
              <a:buNone/>
            </a:pPr>
            <a:r>
              <a:rPr lang="en-US" sz="2600" b="1" dirty="0">
                <a:solidFill>
                  <a:srgbClr val="1F2A56"/>
                </a:solidFill>
                <a:latin typeface="Verdana" pitchFamily="34" charset="0"/>
                <a:ea typeface="Verdana" pitchFamily="34" charset="-122"/>
                <a:cs typeface="Verdana" pitchFamily="34" charset="-120"/>
              </a:rPr>
              <a:t>2</a:t>
            </a:r>
            <a:endParaRPr lang="en-US" sz="2600" dirty="0"/>
          </a:p>
        </p:txBody>
      </p:sp>
      <p:sp>
        <p:nvSpPr>
          <p:cNvPr id="14" name="Text 12"/>
          <p:cNvSpPr/>
          <p:nvPr/>
        </p:nvSpPr>
        <p:spPr>
          <a:xfrm>
            <a:off x="2730401" y="1793528"/>
            <a:ext cx="1645259" cy="142875"/>
          </a:xfrm>
          <a:prstGeom prst="rect">
            <a:avLst/>
          </a:prstGeom>
          <a:noFill/>
          <a:ln/>
        </p:spPr>
        <p:txBody>
          <a:bodyPr wrap="square" lIns="0" tIns="0" rIns="0" bIns="0" rtlCol="0" anchor="t"/>
          <a:lstStyle/>
          <a:p>
            <a:pPr marL="0" indent="0" algn="l">
              <a:spcAft>
                <a:spcPts val="600"/>
              </a:spcAft>
              <a:buNone/>
            </a:pPr>
            <a:r>
              <a:rPr lang="en-US" sz="900" b="1" dirty="0">
                <a:solidFill>
                  <a:srgbClr val="00B4D8"/>
                </a:solidFill>
                <a:latin typeface="Verdana" pitchFamily="34" charset="0"/>
                <a:ea typeface="Verdana" pitchFamily="34" charset="-122"/>
                <a:cs typeface="Verdana" pitchFamily="34" charset="-120"/>
              </a:rPr>
              <a:t>DESIGN -- 25-30%</a:t>
            </a:r>
            <a:endParaRPr lang="en-US" sz="900" dirty="0"/>
          </a:p>
        </p:txBody>
      </p:sp>
      <p:sp>
        <p:nvSpPr>
          <p:cNvPr id="15" name="Text 13"/>
          <p:cNvSpPr/>
          <p:nvPr/>
        </p:nvSpPr>
        <p:spPr>
          <a:xfrm>
            <a:off x="2730401" y="2012603"/>
            <a:ext cx="1645259" cy="361950"/>
          </a:xfrm>
          <a:prstGeom prst="rect">
            <a:avLst/>
          </a:prstGeom>
          <a:noFill/>
          <a:ln/>
        </p:spPr>
        <p:txBody>
          <a:bodyPr wrap="square" lIns="0" tIns="0" rIns="0" bIns="0" rtlCol="0" anchor="t"/>
          <a:lstStyle/>
          <a:p>
            <a:pPr marL="0" indent="0" algn="l">
              <a:spcAft>
                <a:spcPts val="600"/>
              </a:spcAft>
              <a:buNone/>
            </a:pPr>
            <a:r>
              <a:rPr lang="en-US" sz="1200" b="1" dirty="0">
                <a:solidFill>
                  <a:srgbClr val="1A1A2E"/>
                </a:solidFill>
                <a:latin typeface="Verdana" pitchFamily="34" charset="0"/>
                <a:ea typeface="Verdana" pitchFamily="34" charset="-122"/>
                <a:cs typeface="Verdana" pitchFamily="34" charset="-120"/>
              </a:rPr>
              <a:t>Design AI Solutions</a:t>
            </a:r>
            <a:endParaRPr lang="en-US" sz="1200" dirty="0"/>
          </a:p>
        </p:txBody>
      </p:sp>
      <p:sp>
        <p:nvSpPr>
          <p:cNvPr id="16" name="Text 14"/>
          <p:cNvSpPr/>
          <p:nvPr/>
        </p:nvSpPr>
        <p:spPr>
          <a:xfrm>
            <a:off x="2730401" y="2450753"/>
            <a:ext cx="1645259" cy="888504"/>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Agent typology, Copilot Studio topics and flows, Foundry Tools, MCP and A2A, prebuilt orchestration.</a:t>
            </a:r>
            <a:endParaRPr lang="en-US" sz="1000" dirty="0"/>
          </a:p>
        </p:txBody>
      </p:sp>
      <p:sp>
        <p:nvSpPr>
          <p:cNvPr id="17" name="Text 15"/>
          <p:cNvSpPr/>
          <p:nvPr/>
        </p:nvSpPr>
        <p:spPr>
          <a:xfrm>
            <a:off x="4648200" y="1190476"/>
            <a:ext cx="1993850" cy="3260973"/>
          </a:xfrm>
          <a:prstGeom prst="rect">
            <a:avLst/>
          </a:prstGeom>
          <a:solidFill>
            <a:srgbClr val="E9ECF2"/>
          </a:solidFill>
          <a:ln/>
        </p:spPr>
        <p:txBody>
          <a:bodyPr wrap="square" rtlCol="0" anchor="ctr"/>
          <a:lstStyle/>
          <a:p>
            <a:pPr marL="0" indent="0">
              <a:buNone/>
            </a:pPr>
            <a:endParaRPr lang="en-US" dirty="0"/>
          </a:p>
        </p:txBody>
      </p:sp>
      <p:sp>
        <p:nvSpPr>
          <p:cNvPr id="18" name="Shape 16"/>
          <p:cNvSpPr/>
          <p:nvPr/>
        </p:nvSpPr>
        <p:spPr>
          <a:xfrm>
            <a:off x="4686300" y="1190476"/>
            <a:ext cx="0" cy="3260973"/>
          </a:xfrm>
          <a:prstGeom prst="line">
            <a:avLst/>
          </a:prstGeom>
          <a:noFill/>
          <a:ln w="76200">
            <a:solidFill>
              <a:srgbClr val="F4845F"/>
            </a:solidFill>
            <a:prstDash val="solid"/>
          </a:ln>
        </p:spPr>
        <p:txBody>
          <a:bodyPr/>
          <a:lstStyle/>
          <a:p>
            <a:endParaRPr lang="en-US"/>
          </a:p>
        </p:txBody>
      </p:sp>
      <p:sp>
        <p:nvSpPr>
          <p:cNvPr id="19" name="Text 17"/>
          <p:cNvSpPr/>
          <p:nvPr/>
        </p:nvSpPr>
        <p:spPr>
          <a:xfrm>
            <a:off x="4876800" y="1368177"/>
            <a:ext cx="1645107" cy="400050"/>
          </a:xfrm>
          <a:prstGeom prst="rect">
            <a:avLst/>
          </a:prstGeom>
          <a:noFill/>
          <a:ln/>
        </p:spPr>
        <p:txBody>
          <a:bodyPr wrap="square" lIns="0" tIns="0" rIns="0" bIns="0" rtlCol="0" anchor="t"/>
          <a:lstStyle/>
          <a:p>
            <a:pPr marL="0" indent="0" algn="l">
              <a:spcAft>
                <a:spcPts val="200"/>
              </a:spcAft>
              <a:buNone/>
            </a:pPr>
            <a:r>
              <a:rPr lang="en-US" sz="2600" b="1" dirty="0">
                <a:solidFill>
                  <a:srgbClr val="1F2A56"/>
                </a:solidFill>
                <a:latin typeface="Verdana" pitchFamily="34" charset="0"/>
                <a:ea typeface="Verdana" pitchFamily="34" charset="-122"/>
                <a:cs typeface="Verdana" pitchFamily="34" charset="-120"/>
              </a:rPr>
              <a:t>3</a:t>
            </a:r>
            <a:endParaRPr lang="en-US" sz="2600" dirty="0"/>
          </a:p>
        </p:txBody>
      </p:sp>
      <p:sp>
        <p:nvSpPr>
          <p:cNvPr id="20" name="Text 18"/>
          <p:cNvSpPr/>
          <p:nvPr/>
        </p:nvSpPr>
        <p:spPr>
          <a:xfrm>
            <a:off x="4876800" y="1793528"/>
            <a:ext cx="1645107" cy="285750"/>
          </a:xfrm>
          <a:prstGeom prst="rect">
            <a:avLst/>
          </a:prstGeom>
          <a:noFill/>
          <a:ln/>
        </p:spPr>
        <p:txBody>
          <a:bodyPr wrap="square" lIns="0" tIns="0" rIns="0" bIns="0" rtlCol="0" anchor="t"/>
          <a:lstStyle/>
          <a:p>
            <a:pPr marL="0" indent="0" algn="l">
              <a:spcAft>
                <a:spcPts val="600"/>
              </a:spcAft>
              <a:buNone/>
            </a:pPr>
            <a:r>
              <a:rPr lang="en-US" sz="900" b="1" dirty="0">
                <a:solidFill>
                  <a:srgbClr val="00B4D8"/>
                </a:solidFill>
                <a:latin typeface="Verdana" pitchFamily="34" charset="0"/>
                <a:ea typeface="Verdana" pitchFamily="34" charset="-122"/>
                <a:cs typeface="Verdana" pitchFamily="34" charset="-120"/>
              </a:rPr>
              <a:t>DEPLOY OPS -- ~20-25%</a:t>
            </a:r>
            <a:endParaRPr lang="en-US" sz="900" dirty="0"/>
          </a:p>
        </p:txBody>
      </p:sp>
      <p:sp>
        <p:nvSpPr>
          <p:cNvPr id="21" name="Text 19"/>
          <p:cNvSpPr/>
          <p:nvPr/>
        </p:nvSpPr>
        <p:spPr>
          <a:xfrm>
            <a:off x="4876800" y="2155478"/>
            <a:ext cx="1645107" cy="361950"/>
          </a:xfrm>
          <a:prstGeom prst="rect">
            <a:avLst/>
          </a:prstGeom>
          <a:noFill/>
          <a:ln/>
        </p:spPr>
        <p:txBody>
          <a:bodyPr wrap="square" lIns="0" tIns="0" rIns="0" bIns="0" rtlCol="0" anchor="t"/>
          <a:lstStyle/>
          <a:p>
            <a:pPr marL="0" indent="0" algn="l">
              <a:spcAft>
                <a:spcPts val="600"/>
              </a:spcAft>
              <a:buNone/>
            </a:pPr>
            <a:r>
              <a:rPr lang="en-US" sz="1200" b="1" dirty="0">
                <a:solidFill>
                  <a:srgbClr val="1A1A2E"/>
                </a:solidFill>
                <a:latin typeface="Verdana" pitchFamily="34" charset="0"/>
                <a:ea typeface="Verdana" pitchFamily="34" charset="-122"/>
                <a:cs typeface="Verdana" pitchFamily="34" charset="-120"/>
              </a:rPr>
              <a:t>Deploy: Ops, Test, ALM</a:t>
            </a:r>
            <a:endParaRPr lang="en-US" sz="1200" dirty="0"/>
          </a:p>
        </p:txBody>
      </p:sp>
      <p:sp>
        <p:nvSpPr>
          <p:cNvPr id="22" name="Text 20"/>
          <p:cNvSpPr/>
          <p:nvPr/>
        </p:nvSpPr>
        <p:spPr>
          <a:xfrm>
            <a:off x="4876800" y="2593628"/>
            <a:ext cx="1645107" cy="888504"/>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Monitoring and telemetry, agent testing, ALM across data, agents, custom models, and Dynamics 365.</a:t>
            </a:r>
            <a:endParaRPr lang="en-US" sz="1000" dirty="0"/>
          </a:p>
        </p:txBody>
      </p:sp>
      <p:sp>
        <p:nvSpPr>
          <p:cNvPr id="23" name="Text 21"/>
          <p:cNvSpPr/>
          <p:nvPr/>
        </p:nvSpPr>
        <p:spPr>
          <a:xfrm>
            <a:off x="6794450" y="1190476"/>
            <a:ext cx="1993999" cy="3260973"/>
          </a:xfrm>
          <a:prstGeom prst="rect">
            <a:avLst/>
          </a:prstGeom>
          <a:solidFill>
            <a:srgbClr val="E9ECF2"/>
          </a:solidFill>
          <a:ln/>
        </p:spPr>
        <p:txBody>
          <a:bodyPr wrap="square" rtlCol="0" anchor="ctr"/>
          <a:lstStyle/>
          <a:p>
            <a:pPr marL="0" indent="0">
              <a:buNone/>
            </a:pPr>
            <a:endParaRPr lang="en-US" dirty="0"/>
          </a:p>
        </p:txBody>
      </p:sp>
      <p:sp>
        <p:nvSpPr>
          <p:cNvPr id="24" name="Shape 22"/>
          <p:cNvSpPr/>
          <p:nvPr/>
        </p:nvSpPr>
        <p:spPr>
          <a:xfrm>
            <a:off x="6832550" y="1190476"/>
            <a:ext cx="0" cy="3260973"/>
          </a:xfrm>
          <a:prstGeom prst="line">
            <a:avLst/>
          </a:prstGeom>
          <a:noFill/>
          <a:ln w="76200">
            <a:solidFill>
              <a:srgbClr val="F4845F"/>
            </a:solidFill>
            <a:prstDash val="solid"/>
          </a:ln>
        </p:spPr>
        <p:txBody>
          <a:bodyPr/>
          <a:lstStyle/>
          <a:p>
            <a:endParaRPr lang="en-US"/>
          </a:p>
        </p:txBody>
      </p:sp>
      <p:sp>
        <p:nvSpPr>
          <p:cNvPr id="25" name="Text 23"/>
          <p:cNvSpPr/>
          <p:nvPr/>
        </p:nvSpPr>
        <p:spPr>
          <a:xfrm>
            <a:off x="7023050" y="1368177"/>
            <a:ext cx="1645259" cy="400050"/>
          </a:xfrm>
          <a:prstGeom prst="rect">
            <a:avLst/>
          </a:prstGeom>
          <a:noFill/>
          <a:ln/>
        </p:spPr>
        <p:txBody>
          <a:bodyPr wrap="square" lIns="0" tIns="0" rIns="0" bIns="0" rtlCol="0" anchor="t"/>
          <a:lstStyle/>
          <a:p>
            <a:pPr marL="0" indent="0" algn="l">
              <a:spcAft>
                <a:spcPts val="200"/>
              </a:spcAft>
              <a:buNone/>
            </a:pPr>
            <a:r>
              <a:rPr lang="en-US" sz="2600" b="1" dirty="0">
                <a:solidFill>
                  <a:srgbClr val="1F2A56"/>
                </a:solidFill>
                <a:latin typeface="Verdana" pitchFamily="34" charset="0"/>
                <a:ea typeface="Verdana" pitchFamily="34" charset="-122"/>
                <a:cs typeface="Verdana" pitchFamily="34" charset="-120"/>
              </a:rPr>
              <a:t>4</a:t>
            </a:r>
            <a:endParaRPr lang="en-US" sz="2600" dirty="0"/>
          </a:p>
        </p:txBody>
      </p:sp>
      <p:sp>
        <p:nvSpPr>
          <p:cNvPr id="26" name="Text 24"/>
          <p:cNvSpPr/>
          <p:nvPr/>
        </p:nvSpPr>
        <p:spPr>
          <a:xfrm>
            <a:off x="7023050" y="1793528"/>
            <a:ext cx="1645259" cy="285750"/>
          </a:xfrm>
          <a:prstGeom prst="rect">
            <a:avLst/>
          </a:prstGeom>
          <a:noFill/>
          <a:ln/>
        </p:spPr>
        <p:txBody>
          <a:bodyPr wrap="square" lIns="0" tIns="0" rIns="0" bIns="0" rtlCol="0" anchor="t"/>
          <a:lstStyle/>
          <a:p>
            <a:pPr marL="0" indent="0" algn="l">
              <a:spcAft>
                <a:spcPts val="600"/>
              </a:spcAft>
              <a:buNone/>
            </a:pPr>
            <a:r>
              <a:rPr lang="en-US" sz="900" b="1" dirty="0">
                <a:solidFill>
                  <a:srgbClr val="00B4D8"/>
                </a:solidFill>
                <a:latin typeface="Verdana" pitchFamily="34" charset="0"/>
                <a:ea typeface="Verdana" pitchFamily="34" charset="-122"/>
                <a:cs typeface="Verdana" pitchFamily="34" charset="-120"/>
              </a:rPr>
              <a:t>DEPLOY SEC -- ~20-25%</a:t>
            </a:r>
            <a:endParaRPr lang="en-US" sz="900" dirty="0"/>
          </a:p>
        </p:txBody>
      </p:sp>
      <p:sp>
        <p:nvSpPr>
          <p:cNvPr id="27" name="Text 25"/>
          <p:cNvSpPr/>
          <p:nvPr/>
        </p:nvSpPr>
        <p:spPr>
          <a:xfrm>
            <a:off x="7023050" y="2155478"/>
            <a:ext cx="1645259" cy="361950"/>
          </a:xfrm>
          <a:prstGeom prst="rect">
            <a:avLst/>
          </a:prstGeom>
          <a:noFill/>
          <a:ln/>
        </p:spPr>
        <p:txBody>
          <a:bodyPr wrap="square" lIns="0" tIns="0" rIns="0" bIns="0" rtlCol="0" anchor="t"/>
          <a:lstStyle/>
          <a:p>
            <a:pPr marL="0" indent="0" algn="l">
              <a:spcAft>
                <a:spcPts val="600"/>
              </a:spcAft>
              <a:buNone/>
            </a:pPr>
            <a:r>
              <a:rPr lang="en-US" sz="1200" b="1" dirty="0">
                <a:solidFill>
                  <a:srgbClr val="1A1A2E"/>
                </a:solidFill>
                <a:latin typeface="Verdana" pitchFamily="34" charset="0"/>
                <a:ea typeface="Verdana" pitchFamily="34" charset="-122"/>
                <a:cs typeface="Verdana" pitchFamily="34" charset="-120"/>
              </a:rPr>
              <a:t>Security and Exam Mastery</a:t>
            </a:r>
            <a:endParaRPr lang="en-US" sz="1200" dirty="0"/>
          </a:p>
        </p:txBody>
      </p:sp>
      <p:sp>
        <p:nvSpPr>
          <p:cNvPr id="28" name="Text 26"/>
          <p:cNvSpPr/>
          <p:nvPr/>
        </p:nvSpPr>
        <p:spPr>
          <a:xfrm>
            <a:off x="7023050" y="2593628"/>
            <a:ext cx="1645259" cy="888504"/>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Agent and model security, governance, prompt manipulation, residency, audit, exam-day plan.</a:t>
            </a:r>
            <a:endParaRPr lang="en-US" sz="1000" dirty="0"/>
          </a:p>
        </p:txBody>
      </p:sp>
      <p:sp>
        <p:nvSpPr>
          <p:cNvPr id="29" name="Text 27"/>
          <p:cNvSpPr/>
          <p:nvPr/>
        </p:nvSpPr>
        <p:spPr>
          <a:xfrm>
            <a:off x="507950" y="4680049"/>
            <a:ext cx="8290661" cy="285750"/>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Exam AB-100 study guide (synced 2026-04-21). Companion: Microsoft Learn path -- Architect AI solutions for business productivity (11 modules).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0" y="0"/>
            <a:ext cx="4698802" cy="5143500"/>
          </a:xfrm>
          <a:prstGeom prst="rect">
            <a:avLst/>
          </a:prstGeom>
          <a:solidFill>
            <a:srgbClr val="00B4D8"/>
          </a:solidFill>
          <a:ln/>
        </p:spPr>
        <p:txBody>
          <a:bodyPr wrap="square" rtlCol="0" anchor="ctr"/>
          <a:lstStyle/>
          <a:p>
            <a:pPr marL="0" indent="0">
              <a:buNone/>
            </a:pPr>
            <a:endParaRPr lang="en-US" dirty="0"/>
          </a:p>
        </p:txBody>
      </p:sp>
      <p:sp>
        <p:nvSpPr>
          <p:cNvPr id="3" name="Text 1"/>
          <p:cNvSpPr/>
          <p:nvPr/>
        </p:nvSpPr>
        <p:spPr>
          <a:xfrm>
            <a:off x="634901" y="634901"/>
            <a:ext cx="3627069" cy="200025"/>
          </a:xfrm>
          <a:prstGeom prst="rect">
            <a:avLst/>
          </a:prstGeom>
          <a:noFill/>
          <a:ln/>
        </p:spPr>
        <p:txBody>
          <a:bodyPr wrap="square" lIns="0" tIns="0" rIns="0" bIns="0" rtlCol="0" anchor="t"/>
          <a:lstStyle/>
          <a:p>
            <a:pPr marL="0" indent="0" algn="l">
              <a:spcAft>
                <a:spcPts val="1400"/>
              </a:spcAft>
              <a:buNone/>
            </a:pPr>
            <a:r>
              <a:rPr lang="en-US" sz="1300" b="1" dirty="0">
                <a:solidFill>
                  <a:srgbClr val="1F2A56"/>
                </a:solidFill>
                <a:latin typeface="Verdana" pitchFamily="34" charset="0"/>
                <a:ea typeface="Verdana" pitchFamily="34" charset="-122"/>
                <a:cs typeface="Verdana" pitchFamily="34" charset="-120"/>
              </a:rPr>
              <a:t>SEGMENT</a:t>
            </a:r>
            <a:endParaRPr lang="en-US" sz="1300" dirty="0"/>
          </a:p>
        </p:txBody>
      </p:sp>
      <p:sp>
        <p:nvSpPr>
          <p:cNvPr id="4" name="Text 2"/>
          <p:cNvSpPr/>
          <p:nvPr/>
        </p:nvSpPr>
        <p:spPr>
          <a:xfrm>
            <a:off x="634901" y="1012627"/>
            <a:ext cx="3627069" cy="1257300"/>
          </a:xfrm>
          <a:prstGeom prst="rect">
            <a:avLst/>
          </a:prstGeom>
          <a:noFill/>
          <a:ln/>
        </p:spPr>
        <p:txBody>
          <a:bodyPr wrap="square" lIns="0" tIns="0" rIns="0" bIns="0" rtlCol="0" anchor="t"/>
          <a:lstStyle/>
          <a:p>
            <a:pPr marL="0" indent="0" algn="l">
              <a:lnSpc>
                <a:spcPts val="9900"/>
              </a:lnSpc>
              <a:buNone/>
            </a:pPr>
            <a:r>
              <a:rPr lang="en-US" sz="11000" b="1" dirty="0">
                <a:solidFill>
                  <a:srgbClr val="1F2A56"/>
                </a:solidFill>
                <a:latin typeface="Verdana" pitchFamily="34" charset="0"/>
                <a:ea typeface="Verdana" pitchFamily="34" charset="-122"/>
                <a:cs typeface="Verdana" pitchFamily="34" charset="-120"/>
              </a:rPr>
              <a:t>1</a:t>
            </a:r>
            <a:endParaRPr lang="en-US" sz="11000" dirty="0"/>
          </a:p>
        </p:txBody>
      </p:sp>
      <p:sp>
        <p:nvSpPr>
          <p:cNvPr id="5" name="Text 3"/>
          <p:cNvSpPr/>
          <p:nvPr/>
        </p:nvSpPr>
        <p:spPr>
          <a:xfrm>
            <a:off x="634901" y="2447627"/>
            <a:ext cx="3627069" cy="238125"/>
          </a:xfrm>
          <a:prstGeom prst="rect">
            <a:avLst/>
          </a:prstGeom>
          <a:noFill/>
          <a:ln/>
        </p:spPr>
        <p:txBody>
          <a:bodyPr wrap="square" lIns="0" tIns="0" rIns="0" bIns="0" rtlCol="0" anchor="t"/>
          <a:lstStyle/>
          <a:p>
            <a:pPr marL="0" indent="0" algn="l">
              <a:spcBef>
                <a:spcPts val="1400"/>
              </a:spcBef>
              <a:buNone/>
            </a:pPr>
            <a:r>
              <a:rPr lang="en-US" sz="1600" b="1" dirty="0">
                <a:solidFill>
                  <a:srgbClr val="1F2A56"/>
                </a:solidFill>
                <a:latin typeface="Verdana" pitchFamily="34" charset="0"/>
                <a:ea typeface="Verdana" pitchFamily="34" charset="-122"/>
                <a:cs typeface="Verdana" pitchFamily="34" charset="-120"/>
              </a:rPr>
              <a:t>0:00 -- 0:50</a:t>
            </a:r>
            <a:endParaRPr lang="en-US" sz="1600" dirty="0"/>
          </a:p>
        </p:txBody>
      </p:sp>
      <p:sp>
        <p:nvSpPr>
          <p:cNvPr id="6" name="Text 4"/>
          <p:cNvSpPr/>
          <p:nvPr/>
        </p:nvSpPr>
        <p:spPr>
          <a:xfrm>
            <a:off x="5206752" y="507950"/>
            <a:ext cx="3368394" cy="200025"/>
          </a:xfrm>
          <a:prstGeom prst="rect">
            <a:avLst/>
          </a:prstGeom>
          <a:noFill/>
          <a:ln/>
        </p:spPr>
        <p:txBody>
          <a:bodyPr wrap="square" lIns="0" tIns="0" rIns="0" bIns="0" rtlCol="0" anchor="t"/>
          <a:lstStyle/>
          <a:p>
            <a:pPr marL="0" indent="0" algn="l">
              <a:spcAft>
                <a:spcPts val="1200"/>
              </a:spcAft>
              <a:buNone/>
            </a:pPr>
            <a:r>
              <a:rPr lang="en-US" sz="1300" b="1" dirty="0">
                <a:solidFill>
                  <a:srgbClr val="F4845F"/>
                </a:solidFill>
                <a:latin typeface="Verdana" pitchFamily="34" charset="0"/>
                <a:ea typeface="Verdana" pitchFamily="34" charset="-122"/>
                <a:cs typeface="Verdana" pitchFamily="34" charset="-120"/>
              </a:rPr>
              <a:t>DOMAIN WEIGHT 25-30%</a:t>
            </a:r>
            <a:endParaRPr lang="en-US" sz="1300" dirty="0"/>
          </a:p>
        </p:txBody>
      </p:sp>
      <p:sp>
        <p:nvSpPr>
          <p:cNvPr id="7" name="Text 5"/>
          <p:cNvSpPr/>
          <p:nvPr/>
        </p:nvSpPr>
        <p:spPr>
          <a:xfrm>
            <a:off x="5206752" y="860375"/>
            <a:ext cx="3368394" cy="742950"/>
          </a:xfrm>
          <a:prstGeom prst="rect">
            <a:avLst/>
          </a:prstGeom>
          <a:noFill/>
          <a:ln/>
        </p:spPr>
        <p:txBody>
          <a:bodyPr wrap="square" lIns="0" tIns="0" rIns="0" bIns="0" rtlCol="0" anchor="t"/>
          <a:lstStyle/>
          <a:p>
            <a:pPr marL="0" indent="0" algn="l">
              <a:spcAft>
                <a:spcPts val="1200"/>
              </a:spcAft>
              <a:buNone/>
            </a:pPr>
            <a:r>
              <a:rPr lang="en-US" sz="2400" b="1" dirty="0">
                <a:solidFill>
                  <a:srgbClr val="FFFFFF"/>
                </a:solidFill>
                <a:latin typeface="Verdana" pitchFamily="34" charset="0"/>
                <a:ea typeface="Verdana" pitchFamily="34" charset="-122"/>
                <a:cs typeface="Verdana" pitchFamily="34" charset="-120"/>
              </a:rPr>
              <a:t>Plan AI-powered business solutions</a:t>
            </a:r>
            <a:endParaRPr lang="en-US" sz="2400" dirty="0"/>
          </a:p>
        </p:txBody>
      </p:sp>
      <p:sp>
        <p:nvSpPr>
          <p:cNvPr id="8" name="Text 6"/>
          <p:cNvSpPr/>
          <p:nvPr/>
        </p:nvSpPr>
        <p:spPr>
          <a:xfrm>
            <a:off x="5206752" y="1755725"/>
            <a:ext cx="1015901" cy="50750"/>
          </a:xfrm>
          <a:prstGeom prst="rect">
            <a:avLst/>
          </a:prstGeom>
          <a:solidFill>
            <a:srgbClr val="F4845F"/>
          </a:solidFill>
          <a:ln/>
        </p:spPr>
        <p:txBody>
          <a:bodyPr wrap="square" rtlCol="0" anchor="ctr"/>
          <a:lstStyle/>
          <a:p>
            <a:pPr marL="0" indent="0">
              <a:buNone/>
            </a:pPr>
            <a:endParaRPr lang="en-US" dirty="0"/>
          </a:p>
        </p:txBody>
      </p:sp>
      <p:sp>
        <p:nvSpPr>
          <p:cNvPr id="9" name="Text 7"/>
          <p:cNvSpPr/>
          <p:nvPr/>
        </p:nvSpPr>
        <p:spPr>
          <a:xfrm>
            <a:off x="5206752" y="1958876"/>
            <a:ext cx="3302347" cy="1426666"/>
          </a:xfrm>
          <a:prstGeom prst="rect">
            <a:avLst/>
          </a:prstGeom>
          <a:noFill/>
          <a:ln/>
        </p:spPr>
        <p:txBody>
          <a:bodyPr wrap="square" lIns="114300" tIns="0" rIns="0" bIns="0" rtlCol="0" anchor="t"/>
          <a:lstStyle/>
          <a:p>
            <a:pPr marL="114300" indent="-114300" algn="l">
              <a:lnSpc>
                <a:spcPts val="1740"/>
              </a:lnSpc>
              <a:spcAft>
                <a:spcPts val="400"/>
              </a:spcAft>
              <a:buSzPct val="100000"/>
              <a:buChar char="•"/>
            </a:pPr>
            <a:r>
              <a:rPr lang="en-US" sz="1200" dirty="0">
                <a:solidFill>
                  <a:srgbClr val="E9ECF2"/>
                </a:solidFill>
                <a:latin typeface="Verdana" pitchFamily="34" charset="0"/>
                <a:ea typeface="Verdana" pitchFamily="34" charset="-122"/>
                <a:cs typeface="Verdana" pitchFamily="34" charset="-120"/>
              </a:rPr>
              <a:t>Analyze requirements and grounding data</a:t>
            </a:r>
            <a:endParaRPr lang="en-US" sz="1200" dirty="0"/>
          </a:p>
          <a:p>
            <a:pPr marL="114300" indent="-114300" algn="l">
              <a:lnSpc>
                <a:spcPts val="1740"/>
              </a:lnSpc>
              <a:spcAft>
                <a:spcPts val="400"/>
              </a:spcAft>
              <a:buSzPct val="100000"/>
              <a:buChar char="•"/>
            </a:pPr>
            <a:r>
              <a:rPr lang="en-US" sz="1200" dirty="0">
                <a:solidFill>
                  <a:srgbClr val="E9ECF2"/>
                </a:solidFill>
                <a:latin typeface="Verdana" pitchFamily="34" charset="0"/>
                <a:ea typeface="Verdana" pitchFamily="34" charset="-122"/>
                <a:cs typeface="Verdana" pitchFamily="34" charset="-120"/>
              </a:rPr>
              <a:t>Design overall AI strategy on the Cloud Adoption Framework</a:t>
            </a:r>
            <a:endParaRPr lang="en-US" sz="1200" dirty="0"/>
          </a:p>
          <a:p>
            <a:pPr marL="114300" indent="-114300" algn="l">
              <a:lnSpc>
                <a:spcPts val="1740"/>
              </a:lnSpc>
              <a:spcAft>
                <a:spcPts val="400"/>
              </a:spcAft>
              <a:buSzPct val="100000"/>
              <a:buChar char="•"/>
            </a:pPr>
            <a:r>
              <a:rPr lang="en-US" sz="1200" dirty="0">
                <a:solidFill>
                  <a:srgbClr val="E9ECF2"/>
                </a:solidFill>
                <a:latin typeface="Verdana" pitchFamily="34" charset="0"/>
                <a:ea typeface="Verdana" pitchFamily="34" charset="-122"/>
                <a:cs typeface="Verdana" pitchFamily="34" charset="-120"/>
              </a:rPr>
              <a:t>Evaluate cost, ROI, build vs buy vs extend, and model router</a:t>
            </a:r>
            <a:endParaRPr lang="en-US" sz="1200" dirty="0"/>
          </a:p>
        </p:txBody>
      </p:sp>
      <p:sp>
        <p:nvSpPr>
          <p:cNvPr id="10" name="Text 8"/>
          <p:cNvSpPr/>
          <p:nvPr/>
        </p:nvSpPr>
        <p:spPr>
          <a:xfrm>
            <a:off x="5206752" y="3537942"/>
            <a:ext cx="3302347" cy="1206847"/>
          </a:xfrm>
          <a:prstGeom prst="rect">
            <a:avLst/>
          </a:prstGeom>
          <a:solidFill>
            <a:srgbClr val="2A3666"/>
          </a:solidFill>
          <a:ln/>
        </p:spPr>
        <p:txBody>
          <a:bodyPr wrap="square" rtlCol="0" anchor="ctr"/>
          <a:lstStyle/>
          <a:p>
            <a:pPr marL="0" indent="0">
              <a:buNone/>
            </a:pPr>
            <a:endParaRPr lang="en-US" dirty="0"/>
          </a:p>
        </p:txBody>
      </p:sp>
      <p:sp>
        <p:nvSpPr>
          <p:cNvPr id="11" name="Shape 9"/>
          <p:cNvSpPr/>
          <p:nvPr/>
        </p:nvSpPr>
        <p:spPr>
          <a:xfrm>
            <a:off x="5230564" y="3537942"/>
            <a:ext cx="0" cy="1206847"/>
          </a:xfrm>
          <a:prstGeom prst="line">
            <a:avLst/>
          </a:prstGeom>
          <a:noFill/>
          <a:ln w="47625">
            <a:solidFill>
              <a:srgbClr val="00B4D8"/>
            </a:solidFill>
            <a:prstDash val="solid"/>
          </a:ln>
        </p:spPr>
        <p:txBody>
          <a:bodyPr/>
          <a:lstStyle/>
          <a:p>
            <a:endParaRPr lang="en-US"/>
          </a:p>
        </p:txBody>
      </p:sp>
      <p:sp>
        <p:nvSpPr>
          <p:cNvPr id="12" name="Text 10"/>
          <p:cNvSpPr/>
          <p:nvPr/>
        </p:nvSpPr>
        <p:spPr>
          <a:xfrm>
            <a:off x="5406777" y="3639443"/>
            <a:ext cx="3008921" cy="285750"/>
          </a:xfrm>
          <a:prstGeom prst="rect">
            <a:avLst/>
          </a:prstGeom>
          <a:noFill/>
          <a:ln/>
        </p:spPr>
        <p:txBody>
          <a:bodyPr wrap="square" lIns="0" tIns="0" rIns="0" bIns="0" rtlCol="0" anchor="t"/>
          <a:lstStyle/>
          <a:p>
            <a:pPr marL="0" indent="0" algn="l">
              <a:spcAft>
                <a:spcPts val="400"/>
              </a:spcAft>
              <a:buNone/>
            </a:pPr>
            <a:r>
              <a:rPr lang="en-US" sz="900" b="1" dirty="0">
                <a:solidFill>
                  <a:srgbClr val="00B4D8"/>
                </a:solidFill>
                <a:latin typeface="Verdana" pitchFamily="34" charset="0"/>
                <a:ea typeface="Verdana" pitchFamily="34" charset="-122"/>
                <a:cs typeface="Verdana" pitchFamily="34" charset="-120"/>
              </a:rPr>
              <a:t>STUDY BETWEEN SESSIONS -- MICROSOFT LEARN</a:t>
            </a:r>
            <a:endParaRPr lang="en-US" sz="900" dirty="0"/>
          </a:p>
        </p:txBody>
      </p:sp>
      <p:sp>
        <p:nvSpPr>
          <p:cNvPr id="13" name="Text 11"/>
          <p:cNvSpPr/>
          <p:nvPr/>
        </p:nvSpPr>
        <p:spPr>
          <a:xfrm>
            <a:off x="5406777" y="3975943"/>
            <a:ext cx="2949922" cy="654695"/>
          </a:xfrm>
          <a:prstGeom prst="rect">
            <a:avLst/>
          </a:prstGeom>
          <a:noFill/>
          <a:ln/>
        </p:spPr>
        <p:txBody>
          <a:bodyPr wrap="square" lIns="88900" tIns="0" rIns="0" bIns="0" rtlCol="0" anchor="t"/>
          <a:lstStyle/>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01. Introduction to agentic AI</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02. Analyze requirements</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03. Design overall AI strategy</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04. Evaluate costs and benefits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6202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6744075" cy="171450"/>
          </a:xfrm>
          <a:prstGeom prst="rect">
            <a:avLst/>
          </a:prstGeom>
          <a:noFill/>
          <a:ln/>
        </p:spPr>
        <p:txBody>
          <a:bodyPr wrap="square" lIns="0" tIns="0" rIns="0" bIns="0" rtlCol="0" anchor="t"/>
          <a:lstStyle/>
          <a:p>
            <a:pPr marL="0" indent="0" algn="l">
              <a:buNone/>
            </a:pPr>
            <a:r>
              <a:rPr lang="en-US" sz="1100" b="1" dirty="0">
                <a:solidFill>
                  <a:srgbClr val="00B4D8"/>
                </a:solidFill>
                <a:latin typeface="Verdana" pitchFamily="34" charset="0"/>
                <a:ea typeface="Verdana" pitchFamily="34" charset="-122"/>
                <a:cs typeface="Verdana" pitchFamily="34" charset="-120"/>
              </a:rPr>
              <a:t>SUBDOMAIN 1.1</a:t>
            </a:r>
            <a:endParaRPr lang="en-US" sz="1100" dirty="0"/>
          </a:p>
        </p:txBody>
      </p:sp>
      <p:sp>
        <p:nvSpPr>
          <p:cNvPr id="4" name="Text 2"/>
          <p:cNvSpPr/>
          <p:nvPr/>
        </p:nvSpPr>
        <p:spPr>
          <a:xfrm>
            <a:off x="507950" y="400050"/>
            <a:ext cx="6744075"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Analyze requirements and grounding data</a:t>
            </a:r>
            <a:endParaRPr lang="en-US" sz="2200" dirty="0"/>
          </a:p>
        </p:txBody>
      </p:sp>
      <p:sp>
        <p:nvSpPr>
          <p:cNvPr id="5" name="Text 3"/>
          <p:cNvSpPr/>
          <p:nvPr/>
        </p:nvSpPr>
        <p:spPr>
          <a:xfrm>
            <a:off x="507950" y="1266825"/>
            <a:ext cx="4002786" cy="219075"/>
          </a:xfrm>
          <a:prstGeom prst="rect">
            <a:avLst/>
          </a:prstGeom>
          <a:noFill/>
          <a:ln/>
        </p:spPr>
        <p:txBody>
          <a:bodyPr wrap="square" lIns="0" tIns="0" rIns="0" bIns="0" rtlCol="0" anchor="t"/>
          <a:lstStyle/>
          <a:p>
            <a:pPr marL="0" indent="0" algn="l">
              <a:spcAft>
                <a:spcPts val="1000"/>
              </a:spcAft>
              <a:buNone/>
            </a:pPr>
            <a:r>
              <a:rPr lang="en-US" sz="1400" b="1" dirty="0">
                <a:solidFill>
                  <a:srgbClr val="1F2A56"/>
                </a:solidFill>
                <a:latin typeface="Verdana" pitchFamily="34" charset="0"/>
                <a:ea typeface="Verdana" pitchFamily="34" charset="-122"/>
                <a:cs typeface="Verdana" pitchFamily="34" charset="-120"/>
              </a:rPr>
              <a:t>Where do agents fit?</a:t>
            </a:r>
            <a:endParaRPr lang="en-US" sz="1400" dirty="0"/>
          </a:p>
        </p:txBody>
      </p:sp>
      <p:sp>
        <p:nvSpPr>
          <p:cNvPr id="6" name="Text 4"/>
          <p:cNvSpPr/>
          <p:nvPr/>
        </p:nvSpPr>
        <p:spPr>
          <a:xfrm>
            <a:off x="507950" y="1612850"/>
            <a:ext cx="3924300" cy="812602"/>
          </a:xfrm>
          <a:prstGeom prst="rect">
            <a:avLst/>
          </a:prstGeom>
          <a:noFill/>
          <a:ln/>
        </p:spPr>
        <p:txBody>
          <a:bodyPr wrap="square" lIns="101600" tIns="0" rIns="0" bIns="0" rtlCol="0" anchor="t"/>
          <a:lstStyle/>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Task automation -- bounded, repeatable</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Data analytics -- summarize and surface insight</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Decision-making -- recommend, route, escalate</a:t>
            </a:r>
            <a:endParaRPr lang="en-US" sz="1200" dirty="0"/>
          </a:p>
        </p:txBody>
      </p:sp>
      <p:sp>
        <p:nvSpPr>
          <p:cNvPr id="7" name="Text 5"/>
          <p:cNvSpPr/>
          <p:nvPr/>
        </p:nvSpPr>
        <p:spPr>
          <a:xfrm>
            <a:off x="507950" y="2603153"/>
            <a:ext cx="4002786" cy="219075"/>
          </a:xfrm>
          <a:prstGeom prst="rect">
            <a:avLst/>
          </a:prstGeom>
          <a:noFill/>
          <a:ln/>
        </p:spPr>
        <p:txBody>
          <a:bodyPr wrap="square" lIns="0" tIns="0" rIns="0" bIns="0" rtlCol="0" anchor="t"/>
          <a:lstStyle/>
          <a:p>
            <a:pPr marL="0" indent="0" algn="l">
              <a:spcAft>
                <a:spcPts val="1000"/>
              </a:spcAft>
              <a:buNone/>
            </a:pPr>
            <a:r>
              <a:rPr lang="en-US" sz="1400" b="1" dirty="0">
                <a:solidFill>
                  <a:srgbClr val="1F2A56"/>
                </a:solidFill>
                <a:latin typeface="Verdana" pitchFamily="34" charset="0"/>
                <a:ea typeface="Verdana" pitchFamily="34" charset="-122"/>
                <a:cs typeface="Verdana" pitchFamily="34" charset="-120"/>
              </a:rPr>
              <a:t>Five grounding data tests</a:t>
            </a:r>
            <a:endParaRPr lang="en-US" sz="1400" dirty="0"/>
          </a:p>
        </p:txBody>
      </p:sp>
      <p:sp>
        <p:nvSpPr>
          <p:cNvPr id="8" name="Text 6"/>
          <p:cNvSpPr/>
          <p:nvPr/>
        </p:nvSpPr>
        <p:spPr>
          <a:xfrm>
            <a:off x="507950" y="2949178"/>
            <a:ext cx="3924300" cy="812602"/>
          </a:xfrm>
          <a:prstGeom prst="rect">
            <a:avLst/>
          </a:prstGeom>
          <a:noFill/>
          <a:ln/>
        </p:spPr>
        <p:txBody>
          <a:bodyPr wrap="square" lIns="101600" tIns="0" rIns="0" bIns="0" rtlCol="0" anchor="t"/>
          <a:lstStyle/>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Accuracy and relevance</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Timeliness and cleanliness</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Availability for downstream AI systems</a:t>
            </a:r>
            <a:endParaRPr lang="en-US" sz="1200" dirty="0"/>
          </a:p>
        </p:txBody>
      </p:sp>
      <p:sp>
        <p:nvSpPr>
          <p:cNvPr id="9" name="Text 7"/>
          <p:cNvSpPr/>
          <p:nvPr/>
        </p:nvSpPr>
        <p:spPr>
          <a:xfrm>
            <a:off x="4711601" y="1266825"/>
            <a:ext cx="4002938" cy="219075"/>
          </a:xfrm>
          <a:prstGeom prst="rect">
            <a:avLst/>
          </a:prstGeom>
          <a:noFill/>
          <a:ln/>
        </p:spPr>
        <p:txBody>
          <a:bodyPr wrap="square" lIns="0" tIns="0" rIns="0" bIns="0" rtlCol="0" anchor="t"/>
          <a:lstStyle/>
          <a:p>
            <a:pPr marL="0" indent="0" algn="l">
              <a:spcAft>
                <a:spcPts val="1000"/>
              </a:spcAft>
              <a:buNone/>
            </a:pPr>
            <a:r>
              <a:rPr lang="en-US" sz="1400" b="1" dirty="0">
                <a:solidFill>
                  <a:srgbClr val="1F2A56"/>
                </a:solidFill>
                <a:latin typeface="Verdana" pitchFamily="34" charset="0"/>
                <a:ea typeface="Verdana" pitchFamily="34" charset="-122"/>
                <a:cs typeface="Verdana" pitchFamily="34" charset="-120"/>
              </a:rPr>
              <a:t>Architect lens</a:t>
            </a:r>
            <a:endParaRPr lang="en-US" sz="1400" dirty="0"/>
          </a:p>
        </p:txBody>
      </p:sp>
      <p:sp>
        <p:nvSpPr>
          <p:cNvPr id="10" name="Text 8"/>
          <p:cNvSpPr/>
          <p:nvPr/>
        </p:nvSpPr>
        <p:spPr>
          <a:xfrm>
            <a:off x="4711601" y="1612850"/>
            <a:ext cx="3924449" cy="812602"/>
          </a:xfrm>
          <a:prstGeom prst="rect">
            <a:avLst/>
          </a:prstGeom>
          <a:noFill/>
          <a:ln/>
        </p:spPr>
        <p:txBody>
          <a:bodyPr wrap="square" lIns="101600" tIns="0" rIns="0" bIns="0" rtlCol="0" anchor="t"/>
          <a:lstStyle/>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Score data before you score the model</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Map sources to channels and identities</a:t>
            </a:r>
            <a:endParaRPr lang="en-US" sz="1200" dirty="0"/>
          </a:p>
          <a:p>
            <a:pPr marL="101600" indent="-101600" algn="l">
              <a:lnSpc>
                <a:spcPts val="1800"/>
              </a:lnSpc>
              <a:spcAft>
                <a:spcPts val="500"/>
              </a:spcAft>
              <a:buSzPct val="100000"/>
              <a:buChar char="•"/>
            </a:pPr>
            <a:r>
              <a:rPr lang="en-US" sz="1200" dirty="0">
                <a:solidFill>
                  <a:srgbClr val="1A1A2E"/>
                </a:solidFill>
                <a:latin typeface="Verdana" pitchFamily="34" charset="0"/>
                <a:ea typeface="Verdana" pitchFamily="34" charset="-122"/>
                <a:cs typeface="Verdana" pitchFamily="34" charset="-120"/>
              </a:rPr>
              <a:t>Plan organization-wide data architecture</a:t>
            </a:r>
            <a:endParaRPr lang="en-US" sz="1200" dirty="0"/>
          </a:p>
        </p:txBody>
      </p:sp>
      <p:sp>
        <p:nvSpPr>
          <p:cNvPr id="11" name="Text 9"/>
          <p:cNvSpPr/>
          <p:nvPr/>
        </p:nvSpPr>
        <p:spPr>
          <a:xfrm>
            <a:off x="4711601" y="2603153"/>
            <a:ext cx="3924449" cy="840581"/>
          </a:xfrm>
          <a:prstGeom prst="rect">
            <a:avLst/>
          </a:prstGeom>
          <a:solidFill>
            <a:srgbClr val="E9ECF2"/>
          </a:solidFill>
          <a:ln/>
        </p:spPr>
        <p:txBody>
          <a:bodyPr wrap="square" rtlCol="0" anchor="ctr"/>
          <a:lstStyle/>
          <a:p>
            <a:pPr marL="0" indent="0">
              <a:buNone/>
            </a:pPr>
            <a:endParaRPr lang="en-US" dirty="0"/>
          </a:p>
        </p:txBody>
      </p:sp>
      <p:sp>
        <p:nvSpPr>
          <p:cNvPr id="12" name="Shape 10"/>
          <p:cNvSpPr/>
          <p:nvPr/>
        </p:nvSpPr>
        <p:spPr>
          <a:xfrm>
            <a:off x="4740176" y="2603153"/>
            <a:ext cx="0" cy="840581"/>
          </a:xfrm>
          <a:prstGeom prst="line">
            <a:avLst/>
          </a:prstGeom>
          <a:noFill/>
          <a:ln w="57150">
            <a:solidFill>
              <a:srgbClr val="F4845F"/>
            </a:solidFill>
            <a:prstDash val="solid"/>
          </a:ln>
        </p:spPr>
        <p:txBody>
          <a:bodyPr/>
          <a:lstStyle/>
          <a:p>
            <a:endParaRPr lang="en-US"/>
          </a:p>
        </p:txBody>
      </p:sp>
      <p:sp>
        <p:nvSpPr>
          <p:cNvPr id="13" name="Text 11"/>
          <p:cNvSpPr/>
          <p:nvPr/>
        </p:nvSpPr>
        <p:spPr>
          <a:xfrm>
            <a:off x="4921151" y="2730103"/>
            <a:ext cx="3633749" cy="586680"/>
          </a:xfrm>
          <a:prstGeom prst="rect">
            <a:avLst/>
          </a:prstGeom>
          <a:noFill/>
          <a:ln/>
        </p:spPr>
        <p:txBody>
          <a:bodyPr wrap="square" lIns="0" tIns="0" rIns="0" bIns="0" rtlCol="0" anchor="t"/>
          <a:lstStyle/>
          <a:p>
            <a:pPr marL="0" indent="0" algn="l">
              <a:lnSpc>
                <a:spcPts val="1540"/>
              </a:lnSpc>
              <a:buNone/>
            </a:pPr>
            <a:r>
              <a:rPr lang="en-US" sz="1100" b="1" dirty="0">
                <a:solidFill>
                  <a:srgbClr val="1A1A2E"/>
                </a:solidFill>
                <a:latin typeface="Verdana" pitchFamily="34" charset="0"/>
                <a:ea typeface="Verdana" pitchFamily="34" charset="-122"/>
                <a:cs typeface="Verdana" pitchFamily="34" charset="-120"/>
              </a:rPr>
              <a:t>Exam tip.</a:t>
            </a:r>
            <a:r>
              <a:rPr lang="en-US" sz="1100" dirty="0">
                <a:solidFill>
                  <a:srgbClr val="1A1A2E"/>
                </a:solidFill>
                <a:latin typeface="Verdana" pitchFamily="34" charset="0"/>
                <a:ea typeface="Verdana" pitchFamily="34" charset="-122"/>
                <a:cs typeface="Verdana" pitchFamily="34" charset="-120"/>
              </a:rPr>
              <a:t> Bad grounding data is the most common reason an agent fails review. Always evaluate the source first.</a:t>
            </a:r>
            <a:endParaRPr lang="en-US" sz="1100" dirty="0"/>
          </a:p>
        </p:txBody>
      </p:sp>
      <p:sp>
        <p:nvSpPr>
          <p:cNvPr id="14" name="Text 12"/>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AB-100 study guide; Cloud Adoption Framework AI agent adoption.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1.2</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Design overall AI strategy on CAF</a:t>
            </a:r>
            <a:endParaRPr lang="en-US" sz="2200" dirty="0"/>
          </a:p>
        </p:txBody>
      </p:sp>
      <p:sp>
        <p:nvSpPr>
          <p:cNvPr id="5" name="Text 3"/>
          <p:cNvSpPr/>
          <p:nvPr/>
        </p:nvSpPr>
        <p:spPr>
          <a:xfrm>
            <a:off x="5079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07950" y="1315938"/>
            <a:ext cx="1270099" cy="0"/>
          </a:xfrm>
          <a:prstGeom prst="line">
            <a:avLst/>
          </a:prstGeom>
          <a:noFill/>
          <a:ln w="47625">
            <a:solidFill>
              <a:srgbClr val="00B4D8"/>
            </a:solidFill>
            <a:prstDash val="solid"/>
          </a:ln>
        </p:spPr>
        <p:txBody>
          <a:bodyPr/>
          <a:lstStyle/>
          <a:p>
            <a:endParaRPr lang="en-US"/>
          </a:p>
        </p:txBody>
      </p:sp>
      <p:sp>
        <p:nvSpPr>
          <p:cNvPr id="7" name="Text 5"/>
          <p:cNvSpPr/>
          <p:nvPr/>
        </p:nvSpPr>
        <p:spPr>
          <a:xfrm>
            <a:off x="5987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1</a:t>
            </a:r>
            <a:endParaRPr lang="en-US" sz="1000" dirty="0"/>
          </a:p>
        </p:txBody>
      </p:sp>
      <p:sp>
        <p:nvSpPr>
          <p:cNvPr id="8" name="Text 6"/>
          <p:cNvSpPr/>
          <p:nvPr/>
        </p:nvSpPr>
        <p:spPr>
          <a:xfrm>
            <a:off x="5987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AI Strategy</a:t>
            </a:r>
            <a:endParaRPr lang="en-US" sz="1100" dirty="0"/>
          </a:p>
        </p:txBody>
      </p:sp>
      <p:sp>
        <p:nvSpPr>
          <p:cNvPr id="9" name="Text 7"/>
          <p:cNvSpPr/>
          <p:nvPr/>
        </p:nvSpPr>
        <p:spPr>
          <a:xfrm>
            <a:off x="18795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10" name="Shape 8"/>
          <p:cNvSpPr/>
          <p:nvPr/>
        </p:nvSpPr>
        <p:spPr>
          <a:xfrm>
            <a:off x="1879550" y="1315938"/>
            <a:ext cx="1270099" cy="0"/>
          </a:xfrm>
          <a:prstGeom prst="line">
            <a:avLst/>
          </a:prstGeom>
          <a:noFill/>
          <a:ln w="47625">
            <a:solidFill>
              <a:srgbClr val="00B4D8"/>
            </a:solidFill>
            <a:prstDash val="solid"/>
          </a:ln>
        </p:spPr>
        <p:txBody>
          <a:bodyPr/>
          <a:lstStyle/>
          <a:p>
            <a:endParaRPr lang="en-US"/>
          </a:p>
        </p:txBody>
      </p:sp>
      <p:sp>
        <p:nvSpPr>
          <p:cNvPr id="11" name="Text 9"/>
          <p:cNvSpPr/>
          <p:nvPr/>
        </p:nvSpPr>
        <p:spPr>
          <a:xfrm>
            <a:off x="19703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2</a:t>
            </a:r>
            <a:endParaRPr lang="en-US" sz="1000" dirty="0"/>
          </a:p>
        </p:txBody>
      </p:sp>
      <p:sp>
        <p:nvSpPr>
          <p:cNvPr id="12" name="Text 10"/>
          <p:cNvSpPr/>
          <p:nvPr/>
        </p:nvSpPr>
        <p:spPr>
          <a:xfrm>
            <a:off x="19703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AI Plan</a:t>
            </a:r>
            <a:endParaRPr lang="en-US" sz="1100" dirty="0"/>
          </a:p>
        </p:txBody>
      </p:sp>
      <p:sp>
        <p:nvSpPr>
          <p:cNvPr id="13" name="Text 11"/>
          <p:cNvSpPr/>
          <p:nvPr/>
        </p:nvSpPr>
        <p:spPr>
          <a:xfrm>
            <a:off x="32511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14" name="Shape 12"/>
          <p:cNvSpPr/>
          <p:nvPr/>
        </p:nvSpPr>
        <p:spPr>
          <a:xfrm>
            <a:off x="3251150" y="1315938"/>
            <a:ext cx="1270099" cy="0"/>
          </a:xfrm>
          <a:prstGeom prst="line">
            <a:avLst/>
          </a:prstGeom>
          <a:noFill/>
          <a:ln w="47625">
            <a:solidFill>
              <a:srgbClr val="00B4D8"/>
            </a:solidFill>
            <a:prstDash val="solid"/>
          </a:ln>
        </p:spPr>
        <p:txBody>
          <a:bodyPr/>
          <a:lstStyle/>
          <a:p>
            <a:endParaRPr lang="en-US"/>
          </a:p>
        </p:txBody>
      </p:sp>
      <p:sp>
        <p:nvSpPr>
          <p:cNvPr id="15" name="Text 13"/>
          <p:cNvSpPr/>
          <p:nvPr/>
        </p:nvSpPr>
        <p:spPr>
          <a:xfrm>
            <a:off x="33419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3</a:t>
            </a:r>
            <a:endParaRPr lang="en-US" sz="1000" dirty="0"/>
          </a:p>
        </p:txBody>
      </p:sp>
      <p:sp>
        <p:nvSpPr>
          <p:cNvPr id="16" name="Text 14"/>
          <p:cNvSpPr/>
          <p:nvPr/>
        </p:nvSpPr>
        <p:spPr>
          <a:xfrm>
            <a:off x="33419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AI Ready</a:t>
            </a:r>
            <a:endParaRPr lang="en-US" sz="1100" dirty="0"/>
          </a:p>
        </p:txBody>
      </p:sp>
      <p:sp>
        <p:nvSpPr>
          <p:cNvPr id="17" name="Text 15"/>
          <p:cNvSpPr/>
          <p:nvPr/>
        </p:nvSpPr>
        <p:spPr>
          <a:xfrm>
            <a:off x="46227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18" name="Shape 16"/>
          <p:cNvSpPr/>
          <p:nvPr/>
        </p:nvSpPr>
        <p:spPr>
          <a:xfrm>
            <a:off x="4622750" y="1315938"/>
            <a:ext cx="1270099" cy="0"/>
          </a:xfrm>
          <a:prstGeom prst="line">
            <a:avLst/>
          </a:prstGeom>
          <a:noFill/>
          <a:ln w="47625">
            <a:solidFill>
              <a:srgbClr val="00B4D8"/>
            </a:solidFill>
            <a:prstDash val="solid"/>
          </a:ln>
        </p:spPr>
        <p:txBody>
          <a:bodyPr/>
          <a:lstStyle/>
          <a:p>
            <a:endParaRPr lang="en-US"/>
          </a:p>
        </p:txBody>
      </p:sp>
      <p:sp>
        <p:nvSpPr>
          <p:cNvPr id="19" name="Text 17"/>
          <p:cNvSpPr/>
          <p:nvPr/>
        </p:nvSpPr>
        <p:spPr>
          <a:xfrm>
            <a:off x="47135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4</a:t>
            </a:r>
            <a:endParaRPr lang="en-US" sz="1000" dirty="0"/>
          </a:p>
        </p:txBody>
      </p:sp>
      <p:sp>
        <p:nvSpPr>
          <p:cNvPr id="20" name="Text 18"/>
          <p:cNvSpPr/>
          <p:nvPr/>
        </p:nvSpPr>
        <p:spPr>
          <a:xfrm>
            <a:off x="47135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Govern AI</a:t>
            </a:r>
            <a:endParaRPr lang="en-US" sz="1100" dirty="0"/>
          </a:p>
        </p:txBody>
      </p:sp>
      <p:sp>
        <p:nvSpPr>
          <p:cNvPr id="21" name="Text 19"/>
          <p:cNvSpPr/>
          <p:nvPr/>
        </p:nvSpPr>
        <p:spPr>
          <a:xfrm>
            <a:off x="59943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22" name="Shape 20"/>
          <p:cNvSpPr/>
          <p:nvPr/>
        </p:nvSpPr>
        <p:spPr>
          <a:xfrm>
            <a:off x="5994350" y="1315938"/>
            <a:ext cx="1270099" cy="0"/>
          </a:xfrm>
          <a:prstGeom prst="line">
            <a:avLst/>
          </a:prstGeom>
          <a:noFill/>
          <a:ln w="47625">
            <a:solidFill>
              <a:srgbClr val="00B4D8"/>
            </a:solidFill>
            <a:prstDash val="solid"/>
          </a:ln>
        </p:spPr>
        <p:txBody>
          <a:bodyPr/>
          <a:lstStyle/>
          <a:p>
            <a:endParaRPr lang="en-US"/>
          </a:p>
        </p:txBody>
      </p:sp>
      <p:sp>
        <p:nvSpPr>
          <p:cNvPr id="23" name="Text 21"/>
          <p:cNvSpPr/>
          <p:nvPr/>
        </p:nvSpPr>
        <p:spPr>
          <a:xfrm>
            <a:off x="60851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5</a:t>
            </a:r>
            <a:endParaRPr lang="en-US" sz="1000" dirty="0"/>
          </a:p>
        </p:txBody>
      </p:sp>
      <p:sp>
        <p:nvSpPr>
          <p:cNvPr id="24" name="Text 22"/>
          <p:cNvSpPr/>
          <p:nvPr/>
        </p:nvSpPr>
        <p:spPr>
          <a:xfrm>
            <a:off x="60851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Manage AI</a:t>
            </a:r>
            <a:endParaRPr lang="en-US" sz="1100" dirty="0"/>
          </a:p>
        </p:txBody>
      </p:sp>
      <p:sp>
        <p:nvSpPr>
          <p:cNvPr id="25" name="Text 23"/>
          <p:cNvSpPr/>
          <p:nvPr/>
        </p:nvSpPr>
        <p:spPr>
          <a:xfrm>
            <a:off x="7365950" y="1292126"/>
            <a:ext cx="1270099" cy="663476"/>
          </a:xfrm>
          <a:prstGeom prst="rect">
            <a:avLst/>
          </a:prstGeom>
          <a:solidFill>
            <a:srgbClr val="E9ECF2"/>
          </a:solidFill>
          <a:ln/>
        </p:spPr>
        <p:txBody>
          <a:bodyPr wrap="square" rtlCol="0" anchor="ctr"/>
          <a:lstStyle/>
          <a:p>
            <a:pPr marL="0" indent="0">
              <a:buNone/>
            </a:pPr>
            <a:endParaRPr lang="en-US" dirty="0"/>
          </a:p>
        </p:txBody>
      </p:sp>
      <p:sp>
        <p:nvSpPr>
          <p:cNvPr id="26" name="Shape 24"/>
          <p:cNvSpPr/>
          <p:nvPr/>
        </p:nvSpPr>
        <p:spPr>
          <a:xfrm>
            <a:off x="7365950" y="1315938"/>
            <a:ext cx="1270099" cy="0"/>
          </a:xfrm>
          <a:prstGeom prst="line">
            <a:avLst/>
          </a:prstGeom>
          <a:noFill/>
          <a:ln w="47625">
            <a:solidFill>
              <a:srgbClr val="00B4D8"/>
            </a:solidFill>
            <a:prstDash val="solid"/>
          </a:ln>
        </p:spPr>
        <p:txBody>
          <a:bodyPr/>
          <a:lstStyle/>
          <a:p>
            <a:endParaRPr lang="en-US"/>
          </a:p>
        </p:txBody>
      </p:sp>
      <p:sp>
        <p:nvSpPr>
          <p:cNvPr id="27" name="Text 25"/>
          <p:cNvSpPr/>
          <p:nvPr/>
        </p:nvSpPr>
        <p:spPr>
          <a:xfrm>
            <a:off x="7456780" y="1466701"/>
            <a:ext cx="1088440"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6</a:t>
            </a:r>
            <a:endParaRPr lang="en-US" sz="1000" dirty="0"/>
          </a:p>
        </p:txBody>
      </p:sp>
      <p:sp>
        <p:nvSpPr>
          <p:cNvPr id="28" name="Text 26"/>
          <p:cNvSpPr/>
          <p:nvPr/>
        </p:nvSpPr>
        <p:spPr>
          <a:xfrm>
            <a:off x="7456780" y="1657201"/>
            <a:ext cx="1088440" cy="171450"/>
          </a:xfrm>
          <a:prstGeom prst="rect">
            <a:avLst/>
          </a:prstGeom>
          <a:noFill/>
          <a:ln/>
        </p:spPr>
        <p:txBody>
          <a:bodyPr wrap="square" lIns="0" tIns="0" rIns="0" bIns="0" rtlCol="0" anchor="t"/>
          <a:lstStyle/>
          <a:p>
            <a:pPr marL="0" indent="0" algn="ctr">
              <a:spcBef>
                <a:spcPts val="300"/>
              </a:spcBef>
              <a:buNone/>
            </a:pPr>
            <a:r>
              <a:rPr lang="en-US" sz="1100" b="1" dirty="0">
                <a:solidFill>
                  <a:srgbClr val="1F2A56"/>
                </a:solidFill>
                <a:latin typeface="Verdana" pitchFamily="34" charset="0"/>
                <a:ea typeface="Verdana" pitchFamily="34" charset="-122"/>
                <a:cs typeface="Verdana" pitchFamily="34" charset="-120"/>
              </a:rPr>
              <a:t>Secure AI</a:t>
            </a:r>
            <a:endParaRPr lang="en-US" sz="1100" dirty="0"/>
          </a:p>
        </p:txBody>
      </p:sp>
      <p:sp>
        <p:nvSpPr>
          <p:cNvPr id="29" name="Text 27"/>
          <p:cNvSpPr/>
          <p:nvPr/>
        </p:nvSpPr>
        <p:spPr>
          <a:xfrm>
            <a:off x="507950" y="2184202"/>
            <a:ext cx="4015841"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Platform decision tree</a:t>
            </a:r>
            <a:endParaRPr lang="en-US" sz="1300" dirty="0"/>
          </a:p>
        </p:txBody>
      </p:sp>
      <p:sp>
        <p:nvSpPr>
          <p:cNvPr id="30" name="Text 28"/>
          <p:cNvSpPr/>
          <p:nvPr/>
        </p:nvSpPr>
        <p:spPr>
          <a:xfrm>
            <a:off x="507950" y="2485727"/>
            <a:ext cx="3937099" cy="990451"/>
          </a:xfrm>
          <a:prstGeom prst="rect">
            <a:avLst/>
          </a:prstGeom>
          <a:noFill/>
          <a:ln/>
        </p:spPr>
        <p:txBody>
          <a:bodyPr wrap="square" lIns="101600" tIns="0" rIns="0" bIns="0" rtlCol="0" anchor="t"/>
          <a:lstStyle/>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Extend Microsoft 365 Copilot for in-flow productivity</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Build a Copilot Studio agent for business workflow</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Build in Microsoft Foundry for custom models or A2A</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Use prebuilt agents in Dynamics 365 when possible</a:t>
            </a:r>
            <a:endParaRPr lang="en-US" sz="1100" dirty="0"/>
          </a:p>
        </p:txBody>
      </p:sp>
      <p:sp>
        <p:nvSpPr>
          <p:cNvPr id="31" name="Text 29"/>
          <p:cNvSpPr/>
          <p:nvPr/>
        </p:nvSpPr>
        <p:spPr>
          <a:xfrm>
            <a:off x="4698950" y="2184202"/>
            <a:ext cx="3937099" cy="1390650"/>
          </a:xfrm>
          <a:prstGeom prst="rect">
            <a:avLst/>
          </a:prstGeom>
          <a:solidFill>
            <a:srgbClr val="1F2A56"/>
          </a:solidFill>
          <a:ln/>
        </p:spPr>
        <p:txBody>
          <a:bodyPr wrap="square" rtlCol="0" anchor="ctr"/>
          <a:lstStyle/>
          <a:p>
            <a:pPr marL="0" indent="0">
              <a:buNone/>
            </a:pPr>
            <a:endParaRPr lang="en-US" dirty="0"/>
          </a:p>
        </p:txBody>
      </p:sp>
      <p:sp>
        <p:nvSpPr>
          <p:cNvPr id="32" name="Text 30"/>
          <p:cNvSpPr/>
          <p:nvPr/>
        </p:nvSpPr>
        <p:spPr>
          <a:xfrm>
            <a:off x="4851350" y="2336602"/>
            <a:ext cx="3704945" cy="171450"/>
          </a:xfrm>
          <a:prstGeom prst="rect">
            <a:avLst/>
          </a:prstGeom>
          <a:noFill/>
          <a:ln/>
        </p:spPr>
        <p:txBody>
          <a:bodyPr wrap="square" lIns="0" tIns="0" rIns="0" bIns="0" rtlCol="0" anchor="t"/>
          <a:lstStyle/>
          <a:p>
            <a:pPr marL="0" indent="0" algn="l">
              <a:spcAft>
                <a:spcPts val="600"/>
              </a:spcAft>
              <a:buNone/>
            </a:pPr>
            <a:r>
              <a:rPr lang="en-US" sz="1100" b="1" dirty="0">
                <a:solidFill>
                  <a:srgbClr val="00B4D8"/>
                </a:solidFill>
                <a:latin typeface="Verdana" pitchFamily="34" charset="0"/>
                <a:ea typeface="Verdana" pitchFamily="34" charset="-122"/>
                <a:cs typeface="Verdana" pitchFamily="34" charset="-120"/>
              </a:rPr>
              <a:t>CENTER OF EXCELLENCE INPUTS</a:t>
            </a:r>
            <a:endParaRPr lang="en-US" sz="1100" dirty="0"/>
          </a:p>
        </p:txBody>
      </p:sp>
      <p:sp>
        <p:nvSpPr>
          <p:cNvPr id="33" name="Text 31"/>
          <p:cNvSpPr/>
          <p:nvPr/>
        </p:nvSpPr>
        <p:spPr>
          <a:xfrm>
            <a:off x="4851350" y="2584252"/>
            <a:ext cx="3632299" cy="838200"/>
          </a:xfrm>
          <a:prstGeom prst="rect">
            <a:avLst/>
          </a:prstGeom>
          <a:noFill/>
          <a:ln/>
        </p:spPr>
        <p:txBody>
          <a:bodyPr wrap="square" lIns="101600" tIns="0" rIns="0" bIns="0" rtlCol="0" anchor="t"/>
          <a:lstStyle/>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Prompt library and engineering guidelines</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Rules and constraints for Foundry Tools</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Multi-agent solution patterns</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Small language model use cases</a:t>
            </a:r>
            <a:endParaRPr lang="en-US" sz="1100" dirty="0"/>
          </a:p>
        </p:txBody>
      </p:sp>
      <p:sp>
        <p:nvSpPr>
          <p:cNvPr id="34" name="Text 32"/>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Cloud Adoption Framework AI adoption; AB-100 Subdomain 1.2.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1.2 -- AGENT TECHNOLOGY PLAN</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SaaS first, then low-code, then pro-code</a:t>
            </a:r>
            <a:endParaRPr lang="en-US" sz="2200" dirty="0"/>
          </a:p>
        </p:txBody>
      </p:sp>
      <p:sp>
        <p:nvSpPr>
          <p:cNvPr id="5" name="Text 3"/>
          <p:cNvSpPr/>
          <p:nvPr/>
        </p:nvSpPr>
        <p:spPr>
          <a:xfrm>
            <a:off x="507950" y="1292126"/>
            <a:ext cx="2641699" cy="1190327"/>
          </a:xfrm>
          <a:prstGeom prst="rect">
            <a:avLst/>
          </a:prstGeom>
          <a:solidFill>
            <a:srgbClr val="E9F5FB"/>
          </a:solidFill>
          <a:ln/>
        </p:spPr>
        <p:txBody>
          <a:bodyPr wrap="square" rtlCol="0" anchor="ctr"/>
          <a:lstStyle/>
          <a:p>
            <a:pPr marL="0" indent="0">
              <a:buNone/>
            </a:pPr>
            <a:endParaRPr lang="en-US" dirty="0"/>
          </a:p>
        </p:txBody>
      </p:sp>
      <p:sp>
        <p:nvSpPr>
          <p:cNvPr id="6" name="Shape 4"/>
          <p:cNvSpPr/>
          <p:nvPr/>
        </p:nvSpPr>
        <p:spPr>
          <a:xfrm>
            <a:off x="507950" y="1320701"/>
            <a:ext cx="2641699" cy="0"/>
          </a:xfrm>
          <a:prstGeom prst="line">
            <a:avLst/>
          </a:prstGeom>
          <a:noFill/>
          <a:ln w="57150">
            <a:solidFill>
              <a:srgbClr val="00B4D8"/>
            </a:solidFill>
            <a:prstDash val="solid"/>
          </a:ln>
        </p:spPr>
        <p:txBody>
          <a:bodyPr/>
          <a:lstStyle/>
          <a:p>
            <a:endParaRPr lang="en-US"/>
          </a:p>
        </p:txBody>
      </p:sp>
      <p:sp>
        <p:nvSpPr>
          <p:cNvPr id="7" name="Text 5"/>
          <p:cNvSpPr/>
          <p:nvPr/>
        </p:nvSpPr>
        <p:spPr>
          <a:xfrm>
            <a:off x="611023" y="1501676"/>
            <a:ext cx="2435554" cy="152400"/>
          </a:xfrm>
          <a:prstGeom prst="rect">
            <a:avLst/>
          </a:prstGeom>
          <a:noFill/>
          <a:ln/>
        </p:spPr>
        <p:txBody>
          <a:bodyPr wrap="square" lIns="0" tIns="0" rIns="0" bIns="0" rtlCol="0" anchor="t"/>
          <a:lstStyle/>
          <a:p>
            <a:pPr marL="0" indent="0" algn="ctr">
              <a:buNone/>
            </a:pPr>
            <a:r>
              <a:rPr lang="en-US" sz="1000" b="1" dirty="0">
                <a:solidFill>
                  <a:srgbClr val="1F2A56"/>
                </a:solidFill>
                <a:latin typeface="Verdana" pitchFamily="34" charset="0"/>
                <a:ea typeface="Verdana" pitchFamily="34" charset="-122"/>
                <a:cs typeface="Verdana" pitchFamily="34" charset="-120"/>
              </a:rPr>
              <a:t>STEP 1</a:t>
            </a:r>
            <a:endParaRPr lang="en-US" sz="1000" dirty="0"/>
          </a:p>
        </p:txBody>
      </p:sp>
      <p:sp>
        <p:nvSpPr>
          <p:cNvPr id="8" name="Text 6"/>
          <p:cNvSpPr/>
          <p:nvPr/>
        </p:nvSpPr>
        <p:spPr>
          <a:xfrm>
            <a:off x="611023" y="1704826"/>
            <a:ext cx="2435554" cy="219075"/>
          </a:xfrm>
          <a:prstGeom prst="rect">
            <a:avLst/>
          </a:prstGeom>
          <a:noFill/>
          <a:ln/>
        </p:spPr>
        <p:txBody>
          <a:bodyPr wrap="square" lIns="0" tIns="0" rIns="0" bIns="0" rtlCol="0" anchor="t"/>
          <a:lstStyle/>
          <a:p>
            <a:pPr marL="0" indent="0" algn="ctr">
              <a:spcBef>
                <a:spcPts val="400"/>
              </a:spcBef>
              <a:spcAft>
                <a:spcPts val="400"/>
              </a:spcAft>
              <a:buNone/>
            </a:pPr>
            <a:r>
              <a:rPr lang="en-US" sz="1400" b="1" dirty="0">
                <a:solidFill>
                  <a:srgbClr val="1F2A56"/>
                </a:solidFill>
                <a:latin typeface="Verdana" pitchFamily="34" charset="0"/>
                <a:ea typeface="Verdana" pitchFamily="34" charset="-122"/>
                <a:cs typeface="Verdana" pitchFamily="34" charset="-120"/>
              </a:rPr>
              <a:t>SaaS</a:t>
            </a:r>
            <a:endParaRPr lang="en-US" sz="1400" dirty="0"/>
          </a:p>
        </p:txBody>
      </p:sp>
      <p:sp>
        <p:nvSpPr>
          <p:cNvPr id="9" name="Text 7"/>
          <p:cNvSpPr/>
          <p:nvPr/>
        </p:nvSpPr>
        <p:spPr>
          <a:xfrm>
            <a:off x="611023" y="1974652"/>
            <a:ext cx="2435554" cy="355402"/>
          </a:xfrm>
          <a:prstGeom prst="rect">
            <a:avLst/>
          </a:prstGeom>
          <a:noFill/>
          <a:ln/>
        </p:spPr>
        <p:txBody>
          <a:bodyPr wrap="square" lIns="0" tIns="0" rIns="0" bIns="0" rtlCol="0" anchor="t"/>
          <a:lstStyle/>
          <a:p>
            <a:pPr marL="0" indent="0" algn="ctr">
              <a:lnSpc>
                <a:spcPts val="1400"/>
              </a:lnSpc>
              <a:buNone/>
            </a:pPr>
            <a:r>
              <a:rPr lang="en-US" sz="1000" dirty="0">
                <a:solidFill>
                  <a:srgbClr val="1F2A56"/>
                </a:solidFill>
                <a:latin typeface="Verdana" pitchFamily="34" charset="0"/>
                <a:ea typeface="Verdana" pitchFamily="34" charset="-122"/>
                <a:cs typeface="Verdana" pitchFamily="34" charset="-120"/>
              </a:rPr>
              <a:t>Microsoft 365 Copilot, prebuilt Dynamics 365 agents</a:t>
            </a:r>
            <a:endParaRPr lang="en-US" sz="1000" dirty="0"/>
          </a:p>
        </p:txBody>
      </p:sp>
      <p:sp>
        <p:nvSpPr>
          <p:cNvPr id="10" name="Text 8"/>
          <p:cNvSpPr/>
          <p:nvPr/>
        </p:nvSpPr>
        <p:spPr>
          <a:xfrm>
            <a:off x="3251150" y="1292126"/>
            <a:ext cx="2641699" cy="1190327"/>
          </a:xfrm>
          <a:prstGeom prst="rect">
            <a:avLst/>
          </a:prstGeom>
          <a:solidFill>
            <a:srgbClr val="FFF4EE"/>
          </a:solidFill>
          <a:ln/>
        </p:spPr>
        <p:txBody>
          <a:bodyPr wrap="square" rtlCol="0" anchor="ctr"/>
          <a:lstStyle/>
          <a:p>
            <a:pPr marL="0" indent="0">
              <a:buNone/>
            </a:pPr>
            <a:endParaRPr lang="en-US" dirty="0"/>
          </a:p>
        </p:txBody>
      </p:sp>
      <p:sp>
        <p:nvSpPr>
          <p:cNvPr id="11" name="Shape 9"/>
          <p:cNvSpPr/>
          <p:nvPr/>
        </p:nvSpPr>
        <p:spPr>
          <a:xfrm>
            <a:off x="3251150" y="1320701"/>
            <a:ext cx="2641699" cy="0"/>
          </a:xfrm>
          <a:prstGeom prst="line">
            <a:avLst/>
          </a:prstGeom>
          <a:noFill/>
          <a:ln w="57150">
            <a:solidFill>
              <a:srgbClr val="F4845F"/>
            </a:solidFill>
            <a:prstDash val="solid"/>
          </a:ln>
        </p:spPr>
        <p:txBody>
          <a:bodyPr/>
          <a:lstStyle/>
          <a:p>
            <a:endParaRPr lang="en-US"/>
          </a:p>
        </p:txBody>
      </p:sp>
      <p:sp>
        <p:nvSpPr>
          <p:cNvPr id="12" name="Text 10"/>
          <p:cNvSpPr/>
          <p:nvPr/>
        </p:nvSpPr>
        <p:spPr>
          <a:xfrm>
            <a:off x="3354223" y="1501676"/>
            <a:ext cx="2435554" cy="152400"/>
          </a:xfrm>
          <a:prstGeom prst="rect">
            <a:avLst/>
          </a:prstGeom>
          <a:noFill/>
          <a:ln/>
        </p:spPr>
        <p:txBody>
          <a:bodyPr wrap="square" lIns="0" tIns="0" rIns="0" bIns="0" rtlCol="0" anchor="t"/>
          <a:lstStyle/>
          <a:p>
            <a:pPr marL="0" indent="0" algn="ctr">
              <a:buNone/>
            </a:pPr>
            <a:r>
              <a:rPr lang="en-US" sz="1000" b="1" dirty="0">
                <a:solidFill>
                  <a:srgbClr val="1F2A56"/>
                </a:solidFill>
                <a:latin typeface="Verdana" pitchFamily="34" charset="0"/>
                <a:ea typeface="Verdana" pitchFamily="34" charset="-122"/>
                <a:cs typeface="Verdana" pitchFamily="34" charset="-120"/>
              </a:rPr>
              <a:t>STEP 2</a:t>
            </a:r>
            <a:endParaRPr lang="en-US" sz="1000" dirty="0"/>
          </a:p>
        </p:txBody>
      </p:sp>
      <p:sp>
        <p:nvSpPr>
          <p:cNvPr id="13" name="Text 11"/>
          <p:cNvSpPr/>
          <p:nvPr/>
        </p:nvSpPr>
        <p:spPr>
          <a:xfrm>
            <a:off x="3354223" y="1704826"/>
            <a:ext cx="2435554" cy="219075"/>
          </a:xfrm>
          <a:prstGeom prst="rect">
            <a:avLst/>
          </a:prstGeom>
          <a:noFill/>
          <a:ln/>
        </p:spPr>
        <p:txBody>
          <a:bodyPr wrap="square" lIns="0" tIns="0" rIns="0" bIns="0" rtlCol="0" anchor="t"/>
          <a:lstStyle/>
          <a:p>
            <a:pPr marL="0" indent="0" algn="ctr">
              <a:spcBef>
                <a:spcPts val="400"/>
              </a:spcBef>
              <a:spcAft>
                <a:spcPts val="400"/>
              </a:spcAft>
              <a:buNone/>
            </a:pPr>
            <a:r>
              <a:rPr lang="en-US" sz="1400" b="1" dirty="0">
                <a:solidFill>
                  <a:srgbClr val="1F2A56"/>
                </a:solidFill>
                <a:latin typeface="Verdana" pitchFamily="34" charset="0"/>
                <a:ea typeface="Verdana" pitchFamily="34" charset="-122"/>
                <a:cs typeface="Verdana" pitchFamily="34" charset="-120"/>
              </a:rPr>
              <a:t>Low code</a:t>
            </a:r>
            <a:endParaRPr lang="en-US" sz="1400" dirty="0"/>
          </a:p>
        </p:txBody>
      </p:sp>
      <p:sp>
        <p:nvSpPr>
          <p:cNvPr id="14" name="Text 12"/>
          <p:cNvSpPr/>
          <p:nvPr/>
        </p:nvSpPr>
        <p:spPr>
          <a:xfrm>
            <a:off x="3354223" y="1974652"/>
            <a:ext cx="2435554" cy="355402"/>
          </a:xfrm>
          <a:prstGeom prst="rect">
            <a:avLst/>
          </a:prstGeom>
          <a:noFill/>
          <a:ln/>
        </p:spPr>
        <p:txBody>
          <a:bodyPr wrap="square" lIns="0" tIns="0" rIns="0" bIns="0" rtlCol="0" anchor="t"/>
          <a:lstStyle/>
          <a:p>
            <a:pPr marL="0" indent="0" algn="ctr">
              <a:lnSpc>
                <a:spcPts val="1400"/>
              </a:lnSpc>
              <a:buNone/>
            </a:pPr>
            <a:r>
              <a:rPr lang="en-US" sz="1000" dirty="0">
                <a:solidFill>
                  <a:srgbClr val="1F2A56"/>
                </a:solidFill>
                <a:latin typeface="Verdana" pitchFamily="34" charset="0"/>
                <a:ea typeface="Verdana" pitchFamily="34" charset="-122"/>
                <a:cs typeface="Verdana" pitchFamily="34" charset="-120"/>
              </a:rPr>
              <a:t>Microsoft Copilot Studio agents and agent flows</a:t>
            </a:r>
            <a:endParaRPr lang="en-US" sz="1000" dirty="0"/>
          </a:p>
        </p:txBody>
      </p:sp>
      <p:sp>
        <p:nvSpPr>
          <p:cNvPr id="15" name="Text 13"/>
          <p:cNvSpPr/>
          <p:nvPr/>
        </p:nvSpPr>
        <p:spPr>
          <a:xfrm>
            <a:off x="5994350" y="1292126"/>
            <a:ext cx="2641699" cy="1190327"/>
          </a:xfrm>
          <a:prstGeom prst="rect">
            <a:avLst/>
          </a:prstGeom>
          <a:solidFill>
            <a:srgbClr val="1F2A56"/>
          </a:solidFill>
          <a:ln/>
        </p:spPr>
        <p:txBody>
          <a:bodyPr wrap="square" rtlCol="0" anchor="ctr"/>
          <a:lstStyle/>
          <a:p>
            <a:pPr marL="0" indent="0">
              <a:buNone/>
            </a:pPr>
            <a:endParaRPr lang="en-US" dirty="0"/>
          </a:p>
        </p:txBody>
      </p:sp>
      <p:sp>
        <p:nvSpPr>
          <p:cNvPr id="16" name="Shape 14"/>
          <p:cNvSpPr/>
          <p:nvPr/>
        </p:nvSpPr>
        <p:spPr>
          <a:xfrm>
            <a:off x="5994350" y="1320701"/>
            <a:ext cx="2641699" cy="0"/>
          </a:xfrm>
          <a:prstGeom prst="line">
            <a:avLst/>
          </a:prstGeom>
          <a:noFill/>
          <a:ln w="57150">
            <a:solidFill>
              <a:srgbClr val="FFFFFF"/>
            </a:solidFill>
            <a:prstDash val="solid"/>
          </a:ln>
        </p:spPr>
        <p:txBody>
          <a:bodyPr/>
          <a:lstStyle/>
          <a:p>
            <a:endParaRPr lang="en-US"/>
          </a:p>
        </p:txBody>
      </p:sp>
      <p:sp>
        <p:nvSpPr>
          <p:cNvPr id="17" name="Text 15"/>
          <p:cNvSpPr/>
          <p:nvPr/>
        </p:nvSpPr>
        <p:spPr>
          <a:xfrm>
            <a:off x="6097423" y="1501676"/>
            <a:ext cx="2435554" cy="152400"/>
          </a:xfrm>
          <a:prstGeom prst="rect">
            <a:avLst/>
          </a:prstGeom>
          <a:noFill/>
          <a:ln/>
        </p:spPr>
        <p:txBody>
          <a:bodyPr wrap="square" lIns="0" tIns="0" rIns="0" bIns="0" rtlCol="0" anchor="t"/>
          <a:lstStyle/>
          <a:p>
            <a:pPr marL="0" indent="0" algn="ctr">
              <a:buNone/>
            </a:pPr>
            <a:r>
              <a:rPr lang="en-US" sz="1000" b="1" dirty="0">
                <a:solidFill>
                  <a:srgbClr val="00B4D8"/>
                </a:solidFill>
                <a:latin typeface="Verdana" pitchFamily="34" charset="0"/>
                <a:ea typeface="Verdana" pitchFamily="34" charset="-122"/>
                <a:cs typeface="Verdana" pitchFamily="34" charset="-120"/>
              </a:rPr>
              <a:t>STEP 3</a:t>
            </a:r>
            <a:endParaRPr lang="en-US" sz="1000" dirty="0"/>
          </a:p>
        </p:txBody>
      </p:sp>
      <p:sp>
        <p:nvSpPr>
          <p:cNvPr id="18" name="Text 16"/>
          <p:cNvSpPr/>
          <p:nvPr/>
        </p:nvSpPr>
        <p:spPr>
          <a:xfrm>
            <a:off x="6097423" y="1704826"/>
            <a:ext cx="2435554" cy="219075"/>
          </a:xfrm>
          <a:prstGeom prst="rect">
            <a:avLst/>
          </a:prstGeom>
          <a:noFill/>
          <a:ln/>
        </p:spPr>
        <p:txBody>
          <a:bodyPr wrap="square" lIns="0" tIns="0" rIns="0" bIns="0" rtlCol="0" anchor="t"/>
          <a:lstStyle/>
          <a:p>
            <a:pPr marL="0" indent="0" algn="ctr">
              <a:spcBef>
                <a:spcPts val="400"/>
              </a:spcBef>
              <a:spcAft>
                <a:spcPts val="400"/>
              </a:spcAft>
              <a:buNone/>
            </a:pPr>
            <a:r>
              <a:rPr lang="en-US" sz="1400" b="1" dirty="0">
                <a:solidFill>
                  <a:srgbClr val="FFFFFF"/>
                </a:solidFill>
                <a:latin typeface="Verdana" pitchFamily="34" charset="0"/>
                <a:ea typeface="Verdana" pitchFamily="34" charset="-122"/>
                <a:cs typeface="Verdana" pitchFamily="34" charset="-120"/>
              </a:rPr>
              <a:t>Pro code</a:t>
            </a:r>
            <a:endParaRPr lang="en-US" sz="1400" dirty="0"/>
          </a:p>
        </p:txBody>
      </p:sp>
      <p:sp>
        <p:nvSpPr>
          <p:cNvPr id="19" name="Text 17"/>
          <p:cNvSpPr/>
          <p:nvPr/>
        </p:nvSpPr>
        <p:spPr>
          <a:xfrm>
            <a:off x="6097423" y="1974652"/>
            <a:ext cx="2435554" cy="355402"/>
          </a:xfrm>
          <a:prstGeom prst="rect">
            <a:avLst/>
          </a:prstGeom>
          <a:noFill/>
          <a:ln/>
        </p:spPr>
        <p:txBody>
          <a:bodyPr wrap="square" lIns="0" tIns="0" rIns="0" bIns="0" rtlCol="0" anchor="t"/>
          <a:lstStyle/>
          <a:p>
            <a:pPr marL="0" indent="0" algn="ctr">
              <a:lnSpc>
                <a:spcPts val="1400"/>
              </a:lnSpc>
              <a:buNone/>
            </a:pPr>
            <a:r>
              <a:rPr lang="en-US" sz="1000" dirty="0">
                <a:solidFill>
                  <a:srgbClr val="00B4D8"/>
                </a:solidFill>
                <a:latin typeface="Verdana" pitchFamily="34" charset="0"/>
                <a:ea typeface="Verdana" pitchFamily="34" charset="-122"/>
                <a:cs typeface="Verdana" pitchFamily="34" charset="-120"/>
              </a:rPr>
              <a:t>Microsoft Foundry, custom models, A2A</a:t>
            </a:r>
            <a:endParaRPr lang="en-US" sz="1000" dirty="0"/>
          </a:p>
        </p:txBody>
      </p:sp>
      <p:sp>
        <p:nvSpPr>
          <p:cNvPr id="20" name="Text 18"/>
          <p:cNvSpPr/>
          <p:nvPr/>
        </p:nvSpPr>
        <p:spPr>
          <a:xfrm>
            <a:off x="507950" y="2685604"/>
            <a:ext cx="4015841" cy="200025"/>
          </a:xfrm>
          <a:prstGeom prst="rect">
            <a:avLst/>
          </a:prstGeom>
          <a:noFill/>
          <a:ln/>
        </p:spPr>
        <p:txBody>
          <a:bodyPr wrap="square" lIns="0" tIns="0" rIns="0" bIns="0" rtlCol="0" anchor="t"/>
          <a:lstStyle/>
          <a:p>
            <a:pPr marL="0" indent="0" algn="l">
              <a:spcBef>
                <a:spcPts val="400"/>
              </a:spcBef>
              <a:spcAft>
                <a:spcPts val="800"/>
              </a:spcAft>
              <a:buNone/>
            </a:pPr>
            <a:r>
              <a:rPr lang="en-US" sz="1300" b="1" dirty="0">
                <a:solidFill>
                  <a:srgbClr val="1F2A56"/>
                </a:solidFill>
                <a:latin typeface="Verdana" pitchFamily="34" charset="0"/>
                <a:ea typeface="Verdana" pitchFamily="34" charset="-122"/>
                <a:cs typeface="Verdana" pitchFamily="34" charset="-120"/>
              </a:rPr>
              <a:t>When to drop a tier</a:t>
            </a:r>
            <a:endParaRPr lang="en-US" sz="1300" dirty="0"/>
          </a:p>
        </p:txBody>
      </p:sp>
      <p:sp>
        <p:nvSpPr>
          <p:cNvPr id="21" name="Text 19"/>
          <p:cNvSpPr/>
          <p:nvPr/>
        </p:nvSpPr>
        <p:spPr>
          <a:xfrm>
            <a:off x="507950" y="2987129"/>
            <a:ext cx="3937099" cy="990451"/>
          </a:xfrm>
          <a:prstGeom prst="rect">
            <a:avLst/>
          </a:prstGeom>
          <a:noFill/>
          <a:ln/>
        </p:spPr>
        <p:txBody>
          <a:bodyPr wrap="square" lIns="101600" tIns="0" rIns="0" bIns="0" rtlCol="0" anchor="t"/>
          <a:lstStyle/>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SaaS does not meet the requirement out of the box</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Low code cannot model the workflow or scale path</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Custom model, custom protocol, or A2A is required</a:t>
            </a:r>
            <a:endParaRPr lang="en-US" sz="1100" dirty="0"/>
          </a:p>
          <a:p>
            <a:pPr marL="101600" indent="-101600" algn="l">
              <a:lnSpc>
                <a:spcPts val="1650"/>
              </a:lnSpc>
              <a:spcAft>
                <a:spcPts val="400"/>
              </a:spcAft>
              <a:buSzPct val="100000"/>
              <a:buChar char="•"/>
            </a:pPr>
            <a:r>
              <a:rPr lang="en-US" sz="1100" dirty="0">
                <a:solidFill>
                  <a:srgbClr val="1A1A2E"/>
                </a:solidFill>
                <a:latin typeface="Verdana" pitchFamily="34" charset="0"/>
                <a:ea typeface="Verdana" pitchFamily="34" charset="-122"/>
                <a:cs typeface="Verdana" pitchFamily="34" charset="-120"/>
              </a:rPr>
              <a:t>Default to SaaS when the cost case is unclear</a:t>
            </a:r>
            <a:endParaRPr lang="en-US" sz="1100" dirty="0"/>
          </a:p>
        </p:txBody>
      </p:sp>
      <p:sp>
        <p:nvSpPr>
          <p:cNvPr id="22" name="Text 20"/>
          <p:cNvSpPr/>
          <p:nvPr/>
        </p:nvSpPr>
        <p:spPr>
          <a:xfrm>
            <a:off x="4698950" y="2634853"/>
            <a:ext cx="3937099" cy="1600200"/>
          </a:xfrm>
          <a:prstGeom prst="rect">
            <a:avLst/>
          </a:prstGeom>
          <a:solidFill>
            <a:srgbClr val="1F2A56"/>
          </a:solidFill>
          <a:ln/>
        </p:spPr>
        <p:txBody>
          <a:bodyPr wrap="square" rtlCol="0" anchor="ctr"/>
          <a:lstStyle/>
          <a:p>
            <a:pPr marL="0" indent="0">
              <a:buNone/>
            </a:pPr>
            <a:endParaRPr lang="en-US" dirty="0"/>
          </a:p>
        </p:txBody>
      </p:sp>
      <p:sp>
        <p:nvSpPr>
          <p:cNvPr id="23" name="Text 21"/>
          <p:cNvSpPr/>
          <p:nvPr/>
        </p:nvSpPr>
        <p:spPr>
          <a:xfrm>
            <a:off x="4851350" y="2787253"/>
            <a:ext cx="3704945" cy="171450"/>
          </a:xfrm>
          <a:prstGeom prst="rect">
            <a:avLst/>
          </a:prstGeom>
          <a:noFill/>
          <a:ln/>
        </p:spPr>
        <p:txBody>
          <a:bodyPr wrap="square" lIns="0" tIns="0" rIns="0" bIns="0" rtlCol="0" anchor="t"/>
          <a:lstStyle/>
          <a:p>
            <a:pPr marL="0" indent="0" algn="l">
              <a:spcAft>
                <a:spcPts val="600"/>
              </a:spcAft>
              <a:buNone/>
            </a:pPr>
            <a:r>
              <a:rPr lang="en-US" sz="1100" b="1" dirty="0">
                <a:solidFill>
                  <a:srgbClr val="00B4D8"/>
                </a:solidFill>
                <a:latin typeface="Verdana" pitchFamily="34" charset="0"/>
                <a:ea typeface="Verdana" pitchFamily="34" charset="-122"/>
                <a:cs typeface="Verdana" pitchFamily="34" charset="-120"/>
              </a:rPr>
              <a:t>FIVE ORCHESTRATION PATTERNS</a:t>
            </a:r>
            <a:endParaRPr lang="en-US" sz="1100" dirty="0"/>
          </a:p>
        </p:txBody>
      </p:sp>
      <p:sp>
        <p:nvSpPr>
          <p:cNvPr id="24" name="Text 22"/>
          <p:cNvSpPr/>
          <p:nvPr/>
        </p:nvSpPr>
        <p:spPr>
          <a:xfrm>
            <a:off x="4851350" y="3034903"/>
            <a:ext cx="3632299" cy="1047750"/>
          </a:xfrm>
          <a:prstGeom prst="rect">
            <a:avLst/>
          </a:prstGeom>
          <a:noFill/>
          <a:ln/>
        </p:spPr>
        <p:txBody>
          <a:bodyPr wrap="square" lIns="101600" tIns="0" rIns="0" bIns="0" rtlCol="0" anchor="t"/>
          <a:lstStyle/>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Sequential -- linear handoff</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Concurrent -- parallel work, then merge</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Group chat -- shared context</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Handoff -- routed to a specialist</a:t>
            </a:r>
            <a:endParaRPr lang="en-US" sz="1100" dirty="0"/>
          </a:p>
          <a:p>
            <a:pPr marL="101600" indent="-101600" algn="l">
              <a:lnSpc>
                <a:spcPts val="1650"/>
              </a:lnSpc>
              <a:buSzPct val="100000"/>
              <a:buChar char="•"/>
            </a:pPr>
            <a:r>
              <a:rPr lang="en-US" sz="1100" dirty="0">
                <a:solidFill>
                  <a:srgbClr val="FFFFFF"/>
                </a:solidFill>
                <a:latin typeface="Verdana" pitchFamily="34" charset="0"/>
                <a:ea typeface="Verdana" pitchFamily="34" charset="-122"/>
                <a:cs typeface="Verdana" pitchFamily="34" charset="-120"/>
              </a:rPr>
              <a:t>Magentic -- planner directs workers</a:t>
            </a:r>
            <a:endParaRPr lang="en-US" sz="1100" dirty="0"/>
          </a:p>
        </p:txBody>
      </p:sp>
      <p:sp>
        <p:nvSpPr>
          <p:cNvPr id="25" name="Text 23"/>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1.2.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1.3</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Cost, benefit, and the model router</a:t>
            </a:r>
            <a:endParaRPr lang="en-US" sz="2200" dirty="0"/>
          </a:p>
        </p:txBody>
      </p:sp>
      <p:sp>
        <p:nvSpPr>
          <p:cNvPr id="5" name="Text 3"/>
          <p:cNvSpPr/>
          <p:nvPr/>
        </p:nvSpPr>
        <p:spPr>
          <a:xfrm>
            <a:off x="507950" y="1317575"/>
            <a:ext cx="4028745" cy="219075"/>
          </a:xfrm>
          <a:prstGeom prst="rect">
            <a:avLst/>
          </a:prstGeom>
          <a:noFill/>
          <a:ln/>
        </p:spPr>
        <p:txBody>
          <a:bodyPr wrap="square" lIns="0" tIns="0" rIns="0" bIns="0" rtlCol="0" anchor="t"/>
          <a:lstStyle/>
          <a:p>
            <a:pPr marL="0" indent="0" algn="l">
              <a:spcAft>
                <a:spcPts val="1000"/>
              </a:spcAft>
              <a:buNone/>
            </a:pPr>
            <a:r>
              <a:rPr lang="en-US" sz="1400" b="1" dirty="0">
                <a:solidFill>
                  <a:srgbClr val="1F2A56"/>
                </a:solidFill>
                <a:latin typeface="Verdana" pitchFamily="34" charset="0"/>
                <a:ea typeface="Verdana" pitchFamily="34" charset="-122"/>
                <a:cs typeface="Verdana" pitchFamily="34" charset="-120"/>
              </a:rPr>
              <a:t>ROI and total cost of ownership</a:t>
            </a:r>
            <a:endParaRPr lang="en-US" sz="1400" dirty="0"/>
          </a:p>
        </p:txBody>
      </p:sp>
      <p:sp>
        <p:nvSpPr>
          <p:cNvPr id="6" name="Text 4"/>
          <p:cNvSpPr/>
          <p:nvPr/>
        </p:nvSpPr>
        <p:spPr>
          <a:xfrm>
            <a:off x="507950" y="1663601"/>
            <a:ext cx="3949750" cy="1097012"/>
          </a:xfrm>
          <a:prstGeom prst="rect">
            <a:avLst/>
          </a:prstGeom>
          <a:noFill/>
          <a:ln/>
        </p:spPr>
        <p:txBody>
          <a:bodyPr wrap="square" lIns="101600" tIns="0" rIns="0" bIns="0" rtlCol="0" anchor="t"/>
          <a:lstStyle/>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Capacity, licensing, and Copilot Credits</a:t>
            </a:r>
            <a:endParaRPr lang="en-US" sz="1200" dirty="0"/>
          </a:p>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Build, run, and improve costs over 12 months</a:t>
            </a:r>
            <a:endParaRPr lang="en-US" sz="1200" dirty="0"/>
          </a:p>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Time saved, deflection rate, conversion lift</a:t>
            </a:r>
            <a:endParaRPr lang="en-US" sz="1200" dirty="0"/>
          </a:p>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Risk and compliance reduction value</a:t>
            </a:r>
            <a:endParaRPr lang="en-US" sz="1200" dirty="0"/>
          </a:p>
        </p:txBody>
      </p:sp>
      <p:sp>
        <p:nvSpPr>
          <p:cNvPr id="7" name="Text 5"/>
          <p:cNvSpPr/>
          <p:nvPr/>
        </p:nvSpPr>
        <p:spPr>
          <a:xfrm>
            <a:off x="507950" y="2913013"/>
            <a:ext cx="3949750" cy="891480"/>
          </a:xfrm>
          <a:prstGeom prst="rect">
            <a:avLst/>
          </a:prstGeom>
          <a:solidFill>
            <a:srgbClr val="1F2A56"/>
          </a:solidFill>
          <a:ln/>
        </p:spPr>
        <p:txBody>
          <a:bodyPr wrap="square" rtlCol="0" anchor="ctr"/>
          <a:lstStyle/>
          <a:p>
            <a:pPr marL="0" indent="0">
              <a:buNone/>
            </a:pPr>
            <a:endParaRPr lang="en-US" dirty="0"/>
          </a:p>
        </p:txBody>
      </p:sp>
      <p:sp>
        <p:nvSpPr>
          <p:cNvPr id="8" name="Shape 6"/>
          <p:cNvSpPr/>
          <p:nvPr/>
        </p:nvSpPr>
        <p:spPr>
          <a:xfrm>
            <a:off x="536525" y="2913013"/>
            <a:ext cx="0" cy="891480"/>
          </a:xfrm>
          <a:prstGeom prst="line">
            <a:avLst/>
          </a:prstGeom>
          <a:noFill/>
          <a:ln w="57150">
            <a:solidFill>
              <a:srgbClr val="00B4D8"/>
            </a:solidFill>
            <a:prstDash val="solid"/>
          </a:ln>
        </p:spPr>
        <p:txBody>
          <a:bodyPr/>
          <a:lstStyle/>
          <a:p>
            <a:endParaRPr lang="en-US"/>
          </a:p>
        </p:txBody>
      </p:sp>
      <p:sp>
        <p:nvSpPr>
          <p:cNvPr id="9" name="Text 7"/>
          <p:cNvSpPr/>
          <p:nvPr/>
        </p:nvSpPr>
        <p:spPr>
          <a:xfrm>
            <a:off x="742801" y="3065413"/>
            <a:ext cx="3607942" cy="586680"/>
          </a:xfrm>
          <a:prstGeom prst="rect">
            <a:avLst/>
          </a:prstGeom>
          <a:noFill/>
          <a:ln/>
        </p:spPr>
        <p:txBody>
          <a:bodyPr wrap="square" lIns="0" tIns="0" rIns="0" bIns="0" rtlCol="0" anchor="t"/>
          <a:lstStyle/>
          <a:p>
            <a:pPr marL="0" indent="0" algn="l">
              <a:lnSpc>
                <a:spcPts val="1540"/>
              </a:lnSpc>
              <a:buNone/>
            </a:pPr>
            <a:r>
              <a:rPr lang="en-US" sz="1100" b="1" dirty="0">
                <a:solidFill>
                  <a:srgbClr val="FFFFFF"/>
                </a:solidFill>
                <a:latin typeface="Verdana" pitchFamily="34" charset="0"/>
                <a:ea typeface="Verdana" pitchFamily="34" charset="-122"/>
                <a:cs typeface="Verdana" pitchFamily="34" charset="-120"/>
              </a:rPr>
              <a:t>Model router pattern.</a:t>
            </a:r>
            <a:r>
              <a:rPr lang="en-US" sz="1100" dirty="0">
                <a:solidFill>
                  <a:srgbClr val="FFFFFF"/>
                </a:solidFill>
                <a:latin typeface="Verdana" pitchFamily="34" charset="0"/>
                <a:ea typeface="Verdana" pitchFamily="34" charset="-122"/>
                <a:cs typeface="Verdana" pitchFamily="34" charset="-120"/>
              </a:rPr>
              <a:t> Send each request to the most suitable model -- balance latency, cost, and quality.</a:t>
            </a:r>
            <a:endParaRPr lang="en-US" sz="1100" dirty="0"/>
          </a:p>
        </p:txBody>
      </p:sp>
      <p:sp>
        <p:nvSpPr>
          <p:cNvPr id="10" name="Text 8"/>
          <p:cNvSpPr/>
          <p:nvPr/>
        </p:nvSpPr>
        <p:spPr>
          <a:xfrm>
            <a:off x="4686300" y="1317575"/>
            <a:ext cx="4028745" cy="219075"/>
          </a:xfrm>
          <a:prstGeom prst="rect">
            <a:avLst/>
          </a:prstGeom>
          <a:noFill/>
          <a:ln/>
        </p:spPr>
        <p:txBody>
          <a:bodyPr wrap="square" lIns="0" tIns="0" rIns="0" bIns="0" rtlCol="0" anchor="t"/>
          <a:lstStyle/>
          <a:p>
            <a:pPr marL="0" indent="0" algn="l">
              <a:spcAft>
                <a:spcPts val="1000"/>
              </a:spcAft>
              <a:buNone/>
            </a:pPr>
            <a:r>
              <a:rPr lang="en-US" sz="1400" b="1" dirty="0">
                <a:solidFill>
                  <a:srgbClr val="1F2A56"/>
                </a:solidFill>
                <a:latin typeface="Verdana" pitchFamily="34" charset="0"/>
                <a:ea typeface="Verdana" pitchFamily="34" charset="-122"/>
                <a:cs typeface="Verdana" pitchFamily="34" charset="-120"/>
              </a:rPr>
              <a:t>Build vs buy vs extend</a:t>
            </a:r>
            <a:endParaRPr lang="en-US" sz="1400" dirty="0"/>
          </a:p>
        </p:txBody>
      </p:sp>
      <p:sp>
        <p:nvSpPr>
          <p:cNvPr id="11" name="Text 9"/>
          <p:cNvSpPr/>
          <p:nvPr/>
        </p:nvSpPr>
        <p:spPr>
          <a:xfrm>
            <a:off x="4686300" y="1663601"/>
            <a:ext cx="1248817" cy="1192857"/>
          </a:xfrm>
          <a:prstGeom prst="rect">
            <a:avLst/>
          </a:prstGeom>
          <a:solidFill>
            <a:srgbClr val="E9ECF2"/>
          </a:solidFill>
          <a:ln/>
        </p:spPr>
        <p:txBody>
          <a:bodyPr wrap="square" rtlCol="0" anchor="ctr"/>
          <a:lstStyle/>
          <a:p>
            <a:pPr marL="0" indent="0">
              <a:buNone/>
            </a:pPr>
            <a:endParaRPr lang="en-US" dirty="0"/>
          </a:p>
        </p:txBody>
      </p:sp>
      <p:sp>
        <p:nvSpPr>
          <p:cNvPr id="12" name="Shape 10"/>
          <p:cNvSpPr/>
          <p:nvPr/>
        </p:nvSpPr>
        <p:spPr>
          <a:xfrm>
            <a:off x="4686300" y="2832646"/>
            <a:ext cx="1248817" cy="0"/>
          </a:xfrm>
          <a:prstGeom prst="line">
            <a:avLst/>
          </a:prstGeom>
          <a:noFill/>
          <a:ln w="47625">
            <a:solidFill>
              <a:srgbClr val="F4845F"/>
            </a:solidFill>
            <a:prstDash val="solid"/>
          </a:ln>
        </p:spPr>
        <p:txBody>
          <a:bodyPr/>
          <a:lstStyle/>
          <a:p>
            <a:endParaRPr lang="en-US"/>
          </a:p>
        </p:txBody>
      </p:sp>
      <p:sp>
        <p:nvSpPr>
          <p:cNvPr id="13" name="Text 11"/>
          <p:cNvSpPr/>
          <p:nvPr/>
        </p:nvSpPr>
        <p:spPr>
          <a:xfrm>
            <a:off x="4777343" y="1790551"/>
            <a:ext cx="1066732" cy="180975"/>
          </a:xfrm>
          <a:prstGeom prst="rect">
            <a:avLst/>
          </a:prstGeom>
          <a:noFill/>
          <a:ln/>
        </p:spPr>
        <p:txBody>
          <a:bodyPr wrap="square" lIns="0" tIns="0" rIns="0" bIns="0" rtlCol="0" anchor="t"/>
          <a:lstStyle/>
          <a:p>
            <a:pPr marL="0" indent="0" algn="ctr">
              <a:spcAft>
                <a:spcPts val="400"/>
              </a:spcAft>
              <a:buNone/>
            </a:pPr>
            <a:r>
              <a:rPr lang="en-US" sz="1200" b="1" dirty="0">
                <a:solidFill>
                  <a:srgbClr val="1F2A56"/>
                </a:solidFill>
                <a:latin typeface="Verdana" pitchFamily="34" charset="0"/>
                <a:ea typeface="Verdana" pitchFamily="34" charset="-122"/>
                <a:cs typeface="Verdana" pitchFamily="34" charset="-120"/>
              </a:rPr>
              <a:t>BUILD</a:t>
            </a:r>
            <a:endParaRPr lang="en-US" sz="1200" dirty="0"/>
          </a:p>
        </p:txBody>
      </p:sp>
      <p:sp>
        <p:nvSpPr>
          <p:cNvPr id="14" name="Text 12"/>
          <p:cNvSpPr/>
          <p:nvPr/>
        </p:nvSpPr>
        <p:spPr>
          <a:xfrm>
            <a:off x="4777343" y="2022277"/>
            <a:ext cx="1066732" cy="494705"/>
          </a:xfrm>
          <a:prstGeom prst="rect">
            <a:avLst/>
          </a:prstGeom>
          <a:noFill/>
          <a:ln/>
        </p:spPr>
        <p:txBody>
          <a:bodyPr wrap="square" lIns="0" tIns="0" rIns="0" bIns="0" rtlCol="0" anchor="t"/>
          <a:lstStyle/>
          <a:p>
            <a:pPr marL="0" indent="0" algn="ctr">
              <a:lnSpc>
                <a:spcPts val="1300"/>
              </a:lnSpc>
              <a:buNone/>
            </a:pPr>
            <a:r>
              <a:rPr lang="en-US" sz="1000" dirty="0">
                <a:solidFill>
                  <a:srgbClr val="1A1A2E"/>
                </a:solidFill>
                <a:latin typeface="Verdana" pitchFamily="34" charset="0"/>
                <a:ea typeface="Verdana" pitchFamily="34" charset="-122"/>
                <a:cs typeface="Verdana" pitchFamily="34" charset="-120"/>
              </a:rPr>
              <a:t>Custom Foundry agent or model</a:t>
            </a:r>
            <a:endParaRPr lang="en-US" sz="1000" dirty="0"/>
          </a:p>
        </p:txBody>
      </p:sp>
      <p:sp>
        <p:nvSpPr>
          <p:cNvPr id="15" name="Text 13"/>
          <p:cNvSpPr/>
          <p:nvPr/>
        </p:nvSpPr>
        <p:spPr>
          <a:xfrm>
            <a:off x="6036618" y="1663601"/>
            <a:ext cx="1248966" cy="1192857"/>
          </a:xfrm>
          <a:prstGeom prst="rect">
            <a:avLst/>
          </a:prstGeom>
          <a:solidFill>
            <a:srgbClr val="E9ECF2"/>
          </a:solidFill>
          <a:ln/>
        </p:spPr>
        <p:txBody>
          <a:bodyPr wrap="square" rtlCol="0" anchor="ctr"/>
          <a:lstStyle/>
          <a:p>
            <a:pPr marL="0" indent="0">
              <a:buNone/>
            </a:pPr>
            <a:endParaRPr lang="en-US" dirty="0"/>
          </a:p>
        </p:txBody>
      </p:sp>
      <p:sp>
        <p:nvSpPr>
          <p:cNvPr id="16" name="Shape 14"/>
          <p:cNvSpPr/>
          <p:nvPr/>
        </p:nvSpPr>
        <p:spPr>
          <a:xfrm>
            <a:off x="6036618" y="2832646"/>
            <a:ext cx="1248966" cy="0"/>
          </a:xfrm>
          <a:prstGeom prst="line">
            <a:avLst/>
          </a:prstGeom>
          <a:noFill/>
          <a:ln w="47625">
            <a:solidFill>
              <a:srgbClr val="F4845F"/>
            </a:solidFill>
            <a:prstDash val="solid"/>
          </a:ln>
        </p:spPr>
        <p:txBody>
          <a:bodyPr/>
          <a:lstStyle/>
          <a:p>
            <a:endParaRPr lang="en-US"/>
          </a:p>
        </p:txBody>
      </p:sp>
      <p:sp>
        <p:nvSpPr>
          <p:cNvPr id="17" name="Text 15"/>
          <p:cNvSpPr/>
          <p:nvPr/>
        </p:nvSpPr>
        <p:spPr>
          <a:xfrm>
            <a:off x="6127659" y="1790551"/>
            <a:ext cx="1066883" cy="180975"/>
          </a:xfrm>
          <a:prstGeom prst="rect">
            <a:avLst/>
          </a:prstGeom>
          <a:noFill/>
          <a:ln/>
        </p:spPr>
        <p:txBody>
          <a:bodyPr wrap="square" lIns="0" tIns="0" rIns="0" bIns="0" rtlCol="0" anchor="t"/>
          <a:lstStyle/>
          <a:p>
            <a:pPr marL="0" indent="0" algn="ctr">
              <a:spcAft>
                <a:spcPts val="400"/>
              </a:spcAft>
              <a:buNone/>
            </a:pPr>
            <a:r>
              <a:rPr lang="en-US" sz="1200" b="1" dirty="0">
                <a:solidFill>
                  <a:srgbClr val="1F2A56"/>
                </a:solidFill>
                <a:latin typeface="Verdana" pitchFamily="34" charset="0"/>
                <a:ea typeface="Verdana" pitchFamily="34" charset="-122"/>
                <a:cs typeface="Verdana" pitchFamily="34" charset="-120"/>
              </a:rPr>
              <a:t>BUY</a:t>
            </a:r>
            <a:endParaRPr lang="en-US" sz="1200" dirty="0"/>
          </a:p>
        </p:txBody>
      </p:sp>
      <p:sp>
        <p:nvSpPr>
          <p:cNvPr id="18" name="Text 16"/>
          <p:cNvSpPr/>
          <p:nvPr/>
        </p:nvSpPr>
        <p:spPr>
          <a:xfrm>
            <a:off x="6127659" y="2022277"/>
            <a:ext cx="1066883" cy="494705"/>
          </a:xfrm>
          <a:prstGeom prst="rect">
            <a:avLst/>
          </a:prstGeom>
          <a:noFill/>
          <a:ln/>
        </p:spPr>
        <p:txBody>
          <a:bodyPr wrap="square" lIns="0" tIns="0" rIns="0" bIns="0" rtlCol="0" anchor="t"/>
          <a:lstStyle/>
          <a:p>
            <a:pPr marL="0" indent="0" algn="ctr">
              <a:lnSpc>
                <a:spcPts val="1300"/>
              </a:lnSpc>
              <a:buNone/>
            </a:pPr>
            <a:r>
              <a:rPr lang="en-US" sz="1000" dirty="0">
                <a:solidFill>
                  <a:srgbClr val="1A1A2E"/>
                </a:solidFill>
                <a:latin typeface="Verdana" pitchFamily="34" charset="0"/>
                <a:ea typeface="Verdana" pitchFamily="34" charset="-122"/>
                <a:cs typeface="Verdana" pitchFamily="34" charset="-120"/>
              </a:rPr>
              <a:t>Prebuilt Dynamics 365 or M365 agent</a:t>
            </a:r>
            <a:endParaRPr lang="en-US" sz="1000" dirty="0"/>
          </a:p>
        </p:txBody>
      </p:sp>
      <p:sp>
        <p:nvSpPr>
          <p:cNvPr id="19" name="Text 17"/>
          <p:cNvSpPr/>
          <p:nvPr/>
        </p:nvSpPr>
        <p:spPr>
          <a:xfrm>
            <a:off x="7387084" y="1663601"/>
            <a:ext cx="1248966" cy="1192857"/>
          </a:xfrm>
          <a:prstGeom prst="rect">
            <a:avLst/>
          </a:prstGeom>
          <a:solidFill>
            <a:srgbClr val="E9ECF2"/>
          </a:solidFill>
          <a:ln/>
        </p:spPr>
        <p:txBody>
          <a:bodyPr wrap="square" rtlCol="0" anchor="ctr"/>
          <a:lstStyle/>
          <a:p>
            <a:pPr marL="0" indent="0">
              <a:buNone/>
            </a:pPr>
            <a:endParaRPr lang="en-US" dirty="0"/>
          </a:p>
        </p:txBody>
      </p:sp>
      <p:sp>
        <p:nvSpPr>
          <p:cNvPr id="20" name="Shape 18"/>
          <p:cNvSpPr/>
          <p:nvPr/>
        </p:nvSpPr>
        <p:spPr>
          <a:xfrm>
            <a:off x="7387084" y="2832646"/>
            <a:ext cx="1248966" cy="0"/>
          </a:xfrm>
          <a:prstGeom prst="line">
            <a:avLst/>
          </a:prstGeom>
          <a:noFill/>
          <a:ln w="47625">
            <a:solidFill>
              <a:srgbClr val="F4845F"/>
            </a:solidFill>
            <a:prstDash val="solid"/>
          </a:ln>
        </p:spPr>
        <p:txBody>
          <a:bodyPr/>
          <a:lstStyle/>
          <a:p>
            <a:endParaRPr lang="en-US"/>
          </a:p>
        </p:txBody>
      </p:sp>
      <p:sp>
        <p:nvSpPr>
          <p:cNvPr id="21" name="Text 19"/>
          <p:cNvSpPr/>
          <p:nvPr/>
        </p:nvSpPr>
        <p:spPr>
          <a:xfrm>
            <a:off x="7478125" y="1790551"/>
            <a:ext cx="1066883" cy="180975"/>
          </a:xfrm>
          <a:prstGeom prst="rect">
            <a:avLst/>
          </a:prstGeom>
          <a:noFill/>
          <a:ln/>
        </p:spPr>
        <p:txBody>
          <a:bodyPr wrap="square" lIns="0" tIns="0" rIns="0" bIns="0" rtlCol="0" anchor="t"/>
          <a:lstStyle/>
          <a:p>
            <a:pPr marL="0" indent="0" algn="ctr">
              <a:spcAft>
                <a:spcPts val="400"/>
              </a:spcAft>
              <a:buNone/>
            </a:pPr>
            <a:r>
              <a:rPr lang="en-US" sz="1200" b="1" dirty="0">
                <a:solidFill>
                  <a:srgbClr val="1F2A56"/>
                </a:solidFill>
                <a:latin typeface="Verdana" pitchFamily="34" charset="0"/>
                <a:ea typeface="Verdana" pitchFamily="34" charset="-122"/>
                <a:cs typeface="Verdana" pitchFamily="34" charset="-120"/>
              </a:rPr>
              <a:t>EXTEND</a:t>
            </a:r>
            <a:endParaRPr lang="en-US" sz="1200" dirty="0"/>
          </a:p>
        </p:txBody>
      </p:sp>
      <p:sp>
        <p:nvSpPr>
          <p:cNvPr id="22" name="Text 20"/>
          <p:cNvSpPr/>
          <p:nvPr/>
        </p:nvSpPr>
        <p:spPr>
          <a:xfrm>
            <a:off x="7478125" y="2022277"/>
            <a:ext cx="1066883" cy="659606"/>
          </a:xfrm>
          <a:prstGeom prst="rect">
            <a:avLst/>
          </a:prstGeom>
          <a:noFill/>
          <a:ln/>
        </p:spPr>
        <p:txBody>
          <a:bodyPr wrap="square" lIns="0" tIns="0" rIns="0" bIns="0" rtlCol="0" anchor="t"/>
          <a:lstStyle/>
          <a:p>
            <a:pPr marL="0" indent="0" algn="ctr">
              <a:lnSpc>
                <a:spcPts val="1300"/>
              </a:lnSpc>
              <a:buNone/>
            </a:pPr>
            <a:r>
              <a:rPr lang="en-US" sz="1000" dirty="0">
                <a:solidFill>
                  <a:srgbClr val="1A1A2E"/>
                </a:solidFill>
                <a:latin typeface="Verdana" pitchFamily="34" charset="0"/>
                <a:ea typeface="Verdana" pitchFamily="34" charset="-122"/>
                <a:cs typeface="Verdana" pitchFamily="34" charset="-120"/>
              </a:rPr>
              <a:t>Copilot Studio agent atop Microsoft 365 Copilot</a:t>
            </a:r>
            <a:endParaRPr lang="en-US" sz="1000" dirty="0"/>
          </a:p>
        </p:txBody>
      </p:sp>
      <p:sp>
        <p:nvSpPr>
          <p:cNvPr id="23" name="Text 21"/>
          <p:cNvSpPr/>
          <p:nvPr/>
        </p:nvSpPr>
        <p:spPr>
          <a:xfrm>
            <a:off x="4686300" y="3034159"/>
            <a:ext cx="4028745" cy="438150"/>
          </a:xfrm>
          <a:prstGeom prst="rect">
            <a:avLst/>
          </a:prstGeom>
          <a:noFill/>
          <a:ln/>
        </p:spPr>
        <p:txBody>
          <a:bodyPr wrap="square" lIns="0" tIns="0" rIns="0" bIns="0" rtlCol="0" anchor="t"/>
          <a:lstStyle/>
          <a:p>
            <a:pPr marL="0" indent="0" algn="l">
              <a:spcBef>
                <a:spcPts val="1400"/>
              </a:spcBef>
              <a:spcAft>
                <a:spcPts val="1000"/>
              </a:spcAft>
              <a:buNone/>
            </a:pPr>
            <a:r>
              <a:rPr lang="en-US" sz="1400" b="1" dirty="0">
                <a:solidFill>
                  <a:srgbClr val="1F2A56"/>
                </a:solidFill>
                <a:latin typeface="Verdana" pitchFamily="34" charset="0"/>
                <a:ea typeface="Verdana" pitchFamily="34" charset="-122"/>
                <a:cs typeface="Verdana" pitchFamily="34" charset="-120"/>
              </a:rPr>
              <a:t>Choose the cheapest path that meets the requirement</a:t>
            </a:r>
            <a:endParaRPr lang="en-US" sz="1400" dirty="0"/>
          </a:p>
        </p:txBody>
      </p:sp>
      <p:sp>
        <p:nvSpPr>
          <p:cNvPr id="24" name="Text 22"/>
          <p:cNvSpPr/>
          <p:nvPr/>
        </p:nvSpPr>
        <p:spPr>
          <a:xfrm>
            <a:off x="4686300" y="3599259"/>
            <a:ext cx="3949750" cy="523131"/>
          </a:xfrm>
          <a:prstGeom prst="rect">
            <a:avLst/>
          </a:prstGeom>
          <a:noFill/>
          <a:ln/>
        </p:spPr>
        <p:txBody>
          <a:bodyPr wrap="square" lIns="101600" tIns="0" rIns="0" bIns="0" rtlCol="0" anchor="t"/>
          <a:lstStyle/>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Default to extend, then buy, then build</a:t>
            </a:r>
            <a:endParaRPr lang="en-US" sz="1200" dirty="0"/>
          </a:p>
          <a:p>
            <a:pPr marL="101600" indent="-101600" algn="l">
              <a:lnSpc>
                <a:spcPts val="1860"/>
              </a:lnSpc>
              <a:spcAft>
                <a:spcPts val="400"/>
              </a:spcAft>
              <a:buSzPct val="100000"/>
              <a:buChar char="•"/>
            </a:pPr>
            <a:r>
              <a:rPr lang="en-US" sz="1200" dirty="0">
                <a:solidFill>
                  <a:srgbClr val="1A1A2E"/>
                </a:solidFill>
                <a:latin typeface="Verdana" pitchFamily="34" charset="0"/>
                <a:ea typeface="Verdana" pitchFamily="34" charset="-122"/>
                <a:cs typeface="Verdana" pitchFamily="34" charset="-120"/>
              </a:rPr>
              <a:t>Reserve build for differentiated capability</a:t>
            </a:r>
            <a:endParaRPr lang="en-US" sz="1200" dirty="0"/>
          </a:p>
        </p:txBody>
      </p:sp>
      <p:sp>
        <p:nvSpPr>
          <p:cNvPr id="25" name="Text 23"/>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AB-100 Subdomain 1.3; Foundry model router guidance.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1.3 -- BUILD VS BUY VS EXTEND</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TCO across five cost drivers</a:t>
            </a:r>
            <a:endParaRPr lang="en-US" sz="2200" dirty="0"/>
          </a:p>
        </p:txBody>
      </p:sp>
      <p:sp>
        <p:nvSpPr>
          <p:cNvPr id="5" name="Text 3"/>
          <p:cNvSpPr/>
          <p:nvPr/>
        </p:nvSpPr>
        <p:spPr>
          <a:xfrm>
            <a:off x="5994350" y="1241375"/>
            <a:ext cx="2641699" cy="1523256"/>
          </a:xfrm>
          <a:prstGeom prst="rect">
            <a:avLst/>
          </a:prstGeom>
          <a:solidFill>
            <a:srgbClr val="1F2A56"/>
          </a:solidFill>
          <a:ln/>
        </p:spPr>
        <p:txBody>
          <a:bodyPr wrap="square" rtlCol="0" anchor="ctr"/>
          <a:lstStyle/>
          <a:p>
            <a:pPr marL="0" indent="0">
              <a:buNone/>
            </a:pPr>
            <a:endParaRPr lang="en-US" dirty="0"/>
          </a:p>
        </p:txBody>
      </p:sp>
      <p:sp>
        <p:nvSpPr>
          <p:cNvPr id="6" name="Text 4"/>
          <p:cNvSpPr/>
          <p:nvPr/>
        </p:nvSpPr>
        <p:spPr>
          <a:xfrm>
            <a:off x="6146750" y="1368326"/>
            <a:ext cx="2383637" cy="152400"/>
          </a:xfrm>
          <a:prstGeom prst="rect">
            <a:avLst/>
          </a:prstGeom>
          <a:noFill/>
          <a:ln/>
        </p:spPr>
        <p:txBody>
          <a:bodyPr wrap="square" lIns="0" tIns="0" rIns="0" bIns="0" rtlCol="0" anchor="t"/>
          <a:lstStyle/>
          <a:p>
            <a:pPr marL="0" indent="0" algn="l">
              <a:spcAft>
                <a:spcPts val="400"/>
              </a:spcAft>
              <a:buNone/>
            </a:pPr>
            <a:r>
              <a:rPr lang="en-US" sz="1000" b="1" dirty="0">
                <a:solidFill>
                  <a:srgbClr val="00B4D8"/>
                </a:solidFill>
                <a:latin typeface="Verdana" pitchFamily="34" charset="0"/>
                <a:ea typeface="Verdana" pitchFamily="34" charset="-122"/>
                <a:cs typeface="Verdana" pitchFamily="34" charset="-120"/>
              </a:rPr>
              <a:t>SCORING WEIGHTS (1-5)</a:t>
            </a:r>
            <a:endParaRPr lang="en-US" sz="1000" dirty="0"/>
          </a:p>
        </p:txBody>
      </p:sp>
      <p:sp>
        <p:nvSpPr>
          <p:cNvPr id="7" name="Text 5"/>
          <p:cNvSpPr/>
          <p:nvPr/>
        </p:nvSpPr>
        <p:spPr>
          <a:xfrm>
            <a:off x="6146750" y="1571476"/>
            <a:ext cx="2336899" cy="1066205"/>
          </a:xfrm>
          <a:prstGeom prst="rect">
            <a:avLst/>
          </a:prstGeom>
          <a:noFill/>
          <a:ln/>
        </p:spPr>
        <p:txBody>
          <a:bodyPr wrap="square" lIns="88900" tIns="0" rIns="0" bIns="0" rtlCol="0" anchor="t"/>
          <a:lstStyle/>
          <a:p>
            <a:pPr marL="88900" indent="-88900" algn="l">
              <a:lnSpc>
                <a:spcPts val="1400"/>
              </a:lnSpc>
              <a:buSzPct val="100000"/>
              <a:buChar char="•"/>
            </a:pPr>
            <a:r>
              <a:rPr lang="en-US" sz="1000" dirty="0">
                <a:solidFill>
                  <a:srgbClr val="FFFFFF"/>
                </a:solidFill>
                <a:latin typeface="Verdana" pitchFamily="34" charset="0"/>
                <a:ea typeface="Verdana" pitchFamily="34" charset="-122"/>
                <a:cs typeface="Verdana" pitchFamily="34" charset="-120"/>
              </a:rPr>
              <a:t>Strategic fit -- Build wins</a:t>
            </a:r>
            <a:endParaRPr lang="en-US" sz="1000" dirty="0"/>
          </a:p>
          <a:p>
            <a:pPr marL="88900" indent="-88900" algn="l">
              <a:lnSpc>
                <a:spcPts val="1400"/>
              </a:lnSpc>
              <a:buSzPct val="100000"/>
              <a:buChar char="•"/>
            </a:pPr>
            <a:r>
              <a:rPr lang="en-US" sz="1000" dirty="0">
                <a:solidFill>
                  <a:srgbClr val="FFFFFF"/>
                </a:solidFill>
                <a:latin typeface="Verdana" pitchFamily="34" charset="0"/>
                <a:ea typeface="Verdana" pitchFamily="34" charset="-122"/>
                <a:cs typeface="Verdana" pitchFamily="34" charset="-120"/>
              </a:rPr>
              <a:t>Time to value -- Buy wins</a:t>
            </a:r>
            <a:endParaRPr lang="en-US" sz="1000" dirty="0"/>
          </a:p>
          <a:p>
            <a:pPr marL="88900" indent="-88900" algn="l">
              <a:lnSpc>
                <a:spcPts val="1400"/>
              </a:lnSpc>
              <a:buSzPct val="100000"/>
              <a:buChar char="•"/>
            </a:pPr>
            <a:r>
              <a:rPr lang="en-US" sz="1000" dirty="0">
                <a:solidFill>
                  <a:srgbClr val="FFFFFF"/>
                </a:solidFill>
                <a:latin typeface="Verdana" pitchFamily="34" charset="0"/>
                <a:ea typeface="Verdana" pitchFamily="34" charset="-122"/>
                <a:cs typeface="Verdana" pitchFamily="34" charset="-120"/>
              </a:rPr>
              <a:t>TCO -- compare across years</a:t>
            </a:r>
            <a:endParaRPr lang="en-US" sz="1000" dirty="0"/>
          </a:p>
          <a:p>
            <a:pPr marL="88900" indent="-88900" algn="l">
              <a:lnSpc>
                <a:spcPts val="1400"/>
              </a:lnSpc>
              <a:buSzPct val="100000"/>
              <a:buChar char="•"/>
            </a:pPr>
            <a:r>
              <a:rPr lang="en-US" sz="1000" dirty="0">
                <a:solidFill>
                  <a:srgbClr val="FFFFFF"/>
                </a:solidFill>
                <a:latin typeface="Verdana" pitchFamily="34" charset="0"/>
                <a:ea typeface="Verdana" pitchFamily="34" charset="-122"/>
                <a:cs typeface="Verdana" pitchFamily="34" charset="-120"/>
              </a:rPr>
              <a:t>Customization need -- Build wins</a:t>
            </a:r>
            <a:endParaRPr lang="en-US" sz="1000" dirty="0"/>
          </a:p>
          <a:p>
            <a:pPr marL="88900" indent="-88900" algn="l">
              <a:lnSpc>
                <a:spcPts val="1400"/>
              </a:lnSpc>
              <a:buSzPct val="100000"/>
              <a:buChar char="•"/>
            </a:pPr>
            <a:r>
              <a:rPr lang="en-US" sz="1000" dirty="0">
                <a:solidFill>
                  <a:srgbClr val="FFFFFF"/>
                </a:solidFill>
                <a:latin typeface="Verdana" pitchFamily="34" charset="0"/>
                <a:ea typeface="Verdana" pitchFamily="34" charset="-122"/>
                <a:cs typeface="Verdana" pitchFamily="34" charset="-120"/>
              </a:rPr>
              <a:t>Maintainability -- Extend balanced</a:t>
            </a:r>
            <a:endParaRPr lang="en-US" sz="1000" dirty="0"/>
          </a:p>
        </p:txBody>
      </p:sp>
      <p:sp>
        <p:nvSpPr>
          <p:cNvPr id="8" name="Text 6"/>
          <p:cNvSpPr/>
          <p:nvPr/>
        </p:nvSpPr>
        <p:spPr>
          <a:xfrm>
            <a:off x="5994350" y="2891582"/>
            <a:ext cx="2641699" cy="1167854"/>
          </a:xfrm>
          <a:prstGeom prst="rect">
            <a:avLst/>
          </a:prstGeom>
          <a:solidFill>
            <a:srgbClr val="E9ECF2"/>
          </a:solidFill>
          <a:ln/>
        </p:spPr>
        <p:txBody>
          <a:bodyPr wrap="square" rtlCol="0" anchor="ctr"/>
          <a:lstStyle/>
          <a:p>
            <a:pPr marL="0" indent="0">
              <a:buNone/>
            </a:pPr>
            <a:endParaRPr lang="en-US" dirty="0"/>
          </a:p>
        </p:txBody>
      </p:sp>
      <p:sp>
        <p:nvSpPr>
          <p:cNvPr id="9" name="Shape 7"/>
          <p:cNvSpPr/>
          <p:nvPr/>
        </p:nvSpPr>
        <p:spPr>
          <a:xfrm>
            <a:off x="6018163" y="2891582"/>
            <a:ext cx="0" cy="1167854"/>
          </a:xfrm>
          <a:prstGeom prst="line">
            <a:avLst/>
          </a:prstGeom>
          <a:noFill/>
          <a:ln w="47625">
            <a:solidFill>
              <a:srgbClr val="00B4D8"/>
            </a:solidFill>
            <a:prstDash val="solid"/>
          </a:ln>
        </p:spPr>
        <p:txBody>
          <a:bodyPr/>
          <a:lstStyle/>
          <a:p>
            <a:endParaRPr lang="en-US"/>
          </a:p>
        </p:txBody>
      </p:sp>
      <p:sp>
        <p:nvSpPr>
          <p:cNvPr id="10" name="Text 8"/>
          <p:cNvSpPr/>
          <p:nvPr/>
        </p:nvSpPr>
        <p:spPr>
          <a:xfrm>
            <a:off x="6194375" y="3018532"/>
            <a:ext cx="2335060" cy="152400"/>
          </a:xfrm>
          <a:prstGeom prst="rect">
            <a:avLst/>
          </a:prstGeom>
          <a:noFill/>
          <a:ln/>
        </p:spPr>
        <p:txBody>
          <a:bodyPr wrap="square" lIns="0" tIns="0" rIns="0" bIns="0" rtlCol="0" anchor="t"/>
          <a:lstStyle/>
          <a:p>
            <a:pPr marL="0" indent="0" algn="l">
              <a:spcAft>
                <a:spcPts val="400"/>
              </a:spcAft>
              <a:buNone/>
            </a:pPr>
            <a:r>
              <a:rPr lang="en-US" sz="1000" b="1" dirty="0">
                <a:solidFill>
                  <a:srgbClr val="1F2A56"/>
                </a:solidFill>
                <a:latin typeface="Verdana" pitchFamily="34" charset="0"/>
                <a:ea typeface="Verdana" pitchFamily="34" charset="-122"/>
                <a:cs typeface="Verdana" pitchFamily="34" charset="-120"/>
              </a:rPr>
              <a:t>SENSITIVITY BANDS</a:t>
            </a:r>
            <a:endParaRPr lang="en-US" sz="1000" dirty="0"/>
          </a:p>
        </p:txBody>
      </p:sp>
      <p:sp>
        <p:nvSpPr>
          <p:cNvPr id="11" name="Text 9"/>
          <p:cNvSpPr/>
          <p:nvPr/>
        </p:nvSpPr>
        <p:spPr>
          <a:xfrm>
            <a:off x="6194375" y="3221682"/>
            <a:ext cx="2289274" cy="710803"/>
          </a:xfrm>
          <a:prstGeom prst="rect">
            <a:avLst/>
          </a:prstGeom>
          <a:noFill/>
          <a:ln/>
        </p:spPr>
        <p:txBody>
          <a:bodyPr wrap="square" lIns="88900" tIns="0" rIns="0" bIns="0" rtlCol="0" anchor="t"/>
          <a:lstStyle/>
          <a:p>
            <a:pPr marL="88900" indent="-88900" algn="l">
              <a:lnSpc>
                <a:spcPts val="1400"/>
              </a:lnSpc>
              <a:buSzPct val="100000"/>
              <a:buChar char="•"/>
            </a:pPr>
            <a:r>
              <a:rPr lang="en-US" sz="1000" dirty="0">
                <a:solidFill>
                  <a:srgbClr val="1F2A56"/>
                </a:solidFill>
                <a:latin typeface="Verdana" pitchFamily="34" charset="0"/>
                <a:ea typeface="Verdana" pitchFamily="34" charset="-122"/>
                <a:cs typeface="Verdana" pitchFamily="34" charset="-120"/>
              </a:rPr>
              <a:t>Optimistic / expected / conservative</a:t>
            </a:r>
            <a:endParaRPr lang="en-US" sz="1000" dirty="0"/>
          </a:p>
          <a:p>
            <a:pPr marL="88900" indent="-88900" algn="l">
              <a:lnSpc>
                <a:spcPts val="1400"/>
              </a:lnSpc>
              <a:buSzPct val="100000"/>
              <a:buChar char="•"/>
            </a:pPr>
            <a:r>
              <a:rPr lang="en-US" sz="1000" dirty="0">
                <a:solidFill>
                  <a:srgbClr val="1F2A56"/>
                </a:solidFill>
                <a:latin typeface="Verdana" pitchFamily="34" charset="0"/>
                <a:ea typeface="Verdana" pitchFamily="34" charset="-122"/>
                <a:cs typeface="Verdana" pitchFamily="34" charset="-120"/>
              </a:rPr>
              <a:t>Vary adoption, time saved, labor mix</a:t>
            </a:r>
            <a:endParaRPr lang="en-US" sz="1000" dirty="0"/>
          </a:p>
        </p:txBody>
      </p:sp>
      <p:sp>
        <p:nvSpPr>
          <p:cNvPr id="12" name="Text 10"/>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1.3.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0" y="0"/>
            <a:ext cx="4698802" cy="5143500"/>
          </a:xfrm>
          <a:prstGeom prst="rect">
            <a:avLst/>
          </a:prstGeom>
          <a:solidFill>
            <a:srgbClr val="00B4D8"/>
          </a:solidFill>
          <a:ln/>
        </p:spPr>
        <p:txBody>
          <a:bodyPr wrap="square" rtlCol="0" anchor="ctr"/>
          <a:lstStyle/>
          <a:p>
            <a:pPr marL="0" indent="0">
              <a:buNone/>
            </a:pPr>
            <a:endParaRPr lang="en-US" dirty="0"/>
          </a:p>
        </p:txBody>
      </p:sp>
      <p:sp>
        <p:nvSpPr>
          <p:cNvPr id="3" name="Text 1"/>
          <p:cNvSpPr/>
          <p:nvPr/>
        </p:nvSpPr>
        <p:spPr>
          <a:xfrm>
            <a:off x="634901" y="634901"/>
            <a:ext cx="3627069" cy="200025"/>
          </a:xfrm>
          <a:prstGeom prst="rect">
            <a:avLst/>
          </a:prstGeom>
          <a:noFill/>
          <a:ln/>
        </p:spPr>
        <p:txBody>
          <a:bodyPr wrap="square" lIns="0" tIns="0" rIns="0" bIns="0" rtlCol="0" anchor="t"/>
          <a:lstStyle/>
          <a:p>
            <a:pPr marL="0" indent="0" algn="l">
              <a:spcAft>
                <a:spcPts val="1400"/>
              </a:spcAft>
              <a:buNone/>
            </a:pPr>
            <a:r>
              <a:rPr lang="en-US" sz="1300" b="1" dirty="0">
                <a:solidFill>
                  <a:srgbClr val="1F2A56"/>
                </a:solidFill>
                <a:latin typeface="Verdana" pitchFamily="34" charset="0"/>
                <a:ea typeface="Verdana" pitchFamily="34" charset="-122"/>
                <a:cs typeface="Verdana" pitchFamily="34" charset="-120"/>
              </a:rPr>
              <a:t>SEGMENT</a:t>
            </a:r>
            <a:endParaRPr lang="en-US" sz="1300" dirty="0"/>
          </a:p>
        </p:txBody>
      </p:sp>
      <p:sp>
        <p:nvSpPr>
          <p:cNvPr id="4" name="Text 2"/>
          <p:cNvSpPr/>
          <p:nvPr/>
        </p:nvSpPr>
        <p:spPr>
          <a:xfrm>
            <a:off x="634901" y="1012627"/>
            <a:ext cx="3627069" cy="1257300"/>
          </a:xfrm>
          <a:prstGeom prst="rect">
            <a:avLst/>
          </a:prstGeom>
          <a:noFill/>
          <a:ln/>
        </p:spPr>
        <p:txBody>
          <a:bodyPr wrap="square" lIns="0" tIns="0" rIns="0" bIns="0" rtlCol="0" anchor="t"/>
          <a:lstStyle/>
          <a:p>
            <a:pPr marL="0" indent="0" algn="l">
              <a:lnSpc>
                <a:spcPts val="9900"/>
              </a:lnSpc>
              <a:buNone/>
            </a:pPr>
            <a:r>
              <a:rPr lang="en-US" sz="11000" b="1" dirty="0">
                <a:solidFill>
                  <a:srgbClr val="1F2A56"/>
                </a:solidFill>
                <a:latin typeface="Verdana" pitchFamily="34" charset="0"/>
                <a:ea typeface="Verdana" pitchFamily="34" charset="-122"/>
                <a:cs typeface="Verdana" pitchFamily="34" charset="-120"/>
              </a:rPr>
              <a:t>2</a:t>
            </a:r>
            <a:endParaRPr lang="en-US" sz="11000" dirty="0"/>
          </a:p>
        </p:txBody>
      </p:sp>
      <p:sp>
        <p:nvSpPr>
          <p:cNvPr id="5" name="Text 3"/>
          <p:cNvSpPr/>
          <p:nvPr/>
        </p:nvSpPr>
        <p:spPr>
          <a:xfrm>
            <a:off x="634901" y="2447627"/>
            <a:ext cx="3627069" cy="238125"/>
          </a:xfrm>
          <a:prstGeom prst="rect">
            <a:avLst/>
          </a:prstGeom>
          <a:noFill/>
          <a:ln/>
        </p:spPr>
        <p:txBody>
          <a:bodyPr wrap="square" lIns="0" tIns="0" rIns="0" bIns="0" rtlCol="0" anchor="t"/>
          <a:lstStyle/>
          <a:p>
            <a:pPr marL="0" indent="0" algn="l">
              <a:spcBef>
                <a:spcPts val="1400"/>
              </a:spcBef>
              <a:buNone/>
            </a:pPr>
            <a:r>
              <a:rPr lang="en-US" sz="1600" b="1" dirty="0">
                <a:solidFill>
                  <a:srgbClr val="1F2A56"/>
                </a:solidFill>
                <a:latin typeface="Verdana" pitchFamily="34" charset="0"/>
                <a:ea typeface="Verdana" pitchFamily="34" charset="-122"/>
                <a:cs typeface="Verdana" pitchFamily="34" charset="-120"/>
              </a:rPr>
              <a:t>1:00 -- 1:50</a:t>
            </a:r>
            <a:endParaRPr lang="en-US" sz="1600" dirty="0"/>
          </a:p>
        </p:txBody>
      </p:sp>
      <p:sp>
        <p:nvSpPr>
          <p:cNvPr id="6" name="Text 4"/>
          <p:cNvSpPr/>
          <p:nvPr/>
        </p:nvSpPr>
        <p:spPr>
          <a:xfrm>
            <a:off x="5206752" y="507950"/>
            <a:ext cx="3368394" cy="200025"/>
          </a:xfrm>
          <a:prstGeom prst="rect">
            <a:avLst/>
          </a:prstGeom>
          <a:noFill/>
          <a:ln/>
        </p:spPr>
        <p:txBody>
          <a:bodyPr wrap="square" lIns="0" tIns="0" rIns="0" bIns="0" rtlCol="0" anchor="t"/>
          <a:lstStyle/>
          <a:p>
            <a:pPr marL="0" indent="0" algn="l">
              <a:spcAft>
                <a:spcPts val="1000"/>
              </a:spcAft>
              <a:buNone/>
            </a:pPr>
            <a:r>
              <a:rPr lang="en-US" sz="1300" b="1" dirty="0">
                <a:solidFill>
                  <a:srgbClr val="F4845F"/>
                </a:solidFill>
                <a:latin typeface="Verdana" pitchFamily="34" charset="0"/>
                <a:ea typeface="Verdana" pitchFamily="34" charset="-122"/>
                <a:cs typeface="Verdana" pitchFamily="34" charset="-120"/>
              </a:rPr>
              <a:t>DOMAIN WEIGHT 25-30%</a:t>
            </a:r>
            <a:endParaRPr lang="en-US" sz="1300" dirty="0"/>
          </a:p>
        </p:txBody>
      </p:sp>
      <p:sp>
        <p:nvSpPr>
          <p:cNvPr id="7" name="Text 5"/>
          <p:cNvSpPr/>
          <p:nvPr/>
        </p:nvSpPr>
        <p:spPr>
          <a:xfrm>
            <a:off x="5206752" y="834926"/>
            <a:ext cx="3368394" cy="1114425"/>
          </a:xfrm>
          <a:prstGeom prst="rect">
            <a:avLst/>
          </a:prstGeom>
          <a:noFill/>
          <a:ln/>
        </p:spPr>
        <p:txBody>
          <a:bodyPr wrap="square" lIns="0" tIns="0" rIns="0" bIns="0" rtlCol="0" anchor="t"/>
          <a:lstStyle/>
          <a:p>
            <a:pPr marL="0" indent="0" algn="l">
              <a:spcAft>
                <a:spcPts val="1000"/>
              </a:spcAft>
              <a:buNone/>
            </a:pPr>
            <a:r>
              <a:rPr lang="en-US" sz="2400" b="1" dirty="0">
                <a:solidFill>
                  <a:srgbClr val="FFFFFF"/>
                </a:solidFill>
                <a:latin typeface="Verdana" pitchFamily="34" charset="0"/>
                <a:ea typeface="Verdana" pitchFamily="34" charset="-122"/>
                <a:cs typeface="Verdana" pitchFamily="34" charset="-120"/>
              </a:rPr>
              <a:t>Design AI-powered business solutions</a:t>
            </a:r>
            <a:endParaRPr lang="en-US" sz="2400" dirty="0"/>
          </a:p>
        </p:txBody>
      </p:sp>
      <p:sp>
        <p:nvSpPr>
          <p:cNvPr id="8" name="Text 6"/>
          <p:cNvSpPr/>
          <p:nvPr/>
        </p:nvSpPr>
        <p:spPr>
          <a:xfrm>
            <a:off x="5206752" y="2076301"/>
            <a:ext cx="1015901" cy="50750"/>
          </a:xfrm>
          <a:prstGeom prst="rect">
            <a:avLst/>
          </a:prstGeom>
          <a:solidFill>
            <a:srgbClr val="F4845F"/>
          </a:solidFill>
          <a:ln/>
        </p:spPr>
        <p:txBody>
          <a:bodyPr wrap="square" rtlCol="0" anchor="ctr"/>
          <a:lstStyle/>
          <a:p>
            <a:pPr marL="0" indent="0">
              <a:buNone/>
            </a:pPr>
            <a:endParaRPr lang="en-US" dirty="0"/>
          </a:p>
        </p:txBody>
      </p:sp>
      <p:sp>
        <p:nvSpPr>
          <p:cNvPr id="9" name="Text 7"/>
          <p:cNvSpPr/>
          <p:nvPr/>
        </p:nvSpPr>
        <p:spPr>
          <a:xfrm>
            <a:off x="5206752" y="2279452"/>
            <a:ext cx="3302347" cy="1355824"/>
          </a:xfrm>
          <a:prstGeom prst="rect">
            <a:avLst/>
          </a:prstGeom>
          <a:noFill/>
          <a:ln/>
        </p:spPr>
        <p:txBody>
          <a:bodyPr wrap="square" lIns="114300" tIns="0" rIns="0" bIns="0" rtlCol="0" anchor="t"/>
          <a:lstStyle/>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Design AI and agents -- topics, flows, agent types</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Design extensibility with custom models, MCP, and Computer Use</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Orchestrate prebuilt AI features across Dynamics 365 and M365</a:t>
            </a:r>
            <a:endParaRPr lang="en-US" sz="1200" dirty="0"/>
          </a:p>
        </p:txBody>
      </p:sp>
      <p:sp>
        <p:nvSpPr>
          <p:cNvPr id="10" name="Text 8"/>
          <p:cNvSpPr/>
          <p:nvPr/>
        </p:nvSpPr>
        <p:spPr>
          <a:xfrm>
            <a:off x="5206752" y="3787676"/>
            <a:ext cx="3302347" cy="1040011"/>
          </a:xfrm>
          <a:prstGeom prst="rect">
            <a:avLst/>
          </a:prstGeom>
          <a:solidFill>
            <a:srgbClr val="2A3666"/>
          </a:solidFill>
          <a:ln/>
        </p:spPr>
        <p:txBody>
          <a:bodyPr wrap="square" rtlCol="0" anchor="ctr"/>
          <a:lstStyle/>
          <a:p>
            <a:pPr marL="0" indent="0">
              <a:buNone/>
            </a:pPr>
            <a:endParaRPr lang="en-US" dirty="0"/>
          </a:p>
        </p:txBody>
      </p:sp>
      <p:sp>
        <p:nvSpPr>
          <p:cNvPr id="11" name="Shape 9"/>
          <p:cNvSpPr/>
          <p:nvPr/>
        </p:nvSpPr>
        <p:spPr>
          <a:xfrm>
            <a:off x="5230564" y="3787676"/>
            <a:ext cx="0" cy="1040011"/>
          </a:xfrm>
          <a:prstGeom prst="line">
            <a:avLst/>
          </a:prstGeom>
          <a:noFill/>
          <a:ln w="47625">
            <a:solidFill>
              <a:srgbClr val="00B4D8"/>
            </a:solidFill>
            <a:prstDash val="solid"/>
          </a:ln>
        </p:spPr>
        <p:txBody>
          <a:bodyPr/>
          <a:lstStyle/>
          <a:p>
            <a:endParaRPr lang="en-US"/>
          </a:p>
        </p:txBody>
      </p:sp>
      <p:sp>
        <p:nvSpPr>
          <p:cNvPr id="12" name="Text 10"/>
          <p:cNvSpPr/>
          <p:nvPr/>
        </p:nvSpPr>
        <p:spPr>
          <a:xfrm>
            <a:off x="5406777" y="3889177"/>
            <a:ext cx="3008921" cy="285750"/>
          </a:xfrm>
          <a:prstGeom prst="rect">
            <a:avLst/>
          </a:prstGeom>
          <a:noFill/>
          <a:ln/>
        </p:spPr>
        <p:txBody>
          <a:bodyPr wrap="square" lIns="0" tIns="0" rIns="0" bIns="0" rtlCol="0" anchor="t"/>
          <a:lstStyle/>
          <a:p>
            <a:pPr marL="0" indent="0" algn="l">
              <a:spcAft>
                <a:spcPts val="400"/>
              </a:spcAft>
              <a:buNone/>
            </a:pPr>
            <a:r>
              <a:rPr lang="en-US" sz="900" b="1" dirty="0">
                <a:solidFill>
                  <a:srgbClr val="00B4D8"/>
                </a:solidFill>
                <a:latin typeface="Verdana" pitchFamily="34" charset="0"/>
                <a:ea typeface="Verdana" pitchFamily="34" charset="-122"/>
                <a:cs typeface="Verdana" pitchFamily="34" charset="-120"/>
              </a:rPr>
              <a:t>STUDY BETWEEN SESSIONS -- MICROSOFT LEARN</a:t>
            </a:r>
            <a:endParaRPr lang="en-US" sz="900" dirty="0"/>
          </a:p>
        </p:txBody>
      </p:sp>
      <p:sp>
        <p:nvSpPr>
          <p:cNvPr id="13" name="Text 11"/>
          <p:cNvSpPr/>
          <p:nvPr/>
        </p:nvSpPr>
        <p:spPr>
          <a:xfrm>
            <a:off x="5406777" y="4225677"/>
            <a:ext cx="2949922" cy="487859"/>
          </a:xfrm>
          <a:prstGeom prst="rect">
            <a:avLst/>
          </a:prstGeom>
          <a:noFill/>
          <a:ln/>
        </p:spPr>
        <p:txBody>
          <a:bodyPr wrap="square" lIns="88900" tIns="0" rIns="0" bIns="0" rtlCol="0" anchor="t"/>
          <a:lstStyle/>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05. Design AI agents</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06. Design extensibility</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07. Orchestrate prebuilt agents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2.1</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Three agent types in Copilot Studio</a:t>
            </a:r>
            <a:endParaRPr lang="en-US" sz="2200" dirty="0"/>
          </a:p>
        </p:txBody>
      </p:sp>
      <p:sp>
        <p:nvSpPr>
          <p:cNvPr id="5" name="Text 3"/>
          <p:cNvSpPr/>
          <p:nvPr/>
        </p:nvSpPr>
        <p:spPr>
          <a:xfrm>
            <a:off x="507950" y="1292126"/>
            <a:ext cx="2607766" cy="1835944"/>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07950" y="1320701"/>
            <a:ext cx="2607766" cy="0"/>
          </a:xfrm>
          <a:prstGeom prst="line">
            <a:avLst/>
          </a:prstGeom>
          <a:noFill/>
          <a:ln w="57150">
            <a:solidFill>
              <a:srgbClr val="00B4D8"/>
            </a:solidFill>
            <a:prstDash val="solid"/>
          </a:ln>
        </p:spPr>
        <p:txBody>
          <a:bodyPr/>
          <a:lstStyle/>
          <a:p>
            <a:endParaRPr lang="en-US"/>
          </a:p>
        </p:txBody>
      </p:sp>
      <p:sp>
        <p:nvSpPr>
          <p:cNvPr id="7" name="Text 5"/>
          <p:cNvSpPr/>
          <p:nvPr/>
        </p:nvSpPr>
        <p:spPr>
          <a:xfrm>
            <a:off x="685651" y="1526977"/>
            <a:ext cx="2297412" cy="165646"/>
          </a:xfrm>
          <a:prstGeom prst="rect">
            <a:avLst/>
          </a:prstGeom>
          <a:noFill/>
          <a:ln/>
        </p:spPr>
        <p:txBody>
          <a:bodyPr wrap="square" lIns="0" tIns="0" rIns="0" bIns="0" rtlCol="0" anchor="t"/>
          <a:lstStyle/>
          <a:p>
            <a:pPr marL="0" indent="0" algn="l">
              <a:lnSpc>
                <a:spcPts val="1305"/>
              </a:lnSpc>
              <a:spcAft>
                <a:spcPts val="800"/>
              </a:spcAft>
              <a:buNone/>
            </a:pPr>
            <a:r>
              <a:rPr lang="en-US" sz="900" b="1" dirty="0">
                <a:solidFill>
                  <a:srgbClr val="00B4D8"/>
                </a:solidFill>
                <a:latin typeface="Verdana" pitchFamily="34" charset="0"/>
                <a:ea typeface="Verdana" pitchFamily="34" charset="-122"/>
                <a:cs typeface="Verdana" pitchFamily="34" charset="-120"/>
              </a:rPr>
              <a:t>PROMPT AND RESPONSE</a:t>
            </a:r>
            <a:endParaRPr lang="en-US" sz="900" dirty="0"/>
          </a:p>
        </p:txBody>
      </p:sp>
      <p:sp>
        <p:nvSpPr>
          <p:cNvPr id="8" name="Text 6"/>
          <p:cNvSpPr/>
          <p:nvPr/>
        </p:nvSpPr>
        <p:spPr>
          <a:xfrm>
            <a:off x="685651" y="1794123"/>
            <a:ext cx="2297412" cy="219075"/>
          </a:xfrm>
          <a:prstGeom prst="rect">
            <a:avLst/>
          </a:prstGeom>
          <a:noFill/>
          <a:ln/>
        </p:spPr>
        <p:txBody>
          <a:bodyPr wrap="square" lIns="0" tIns="0" rIns="0" bIns="0" rtlCol="0" anchor="t"/>
          <a:lstStyle/>
          <a:p>
            <a:pPr marL="0" indent="0" algn="l">
              <a:spcAft>
                <a:spcPts val="400"/>
              </a:spcAft>
              <a:buNone/>
            </a:pPr>
            <a:r>
              <a:rPr lang="en-US" sz="1400" b="1" dirty="0">
                <a:solidFill>
                  <a:srgbClr val="1F2A56"/>
                </a:solidFill>
                <a:latin typeface="Verdana" pitchFamily="34" charset="0"/>
                <a:ea typeface="Verdana" pitchFamily="34" charset="-122"/>
                <a:cs typeface="Verdana" pitchFamily="34" charset="-120"/>
              </a:rPr>
              <a:t>Conversational</a:t>
            </a:r>
            <a:endParaRPr lang="en-US" sz="1400" dirty="0"/>
          </a:p>
        </p:txBody>
      </p:sp>
      <p:sp>
        <p:nvSpPr>
          <p:cNvPr id="9" name="Text 7"/>
          <p:cNvSpPr/>
          <p:nvPr/>
        </p:nvSpPr>
        <p:spPr>
          <a:xfrm>
            <a:off x="685651" y="2063948"/>
            <a:ext cx="2297412" cy="810220"/>
          </a:xfrm>
          <a:prstGeom prst="rect">
            <a:avLst/>
          </a:prstGeom>
          <a:noFill/>
          <a:ln/>
        </p:spPr>
        <p:txBody>
          <a:bodyPr wrap="square" lIns="0" tIns="0" rIns="0" bIns="0" rtlCol="0" anchor="t"/>
          <a:lstStyle/>
          <a:p>
            <a:pPr marL="0" indent="0" algn="l">
              <a:lnSpc>
                <a:spcPts val="1595"/>
              </a:lnSpc>
              <a:spcAft>
                <a:spcPts val="600"/>
              </a:spcAft>
              <a:buNone/>
            </a:pPr>
            <a:r>
              <a:rPr lang="en-US" sz="1100" dirty="0">
                <a:solidFill>
                  <a:srgbClr val="1A1A2E"/>
                </a:solidFill>
                <a:latin typeface="Verdana" pitchFamily="34" charset="0"/>
                <a:ea typeface="Verdana" pitchFamily="34" charset="-122"/>
                <a:cs typeface="Verdana" pitchFamily="34" charset="-120"/>
              </a:rPr>
              <a:t>Topic-driven dialog with NLU, fallback, and generative orchestration. Best for FAQ, lookup, and guided flows.</a:t>
            </a:r>
            <a:endParaRPr lang="en-US" sz="1100" dirty="0"/>
          </a:p>
        </p:txBody>
      </p:sp>
      <p:sp>
        <p:nvSpPr>
          <p:cNvPr id="10" name="Text 8"/>
          <p:cNvSpPr/>
          <p:nvPr/>
        </p:nvSpPr>
        <p:spPr>
          <a:xfrm>
            <a:off x="3268117" y="1292126"/>
            <a:ext cx="2607766" cy="1835944"/>
          </a:xfrm>
          <a:prstGeom prst="rect">
            <a:avLst/>
          </a:prstGeom>
          <a:solidFill>
            <a:srgbClr val="E9ECF2"/>
          </a:solidFill>
          <a:ln/>
        </p:spPr>
        <p:txBody>
          <a:bodyPr wrap="square" rtlCol="0" anchor="ctr"/>
          <a:lstStyle/>
          <a:p>
            <a:pPr marL="0" indent="0">
              <a:buNone/>
            </a:pPr>
            <a:endParaRPr lang="en-US" dirty="0"/>
          </a:p>
        </p:txBody>
      </p:sp>
      <p:sp>
        <p:nvSpPr>
          <p:cNvPr id="11" name="Shape 9"/>
          <p:cNvSpPr/>
          <p:nvPr/>
        </p:nvSpPr>
        <p:spPr>
          <a:xfrm>
            <a:off x="3268117" y="1320701"/>
            <a:ext cx="2607766" cy="0"/>
          </a:xfrm>
          <a:prstGeom prst="line">
            <a:avLst/>
          </a:prstGeom>
          <a:noFill/>
          <a:ln w="57150">
            <a:solidFill>
              <a:srgbClr val="F4845F"/>
            </a:solidFill>
            <a:prstDash val="solid"/>
          </a:ln>
        </p:spPr>
        <p:txBody>
          <a:bodyPr/>
          <a:lstStyle/>
          <a:p>
            <a:endParaRPr lang="en-US"/>
          </a:p>
        </p:txBody>
      </p:sp>
      <p:sp>
        <p:nvSpPr>
          <p:cNvPr id="12" name="Text 10"/>
          <p:cNvSpPr/>
          <p:nvPr/>
        </p:nvSpPr>
        <p:spPr>
          <a:xfrm>
            <a:off x="3445818" y="1526977"/>
            <a:ext cx="2297412" cy="165646"/>
          </a:xfrm>
          <a:prstGeom prst="rect">
            <a:avLst/>
          </a:prstGeom>
          <a:noFill/>
          <a:ln/>
        </p:spPr>
        <p:txBody>
          <a:bodyPr wrap="square" lIns="0" tIns="0" rIns="0" bIns="0" rtlCol="0" anchor="t"/>
          <a:lstStyle/>
          <a:p>
            <a:pPr marL="0" indent="0" algn="l">
              <a:lnSpc>
                <a:spcPts val="1305"/>
              </a:lnSpc>
              <a:spcAft>
                <a:spcPts val="800"/>
              </a:spcAft>
              <a:buNone/>
            </a:pPr>
            <a:r>
              <a:rPr lang="en-US" sz="900" b="1" dirty="0">
                <a:solidFill>
                  <a:srgbClr val="F4845F"/>
                </a:solidFill>
                <a:latin typeface="Verdana" pitchFamily="34" charset="0"/>
                <a:ea typeface="Verdana" pitchFamily="34" charset="-122"/>
                <a:cs typeface="Verdana" pitchFamily="34" charset="-120"/>
              </a:rPr>
              <a:t>TASK</a:t>
            </a:r>
            <a:endParaRPr lang="en-US" sz="900" dirty="0"/>
          </a:p>
        </p:txBody>
      </p:sp>
      <p:sp>
        <p:nvSpPr>
          <p:cNvPr id="13" name="Text 11"/>
          <p:cNvSpPr/>
          <p:nvPr/>
        </p:nvSpPr>
        <p:spPr>
          <a:xfrm>
            <a:off x="3445818" y="1794123"/>
            <a:ext cx="2297412" cy="219075"/>
          </a:xfrm>
          <a:prstGeom prst="rect">
            <a:avLst/>
          </a:prstGeom>
          <a:noFill/>
          <a:ln/>
        </p:spPr>
        <p:txBody>
          <a:bodyPr wrap="square" lIns="0" tIns="0" rIns="0" bIns="0" rtlCol="0" anchor="t"/>
          <a:lstStyle/>
          <a:p>
            <a:pPr marL="0" indent="0" algn="l">
              <a:spcAft>
                <a:spcPts val="400"/>
              </a:spcAft>
              <a:buNone/>
            </a:pPr>
            <a:r>
              <a:rPr lang="en-US" sz="1400" b="1" dirty="0">
                <a:solidFill>
                  <a:srgbClr val="1F2A56"/>
                </a:solidFill>
                <a:latin typeface="Verdana" pitchFamily="34" charset="0"/>
                <a:ea typeface="Verdana" pitchFamily="34" charset="-122"/>
                <a:cs typeface="Verdana" pitchFamily="34" charset="-120"/>
              </a:rPr>
              <a:t>Workflow runner</a:t>
            </a:r>
            <a:endParaRPr lang="en-US" sz="1400" dirty="0"/>
          </a:p>
        </p:txBody>
      </p:sp>
      <p:sp>
        <p:nvSpPr>
          <p:cNvPr id="14" name="Text 12"/>
          <p:cNvSpPr/>
          <p:nvPr/>
        </p:nvSpPr>
        <p:spPr>
          <a:xfrm>
            <a:off x="3445818" y="2063948"/>
            <a:ext cx="2297412" cy="810220"/>
          </a:xfrm>
          <a:prstGeom prst="rect">
            <a:avLst/>
          </a:prstGeom>
          <a:noFill/>
          <a:ln/>
        </p:spPr>
        <p:txBody>
          <a:bodyPr wrap="square" lIns="0" tIns="0" rIns="0" bIns="0" rtlCol="0" anchor="t"/>
          <a:lstStyle/>
          <a:p>
            <a:pPr marL="0" indent="0" algn="l">
              <a:lnSpc>
                <a:spcPts val="1595"/>
              </a:lnSpc>
              <a:spcAft>
                <a:spcPts val="600"/>
              </a:spcAft>
              <a:buNone/>
            </a:pPr>
            <a:r>
              <a:rPr lang="en-US" sz="1100" dirty="0">
                <a:solidFill>
                  <a:srgbClr val="1A1A2E"/>
                </a:solidFill>
                <a:latin typeface="Verdana" pitchFamily="34" charset="0"/>
                <a:ea typeface="Verdana" pitchFamily="34" charset="-122"/>
                <a:cs typeface="Verdana" pitchFamily="34" charset="-120"/>
              </a:rPr>
              <a:t>Calls tools and connectors to complete a defined task -- create a record, send a message, kick off a flow.</a:t>
            </a:r>
            <a:endParaRPr lang="en-US" sz="1100" dirty="0"/>
          </a:p>
        </p:txBody>
      </p:sp>
      <p:sp>
        <p:nvSpPr>
          <p:cNvPr id="15" name="Text 13"/>
          <p:cNvSpPr/>
          <p:nvPr/>
        </p:nvSpPr>
        <p:spPr>
          <a:xfrm>
            <a:off x="6028283" y="1292126"/>
            <a:ext cx="2607766" cy="1835944"/>
          </a:xfrm>
          <a:prstGeom prst="rect">
            <a:avLst/>
          </a:prstGeom>
          <a:solidFill>
            <a:srgbClr val="E9ECF2"/>
          </a:solidFill>
          <a:ln/>
        </p:spPr>
        <p:txBody>
          <a:bodyPr wrap="square" rtlCol="0" anchor="ctr"/>
          <a:lstStyle/>
          <a:p>
            <a:pPr marL="0" indent="0">
              <a:buNone/>
            </a:pPr>
            <a:endParaRPr lang="en-US" dirty="0"/>
          </a:p>
        </p:txBody>
      </p:sp>
      <p:sp>
        <p:nvSpPr>
          <p:cNvPr id="16" name="Shape 14"/>
          <p:cNvSpPr/>
          <p:nvPr/>
        </p:nvSpPr>
        <p:spPr>
          <a:xfrm>
            <a:off x="6028283" y="1320701"/>
            <a:ext cx="2607766" cy="0"/>
          </a:xfrm>
          <a:prstGeom prst="line">
            <a:avLst/>
          </a:prstGeom>
          <a:noFill/>
          <a:ln w="57150">
            <a:solidFill>
              <a:srgbClr val="1F2A56"/>
            </a:solidFill>
            <a:prstDash val="solid"/>
          </a:ln>
        </p:spPr>
        <p:txBody>
          <a:bodyPr/>
          <a:lstStyle/>
          <a:p>
            <a:endParaRPr lang="en-US"/>
          </a:p>
        </p:txBody>
      </p:sp>
      <p:sp>
        <p:nvSpPr>
          <p:cNvPr id="17" name="Text 15"/>
          <p:cNvSpPr/>
          <p:nvPr/>
        </p:nvSpPr>
        <p:spPr>
          <a:xfrm>
            <a:off x="6205984" y="1526977"/>
            <a:ext cx="2297412" cy="165646"/>
          </a:xfrm>
          <a:prstGeom prst="rect">
            <a:avLst/>
          </a:prstGeom>
          <a:noFill/>
          <a:ln/>
        </p:spPr>
        <p:txBody>
          <a:bodyPr wrap="square" lIns="0" tIns="0" rIns="0" bIns="0" rtlCol="0" anchor="t"/>
          <a:lstStyle/>
          <a:p>
            <a:pPr marL="0" indent="0" algn="l">
              <a:lnSpc>
                <a:spcPts val="1305"/>
              </a:lnSpc>
              <a:spcAft>
                <a:spcPts val="800"/>
              </a:spcAft>
              <a:buNone/>
            </a:pPr>
            <a:r>
              <a:rPr lang="en-US" sz="900" b="1" dirty="0">
                <a:solidFill>
                  <a:srgbClr val="1F2A56"/>
                </a:solidFill>
                <a:latin typeface="Verdana" pitchFamily="34" charset="0"/>
                <a:ea typeface="Verdana" pitchFamily="34" charset="-122"/>
                <a:cs typeface="Verdana" pitchFamily="34" charset="-120"/>
              </a:rPr>
              <a:t>AUTONOMOUS</a:t>
            </a:r>
            <a:endParaRPr lang="en-US" sz="900" dirty="0"/>
          </a:p>
        </p:txBody>
      </p:sp>
      <p:sp>
        <p:nvSpPr>
          <p:cNvPr id="18" name="Text 16"/>
          <p:cNvSpPr/>
          <p:nvPr/>
        </p:nvSpPr>
        <p:spPr>
          <a:xfrm>
            <a:off x="6205984" y="1794123"/>
            <a:ext cx="2297412" cy="219075"/>
          </a:xfrm>
          <a:prstGeom prst="rect">
            <a:avLst/>
          </a:prstGeom>
          <a:noFill/>
          <a:ln/>
        </p:spPr>
        <p:txBody>
          <a:bodyPr wrap="square" lIns="0" tIns="0" rIns="0" bIns="0" rtlCol="0" anchor="t"/>
          <a:lstStyle/>
          <a:p>
            <a:pPr marL="0" indent="0" algn="l">
              <a:spcAft>
                <a:spcPts val="400"/>
              </a:spcAft>
              <a:buNone/>
            </a:pPr>
            <a:r>
              <a:rPr lang="en-US" sz="1400" b="1" dirty="0">
                <a:solidFill>
                  <a:srgbClr val="1F2A56"/>
                </a:solidFill>
                <a:latin typeface="Verdana" pitchFamily="34" charset="0"/>
                <a:ea typeface="Verdana" pitchFamily="34" charset="-122"/>
                <a:cs typeface="Verdana" pitchFamily="34" charset="-120"/>
              </a:rPr>
              <a:t>Event-driven</a:t>
            </a:r>
            <a:endParaRPr lang="en-US" sz="1400" dirty="0"/>
          </a:p>
        </p:txBody>
      </p:sp>
      <p:sp>
        <p:nvSpPr>
          <p:cNvPr id="19" name="Text 17"/>
          <p:cNvSpPr/>
          <p:nvPr/>
        </p:nvSpPr>
        <p:spPr>
          <a:xfrm>
            <a:off x="6205984" y="2063948"/>
            <a:ext cx="2297412" cy="810220"/>
          </a:xfrm>
          <a:prstGeom prst="rect">
            <a:avLst/>
          </a:prstGeom>
          <a:noFill/>
          <a:ln/>
        </p:spPr>
        <p:txBody>
          <a:bodyPr wrap="square" lIns="0" tIns="0" rIns="0" bIns="0" rtlCol="0" anchor="t"/>
          <a:lstStyle/>
          <a:p>
            <a:pPr marL="0" indent="0" algn="l">
              <a:lnSpc>
                <a:spcPts val="1595"/>
              </a:lnSpc>
              <a:spcAft>
                <a:spcPts val="600"/>
              </a:spcAft>
              <a:buNone/>
            </a:pPr>
            <a:r>
              <a:rPr lang="en-US" sz="1100" dirty="0">
                <a:solidFill>
                  <a:srgbClr val="1A1A2E"/>
                </a:solidFill>
                <a:latin typeface="Verdana" pitchFamily="34" charset="0"/>
                <a:ea typeface="Verdana" pitchFamily="34" charset="-122"/>
                <a:cs typeface="Verdana" pitchFamily="34" charset="-120"/>
              </a:rPr>
              <a:t>Triggers on events such as new email or record change. Runs in the background within scoped permissions.</a:t>
            </a:r>
            <a:endParaRPr lang="en-US" sz="1100" dirty="0"/>
          </a:p>
        </p:txBody>
      </p:sp>
      <p:sp>
        <p:nvSpPr>
          <p:cNvPr id="20" name="Text 18"/>
          <p:cNvSpPr/>
          <p:nvPr/>
        </p:nvSpPr>
        <p:spPr>
          <a:xfrm>
            <a:off x="507950" y="3305770"/>
            <a:ext cx="3987850" cy="645021"/>
          </a:xfrm>
          <a:prstGeom prst="rect">
            <a:avLst/>
          </a:prstGeom>
          <a:solidFill>
            <a:srgbClr val="1F2A56"/>
          </a:solidFill>
          <a:ln/>
        </p:spPr>
        <p:txBody>
          <a:bodyPr wrap="square" rtlCol="0" anchor="ctr"/>
          <a:lstStyle/>
          <a:p>
            <a:pPr marL="0" indent="0">
              <a:buNone/>
            </a:pPr>
            <a:endParaRPr lang="en-US" dirty="0"/>
          </a:p>
        </p:txBody>
      </p:sp>
      <p:sp>
        <p:nvSpPr>
          <p:cNvPr id="21" name="Text 19"/>
          <p:cNvSpPr/>
          <p:nvPr/>
        </p:nvSpPr>
        <p:spPr>
          <a:xfrm>
            <a:off x="685651" y="3432721"/>
            <a:ext cx="3705097" cy="391120"/>
          </a:xfrm>
          <a:prstGeom prst="rect">
            <a:avLst/>
          </a:prstGeom>
          <a:noFill/>
          <a:ln/>
        </p:spPr>
        <p:txBody>
          <a:bodyPr wrap="square" lIns="0" tIns="0" rIns="0" bIns="0" rtlCol="0" anchor="t"/>
          <a:lstStyle/>
          <a:p>
            <a:pPr marL="0" indent="0" algn="l">
              <a:lnSpc>
                <a:spcPts val="1540"/>
              </a:lnSpc>
              <a:buNone/>
            </a:pPr>
            <a:r>
              <a:rPr lang="en-US" sz="1100" b="1" dirty="0">
                <a:solidFill>
                  <a:srgbClr val="00B4D8"/>
                </a:solidFill>
                <a:latin typeface="Verdana" pitchFamily="34" charset="0"/>
                <a:ea typeface="Verdana" pitchFamily="34" charset="-122"/>
                <a:cs typeface="Verdana" pitchFamily="34" charset="-120"/>
              </a:rPr>
              <a:t>Topics:</a:t>
            </a:r>
            <a:r>
              <a:rPr lang="en-US" sz="1100" dirty="0">
                <a:solidFill>
                  <a:srgbClr val="FFFFFF"/>
                </a:solidFill>
                <a:latin typeface="Verdana" pitchFamily="34" charset="0"/>
                <a:ea typeface="Verdana" pitchFamily="34" charset="-122"/>
                <a:cs typeface="Verdana" pitchFamily="34" charset="-120"/>
              </a:rPr>
              <a:t> classic, generative answers, fallback. Choose NLP, CLU, or generative orchestration.</a:t>
            </a:r>
            <a:endParaRPr lang="en-US" sz="1100" dirty="0"/>
          </a:p>
        </p:txBody>
      </p:sp>
      <p:sp>
        <p:nvSpPr>
          <p:cNvPr id="22" name="Text 20"/>
          <p:cNvSpPr/>
          <p:nvPr/>
        </p:nvSpPr>
        <p:spPr>
          <a:xfrm>
            <a:off x="4648200" y="3305770"/>
            <a:ext cx="3987850" cy="645021"/>
          </a:xfrm>
          <a:prstGeom prst="rect">
            <a:avLst/>
          </a:prstGeom>
          <a:solidFill>
            <a:srgbClr val="1F2A56"/>
          </a:solidFill>
          <a:ln/>
        </p:spPr>
        <p:txBody>
          <a:bodyPr wrap="square" rtlCol="0" anchor="ctr"/>
          <a:lstStyle/>
          <a:p>
            <a:pPr marL="0" indent="0">
              <a:buNone/>
            </a:pPr>
            <a:endParaRPr lang="en-US" dirty="0"/>
          </a:p>
        </p:txBody>
      </p:sp>
      <p:sp>
        <p:nvSpPr>
          <p:cNvPr id="23" name="Text 21"/>
          <p:cNvSpPr/>
          <p:nvPr/>
        </p:nvSpPr>
        <p:spPr>
          <a:xfrm>
            <a:off x="4825901" y="3432721"/>
            <a:ext cx="3705097" cy="391120"/>
          </a:xfrm>
          <a:prstGeom prst="rect">
            <a:avLst/>
          </a:prstGeom>
          <a:noFill/>
          <a:ln/>
        </p:spPr>
        <p:txBody>
          <a:bodyPr wrap="square" lIns="0" tIns="0" rIns="0" bIns="0" rtlCol="0" anchor="t"/>
          <a:lstStyle/>
          <a:p>
            <a:pPr marL="0" indent="0" algn="l">
              <a:lnSpc>
                <a:spcPts val="1540"/>
              </a:lnSpc>
              <a:buNone/>
            </a:pPr>
            <a:r>
              <a:rPr lang="en-US" sz="1100" b="1" dirty="0">
                <a:solidFill>
                  <a:srgbClr val="00B4D8"/>
                </a:solidFill>
                <a:latin typeface="Verdana" pitchFamily="34" charset="0"/>
                <a:ea typeface="Verdana" pitchFamily="34" charset="-122"/>
                <a:cs typeface="Verdana" pitchFamily="34" charset="-120"/>
              </a:rPr>
              <a:t>Agent flows:</a:t>
            </a:r>
            <a:r>
              <a:rPr lang="en-US" sz="1100" dirty="0">
                <a:solidFill>
                  <a:srgbClr val="FFFFFF"/>
                </a:solidFill>
                <a:latin typeface="Verdana" pitchFamily="34" charset="0"/>
                <a:ea typeface="Verdana" pitchFamily="34" charset="-122"/>
                <a:cs typeface="Verdana" pitchFamily="34" charset="-120"/>
              </a:rPr>
              <a:t> orchestrate multi-step actions. </a:t>
            </a:r>
            <a:r>
              <a:rPr lang="en-US" sz="1100" b="1" dirty="0">
                <a:solidFill>
                  <a:srgbClr val="00B4D8"/>
                </a:solidFill>
                <a:latin typeface="Verdana" pitchFamily="34" charset="0"/>
                <a:ea typeface="Verdana" pitchFamily="34" charset="-122"/>
                <a:cs typeface="Verdana" pitchFamily="34" charset="-120"/>
              </a:rPr>
              <a:t>Prompt actions:</a:t>
            </a:r>
            <a:r>
              <a:rPr lang="en-US" sz="1100" dirty="0">
                <a:solidFill>
                  <a:srgbClr val="FFFFFF"/>
                </a:solidFill>
                <a:latin typeface="Verdana" pitchFamily="34" charset="0"/>
                <a:ea typeface="Verdana" pitchFamily="34" charset="-122"/>
                <a:cs typeface="Verdana" pitchFamily="34" charset="-120"/>
              </a:rPr>
              <a:t> structured AI calls.</a:t>
            </a:r>
            <a:endParaRPr lang="en-US" sz="1100" dirty="0"/>
          </a:p>
        </p:txBody>
      </p:sp>
      <p:sp>
        <p:nvSpPr>
          <p:cNvPr id="24" name="Text 22"/>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Copilot Studio agent types, autonomous agents, generative orchestration.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346150"/>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2.1 -- NLP DECISION LANE</a:t>
            </a:r>
            <a:endParaRPr lang="en-US" sz="1100" dirty="0"/>
          </a:p>
        </p:txBody>
      </p:sp>
      <p:sp>
        <p:nvSpPr>
          <p:cNvPr id="4" name="Text 2"/>
          <p:cNvSpPr/>
          <p:nvPr/>
        </p:nvSpPr>
        <p:spPr>
          <a:xfrm>
            <a:off x="507950" y="450800"/>
            <a:ext cx="8290661" cy="666750"/>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Pick standard NLP, CLU, or generative orchestration</a:t>
            </a:r>
            <a:endParaRPr lang="en-US" sz="2200" dirty="0"/>
          </a:p>
        </p:txBody>
      </p:sp>
      <p:sp>
        <p:nvSpPr>
          <p:cNvPr id="5" name="Text 3"/>
          <p:cNvSpPr/>
          <p:nvPr/>
        </p:nvSpPr>
        <p:spPr>
          <a:xfrm>
            <a:off x="507950" y="1625501"/>
            <a:ext cx="2607766" cy="2994273"/>
          </a:xfrm>
          <a:prstGeom prst="rect">
            <a:avLst/>
          </a:prstGeom>
          <a:solidFill>
            <a:srgbClr val="E9F5FB"/>
          </a:solidFill>
          <a:ln/>
        </p:spPr>
        <p:txBody>
          <a:bodyPr wrap="square" rtlCol="0" anchor="ctr"/>
          <a:lstStyle/>
          <a:p>
            <a:pPr marL="0" indent="0">
              <a:buNone/>
            </a:pPr>
            <a:endParaRPr lang="en-US" dirty="0"/>
          </a:p>
        </p:txBody>
      </p:sp>
      <p:sp>
        <p:nvSpPr>
          <p:cNvPr id="6" name="Shape 4"/>
          <p:cNvSpPr/>
          <p:nvPr/>
        </p:nvSpPr>
        <p:spPr>
          <a:xfrm>
            <a:off x="507950" y="1654076"/>
            <a:ext cx="2607766" cy="0"/>
          </a:xfrm>
          <a:prstGeom prst="line">
            <a:avLst/>
          </a:prstGeom>
          <a:noFill/>
          <a:ln w="57150">
            <a:solidFill>
              <a:srgbClr val="00B4D8"/>
            </a:solidFill>
            <a:prstDash val="solid"/>
          </a:ln>
        </p:spPr>
        <p:txBody>
          <a:bodyPr/>
          <a:lstStyle/>
          <a:p>
            <a:endParaRPr lang="en-US"/>
          </a:p>
        </p:txBody>
      </p:sp>
      <p:sp>
        <p:nvSpPr>
          <p:cNvPr id="7" name="Text 5"/>
          <p:cNvSpPr/>
          <p:nvPr/>
        </p:nvSpPr>
        <p:spPr>
          <a:xfrm>
            <a:off x="660350" y="1860352"/>
            <a:ext cx="2349026" cy="219075"/>
          </a:xfrm>
          <a:prstGeom prst="rect">
            <a:avLst/>
          </a:prstGeom>
          <a:noFill/>
          <a:ln/>
        </p:spPr>
        <p:txBody>
          <a:bodyPr wrap="square" lIns="0" tIns="0" rIns="0" bIns="0" rtlCol="0" anchor="t"/>
          <a:lstStyle/>
          <a:p>
            <a:pPr marL="0" indent="0" algn="l">
              <a:spcAft>
                <a:spcPts val="400"/>
              </a:spcAft>
              <a:buNone/>
            </a:pPr>
            <a:r>
              <a:rPr lang="en-US" sz="1400" b="1" dirty="0">
                <a:solidFill>
                  <a:srgbClr val="1F2A56"/>
                </a:solidFill>
                <a:latin typeface="Verdana" pitchFamily="34" charset="0"/>
                <a:ea typeface="Verdana" pitchFamily="34" charset="-122"/>
                <a:cs typeface="Verdana" pitchFamily="34" charset="-120"/>
              </a:rPr>
              <a:t>Standard NLP</a:t>
            </a:r>
            <a:endParaRPr lang="en-US" sz="1400" dirty="0"/>
          </a:p>
        </p:txBody>
      </p:sp>
      <p:sp>
        <p:nvSpPr>
          <p:cNvPr id="8" name="Text 6"/>
          <p:cNvSpPr/>
          <p:nvPr/>
        </p:nvSpPr>
        <p:spPr>
          <a:xfrm>
            <a:off x="660350" y="2130177"/>
            <a:ext cx="2349026" cy="152400"/>
          </a:xfrm>
          <a:prstGeom prst="rect">
            <a:avLst/>
          </a:prstGeom>
          <a:noFill/>
          <a:ln/>
        </p:spPr>
        <p:txBody>
          <a:bodyPr wrap="square" lIns="0" tIns="0" rIns="0" bIns="0" rtlCol="0" anchor="t"/>
          <a:lstStyle/>
          <a:p>
            <a:pPr marL="0" indent="0" algn="l">
              <a:spcAft>
                <a:spcPts val="800"/>
              </a:spcAft>
              <a:buNone/>
            </a:pPr>
            <a:r>
              <a:rPr lang="en-US" sz="1000" dirty="0">
                <a:solidFill>
                  <a:srgbClr val="1F2A56"/>
                </a:solidFill>
                <a:latin typeface="Verdana" pitchFamily="34" charset="0"/>
                <a:ea typeface="Verdana" pitchFamily="34" charset="-122"/>
                <a:cs typeface="Verdana" pitchFamily="34" charset="-120"/>
              </a:rPr>
              <a:t>Deterministic, rule-locked</a:t>
            </a:r>
            <a:endParaRPr lang="en-US" sz="1000" dirty="0"/>
          </a:p>
        </p:txBody>
      </p:sp>
      <p:sp>
        <p:nvSpPr>
          <p:cNvPr id="9" name="Text 7"/>
          <p:cNvSpPr/>
          <p:nvPr/>
        </p:nvSpPr>
        <p:spPr>
          <a:xfrm>
            <a:off x="660350" y="2384078"/>
            <a:ext cx="2302966" cy="74295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Regulated and audited flows</a:t>
            </a:r>
            <a:endParaRPr lang="en-US" sz="1100" dirty="0"/>
          </a:p>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Fixed intent set</a:t>
            </a:r>
            <a:endParaRPr lang="en-US" sz="1100" dirty="0"/>
          </a:p>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Reproducible outcomes</a:t>
            </a:r>
            <a:endParaRPr lang="en-US" sz="1100" dirty="0"/>
          </a:p>
        </p:txBody>
      </p:sp>
      <p:sp>
        <p:nvSpPr>
          <p:cNvPr id="10" name="Text 8"/>
          <p:cNvSpPr/>
          <p:nvPr/>
        </p:nvSpPr>
        <p:spPr>
          <a:xfrm>
            <a:off x="660350" y="4108698"/>
            <a:ext cx="2349026" cy="219075"/>
          </a:xfrm>
          <a:prstGeom prst="rect">
            <a:avLst/>
          </a:prstGeom>
          <a:noFill/>
          <a:ln/>
        </p:spPr>
        <p:txBody>
          <a:bodyPr wrap="square" lIns="0" tIns="76200" rIns="0" bIns="0" rtlCol="0" anchor="t"/>
          <a:lstStyle/>
          <a:p>
            <a:pPr marL="0" indent="0" algn="l">
              <a:spcBef>
                <a:spcPts val="6930"/>
              </a:spcBef>
              <a:spcAft>
                <a:spcPts val="900"/>
              </a:spcAft>
              <a:buNone/>
            </a:pPr>
            <a:r>
              <a:rPr lang="en-US" sz="900" b="1" dirty="0">
                <a:solidFill>
                  <a:srgbClr val="1F2A56"/>
                </a:solidFill>
                <a:latin typeface="Verdana" pitchFamily="34" charset="0"/>
                <a:ea typeface="Verdana" pitchFamily="34" charset="-122"/>
                <a:cs typeface="Verdana" pitchFamily="34" charset="-120"/>
              </a:rPr>
              <a:t>VERB: rigid, prescribed</a:t>
            </a:r>
            <a:endParaRPr lang="en-US" sz="900" dirty="0"/>
          </a:p>
        </p:txBody>
      </p:sp>
      <p:sp>
        <p:nvSpPr>
          <p:cNvPr id="11" name="Text 9"/>
          <p:cNvSpPr/>
          <p:nvPr/>
        </p:nvSpPr>
        <p:spPr>
          <a:xfrm>
            <a:off x="3268117" y="1625501"/>
            <a:ext cx="2607766" cy="2994273"/>
          </a:xfrm>
          <a:prstGeom prst="rect">
            <a:avLst/>
          </a:prstGeom>
          <a:solidFill>
            <a:srgbClr val="FFF4EE"/>
          </a:solidFill>
          <a:ln/>
        </p:spPr>
        <p:txBody>
          <a:bodyPr wrap="square" rtlCol="0" anchor="ctr"/>
          <a:lstStyle/>
          <a:p>
            <a:pPr marL="0" indent="0">
              <a:buNone/>
            </a:pPr>
            <a:endParaRPr lang="en-US" dirty="0"/>
          </a:p>
        </p:txBody>
      </p:sp>
      <p:sp>
        <p:nvSpPr>
          <p:cNvPr id="12" name="Shape 10"/>
          <p:cNvSpPr/>
          <p:nvPr/>
        </p:nvSpPr>
        <p:spPr>
          <a:xfrm>
            <a:off x="3268117" y="1654076"/>
            <a:ext cx="2607766" cy="0"/>
          </a:xfrm>
          <a:prstGeom prst="line">
            <a:avLst/>
          </a:prstGeom>
          <a:noFill/>
          <a:ln w="57150">
            <a:solidFill>
              <a:srgbClr val="F4845F"/>
            </a:solidFill>
            <a:prstDash val="solid"/>
          </a:ln>
        </p:spPr>
        <p:txBody>
          <a:bodyPr/>
          <a:lstStyle/>
          <a:p>
            <a:endParaRPr lang="en-US"/>
          </a:p>
        </p:txBody>
      </p:sp>
      <p:sp>
        <p:nvSpPr>
          <p:cNvPr id="13" name="Text 11"/>
          <p:cNvSpPr/>
          <p:nvPr/>
        </p:nvSpPr>
        <p:spPr>
          <a:xfrm>
            <a:off x="3420517" y="1860352"/>
            <a:ext cx="2349026" cy="219075"/>
          </a:xfrm>
          <a:prstGeom prst="rect">
            <a:avLst/>
          </a:prstGeom>
          <a:noFill/>
          <a:ln/>
        </p:spPr>
        <p:txBody>
          <a:bodyPr wrap="square" lIns="0" tIns="0" rIns="0" bIns="0" rtlCol="0" anchor="t"/>
          <a:lstStyle/>
          <a:p>
            <a:pPr marL="0" indent="0" algn="l">
              <a:spcAft>
                <a:spcPts val="400"/>
              </a:spcAft>
              <a:buNone/>
            </a:pPr>
            <a:r>
              <a:rPr lang="en-US" sz="1400" b="1" dirty="0">
                <a:solidFill>
                  <a:srgbClr val="1F2A56"/>
                </a:solidFill>
                <a:latin typeface="Verdana" pitchFamily="34" charset="0"/>
                <a:ea typeface="Verdana" pitchFamily="34" charset="-122"/>
                <a:cs typeface="Verdana" pitchFamily="34" charset="-120"/>
              </a:rPr>
              <a:t>Azure CLU</a:t>
            </a:r>
            <a:endParaRPr lang="en-US" sz="1400" dirty="0"/>
          </a:p>
        </p:txBody>
      </p:sp>
      <p:sp>
        <p:nvSpPr>
          <p:cNvPr id="14" name="Text 12"/>
          <p:cNvSpPr/>
          <p:nvPr/>
        </p:nvSpPr>
        <p:spPr>
          <a:xfrm>
            <a:off x="3420517" y="2130177"/>
            <a:ext cx="2349026" cy="152400"/>
          </a:xfrm>
          <a:prstGeom prst="rect">
            <a:avLst/>
          </a:prstGeom>
          <a:noFill/>
          <a:ln/>
        </p:spPr>
        <p:txBody>
          <a:bodyPr wrap="square" lIns="0" tIns="0" rIns="0" bIns="0" rtlCol="0" anchor="t"/>
          <a:lstStyle/>
          <a:p>
            <a:pPr marL="0" indent="0" algn="l">
              <a:spcAft>
                <a:spcPts val="800"/>
              </a:spcAft>
              <a:buNone/>
            </a:pPr>
            <a:r>
              <a:rPr lang="en-US" sz="1000" dirty="0">
                <a:solidFill>
                  <a:srgbClr val="1F2A56"/>
                </a:solidFill>
                <a:latin typeface="Verdana" pitchFamily="34" charset="0"/>
                <a:ea typeface="Verdana" pitchFamily="34" charset="-122"/>
                <a:cs typeface="Verdana" pitchFamily="34" charset="-120"/>
              </a:rPr>
              <a:t>Trainable, varied phrasing</a:t>
            </a:r>
            <a:endParaRPr lang="en-US" sz="1000" dirty="0"/>
          </a:p>
        </p:txBody>
      </p:sp>
      <p:sp>
        <p:nvSpPr>
          <p:cNvPr id="15" name="Text 13"/>
          <p:cNvSpPr/>
          <p:nvPr/>
        </p:nvSpPr>
        <p:spPr>
          <a:xfrm>
            <a:off x="3420517" y="2384078"/>
            <a:ext cx="2302966" cy="116205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Known topics, many ways to ask</a:t>
            </a:r>
            <a:endParaRPr lang="en-US" sz="1100" dirty="0"/>
          </a:p>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Slot filling and entity extraction</a:t>
            </a:r>
            <a:endParaRPr lang="en-US" sz="1100" dirty="0"/>
          </a:p>
          <a:p>
            <a:pPr marL="101600" indent="-101600" algn="l">
              <a:lnSpc>
                <a:spcPts val="165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Trained models per language</a:t>
            </a:r>
            <a:endParaRPr lang="en-US" sz="1100" dirty="0"/>
          </a:p>
        </p:txBody>
      </p:sp>
      <p:sp>
        <p:nvSpPr>
          <p:cNvPr id="16" name="Text 14"/>
          <p:cNvSpPr/>
          <p:nvPr/>
        </p:nvSpPr>
        <p:spPr>
          <a:xfrm>
            <a:off x="3420517" y="4108698"/>
            <a:ext cx="2349026" cy="219075"/>
          </a:xfrm>
          <a:prstGeom prst="rect">
            <a:avLst/>
          </a:prstGeom>
          <a:noFill/>
          <a:ln/>
        </p:spPr>
        <p:txBody>
          <a:bodyPr wrap="square" lIns="0" tIns="76200" rIns="0" bIns="0" rtlCol="0" anchor="t"/>
          <a:lstStyle/>
          <a:p>
            <a:pPr marL="0" indent="0" algn="l">
              <a:spcBef>
                <a:spcPts val="3630"/>
              </a:spcBef>
              <a:spcAft>
                <a:spcPts val="900"/>
              </a:spcAft>
              <a:buNone/>
            </a:pPr>
            <a:r>
              <a:rPr lang="en-US" sz="900" b="1" dirty="0">
                <a:solidFill>
                  <a:srgbClr val="1F2A56"/>
                </a:solidFill>
                <a:latin typeface="Verdana" pitchFamily="34" charset="0"/>
                <a:ea typeface="Verdana" pitchFamily="34" charset="-122"/>
                <a:cs typeface="Verdana" pitchFamily="34" charset="-120"/>
              </a:rPr>
              <a:t>VERB: varied, trainable</a:t>
            </a:r>
            <a:endParaRPr lang="en-US" sz="900" dirty="0"/>
          </a:p>
        </p:txBody>
      </p:sp>
      <p:sp>
        <p:nvSpPr>
          <p:cNvPr id="17" name="Text 15"/>
          <p:cNvSpPr/>
          <p:nvPr/>
        </p:nvSpPr>
        <p:spPr>
          <a:xfrm>
            <a:off x="6028283" y="1625501"/>
            <a:ext cx="2607766" cy="2994273"/>
          </a:xfrm>
          <a:prstGeom prst="rect">
            <a:avLst/>
          </a:prstGeom>
          <a:solidFill>
            <a:srgbClr val="1F2A56"/>
          </a:solidFill>
          <a:ln/>
        </p:spPr>
        <p:txBody>
          <a:bodyPr wrap="square" rtlCol="0" anchor="ctr"/>
          <a:lstStyle/>
          <a:p>
            <a:pPr marL="0" indent="0">
              <a:buNone/>
            </a:pPr>
            <a:endParaRPr lang="en-US" dirty="0"/>
          </a:p>
        </p:txBody>
      </p:sp>
      <p:sp>
        <p:nvSpPr>
          <p:cNvPr id="18" name="Shape 16"/>
          <p:cNvSpPr/>
          <p:nvPr/>
        </p:nvSpPr>
        <p:spPr>
          <a:xfrm>
            <a:off x="6028283" y="1654076"/>
            <a:ext cx="2607766" cy="0"/>
          </a:xfrm>
          <a:prstGeom prst="line">
            <a:avLst/>
          </a:prstGeom>
          <a:noFill/>
          <a:ln w="57150">
            <a:solidFill>
              <a:srgbClr val="FFFFFF"/>
            </a:solidFill>
            <a:prstDash val="solid"/>
          </a:ln>
        </p:spPr>
        <p:txBody>
          <a:bodyPr/>
          <a:lstStyle/>
          <a:p>
            <a:endParaRPr lang="en-US"/>
          </a:p>
        </p:txBody>
      </p:sp>
      <p:sp>
        <p:nvSpPr>
          <p:cNvPr id="19" name="Text 17"/>
          <p:cNvSpPr/>
          <p:nvPr/>
        </p:nvSpPr>
        <p:spPr>
          <a:xfrm>
            <a:off x="6180683" y="1860352"/>
            <a:ext cx="2349026" cy="438150"/>
          </a:xfrm>
          <a:prstGeom prst="rect">
            <a:avLst/>
          </a:prstGeom>
          <a:noFill/>
          <a:ln/>
        </p:spPr>
        <p:txBody>
          <a:bodyPr wrap="square" lIns="0" tIns="0" rIns="0" bIns="0" rtlCol="0" anchor="t"/>
          <a:lstStyle/>
          <a:p>
            <a:pPr marL="0" indent="0" algn="l">
              <a:spcAft>
                <a:spcPts val="400"/>
              </a:spcAft>
              <a:buNone/>
            </a:pPr>
            <a:r>
              <a:rPr lang="en-US" sz="1400" b="1" dirty="0">
                <a:solidFill>
                  <a:srgbClr val="FFFFFF"/>
                </a:solidFill>
                <a:latin typeface="Verdana" pitchFamily="34" charset="0"/>
                <a:ea typeface="Verdana" pitchFamily="34" charset="-122"/>
                <a:cs typeface="Verdana" pitchFamily="34" charset="-120"/>
              </a:rPr>
              <a:t>Generative orchestration</a:t>
            </a:r>
            <a:endParaRPr lang="en-US" sz="1400" dirty="0"/>
          </a:p>
        </p:txBody>
      </p:sp>
      <p:sp>
        <p:nvSpPr>
          <p:cNvPr id="20" name="Text 18"/>
          <p:cNvSpPr/>
          <p:nvPr/>
        </p:nvSpPr>
        <p:spPr>
          <a:xfrm>
            <a:off x="6180683" y="2349252"/>
            <a:ext cx="2349026" cy="152400"/>
          </a:xfrm>
          <a:prstGeom prst="rect">
            <a:avLst/>
          </a:prstGeom>
          <a:noFill/>
          <a:ln/>
        </p:spPr>
        <p:txBody>
          <a:bodyPr wrap="square" lIns="0" tIns="0" rIns="0" bIns="0" rtlCol="0" anchor="t"/>
          <a:lstStyle/>
          <a:p>
            <a:pPr marL="0" indent="0" algn="l">
              <a:spcAft>
                <a:spcPts val="800"/>
              </a:spcAft>
              <a:buNone/>
            </a:pPr>
            <a:r>
              <a:rPr lang="en-US" sz="1000" dirty="0">
                <a:solidFill>
                  <a:srgbClr val="00B4D8"/>
                </a:solidFill>
                <a:latin typeface="Verdana" pitchFamily="34" charset="0"/>
                <a:ea typeface="Verdana" pitchFamily="34" charset="-122"/>
                <a:cs typeface="Verdana" pitchFamily="34" charset="-120"/>
              </a:rPr>
              <a:t>Open-ended, knowledge-grounded</a:t>
            </a:r>
            <a:endParaRPr lang="en-US" sz="1000" dirty="0"/>
          </a:p>
        </p:txBody>
      </p:sp>
      <p:sp>
        <p:nvSpPr>
          <p:cNvPr id="21" name="Text 19"/>
          <p:cNvSpPr/>
          <p:nvPr/>
        </p:nvSpPr>
        <p:spPr>
          <a:xfrm>
            <a:off x="6180683" y="2603153"/>
            <a:ext cx="2302966" cy="95250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FFFFFF"/>
                </a:solidFill>
                <a:latin typeface="Verdana" pitchFamily="34" charset="0"/>
                <a:ea typeface="Verdana" pitchFamily="34" charset="-122"/>
                <a:cs typeface="Verdana" pitchFamily="34" charset="-120"/>
              </a:rPr>
              <a:t>Multi-turn conversation</a:t>
            </a:r>
            <a:endParaRPr lang="en-US" sz="1100" dirty="0"/>
          </a:p>
          <a:p>
            <a:pPr marL="101600" indent="-101600" algn="l">
              <a:lnSpc>
                <a:spcPts val="1650"/>
              </a:lnSpc>
              <a:spcAft>
                <a:spcPts val="300"/>
              </a:spcAft>
              <a:buSzPct val="100000"/>
              <a:buChar char="•"/>
            </a:pPr>
            <a:r>
              <a:rPr lang="en-US" sz="1100" dirty="0">
                <a:solidFill>
                  <a:srgbClr val="FFFFFF"/>
                </a:solidFill>
                <a:latin typeface="Verdana" pitchFamily="34" charset="0"/>
                <a:ea typeface="Verdana" pitchFamily="34" charset="-122"/>
                <a:cs typeface="Verdana" pitchFamily="34" charset="-120"/>
              </a:rPr>
              <a:t>Reasoning across knowledge</a:t>
            </a:r>
            <a:endParaRPr lang="en-US" sz="1100" dirty="0"/>
          </a:p>
          <a:p>
            <a:pPr marL="101600" indent="-101600" algn="l">
              <a:lnSpc>
                <a:spcPts val="1650"/>
              </a:lnSpc>
              <a:spcAft>
                <a:spcPts val="300"/>
              </a:spcAft>
              <a:buSzPct val="100000"/>
              <a:buChar char="•"/>
            </a:pPr>
            <a:r>
              <a:rPr lang="en-US" sz="1100" dirty="0">
                <a:solidFill>
                  <a:srgbClr val="FFFFFF"/>
                </a:solidFill>
                <a:latin typeface="Verdana" pitchFamily="34" charset="0"/>
                <a:ea typeface="Verdana" pitchFamily="34" charset="-122"/>
                <a:cs typeface="Verdana" pitchFamily="34" charset="-120"/>
              </a:rPr>
              <a:t>Topic + agent flow + prompt action</a:t>
            </a:r>
            <a:endParaRPr lang="en-US" sz="1100" dirty="0"/>
          </a:p>
        </p:txBody>
      </p:sp>
      <p:sp>
        <p:nvSpPr>
          <p:cNvPr id="22" name="Text 20"/>
          <p:cNvSpPr/>
          <p:nvPr/>
        </p:nvSpPr>
        <p:spPr>
          <a:xfrm>
            <a:off x="6180683" y="4108698"/>
            <a:ext cx="2349026" cy="219075"/>
          </a:xfrm>
          <a:prstGeom prst="rect">
            <a:avLst/>
          </a:prstGeom>
          <a:noFill/>
          <a:ln/>
        </p:spPr>
        <p:txBody>
          <a:bodyPr wrap="square" lIns="0" tIns="76200" rIns="0" bIns="0" rtlCol="0" anchor="t"/>
          <a:lstStyle/>
          <a:p>
            <a:pPr marL="0" indent="0" algn="l">
              <a:spcBef>
                <a:spcPts val="3555"/>
              </a:spcBef>
              <a:spcAft>
                <a:spcPts val="900"/>
              </a:spcAft>
              <a:buNone/>
            </a:pPr>
            <a:r>
              <a:rPr lang="en-US" sz="900" b="1" dirty="0">
                <a:solidFill>
                  <a:srgbClr val="00B4D8"/>
                </a:solidFill>
                <a:latin typeface="Verdana" pitchFamily="34" charset="0"/>
                <a:ea typeface="Verdana" pitchFamily="34" charset="-122"/>
                <a:cs typeface="Verdana" pitchFamily="34" charset="-120"/>
              </a:rPr>
              <a:t>VERB: open-ended, grounded</a:t>
            </a:r>
            <a:endParaRPr lang="en-US" sz="900" dirty="0"/>
          </a:p>
        </p:txBody>
      </p:sp>
      <p:sp>
        <p:nvSpPr>
          <p:cNvPr id="23" name="Text 21"/>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2.2</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Extensibility -- MCP, A2A, custom models</a:t>
            </a:r>
            <a:endParaRPr lang="en-US" sz="2200" dirty="0"/>
          </a:p>
        </p:txBody>
      </p:sp>
      <p:sp>
        <p:nvSpPr>
          <p:cNvPr id="5" name="Text 3"/>
          <p:cNvSpPr/>
          <p:nvPr/>
        </p:nvSpPr>
        <p:spPr>
          <a:xfrm>
            <a:off x="507950" y="1292126"/>
            <a:ext cx="4002786" cy="219075"/>
          </a:xfrm>
          <a:prstGeom prst="rect">
            <a:avLst/>
          </a:prstGeom>
          <a:noFill/>
          <a:ln/>
        </p:spPr>
        <p:txBody>
          <a:bodyPr wrap="square" lIns="0" tIns="0" rIns="0" bIns="0" rtlCol="0" anchor="t"/>
          <a:lstStyle/>
          <a:p>
            <a:pPr marL="0" indent="0" algn="l">
              <a:spcAft>
                <a:spcPts val="1200"/>
              </a:spcAft>
              <a:buNone/>
            </a:pPr>
            <a:r>
              <a:rPr lang="en-US" sz="1400" b="1" dirty="0">
                <a:solidFill>
                  <a:srgbClr val="1F2A56"/>
                </a:solidFill>
                <a:latin typeface="Verdana" pitchFamily="34" charset="0"/>
                <a:ea typeface="Verdana" pitchFamily="34" charset="-122"/>
                <a:cs typeface="Verdana" pitchFamily="34" charset="-120"/>
              </a:rPr>
              <a:t>Open protocols</a:t>
            </a:r>
            <a:endParaRPr lang="en-US" sz="1400" dirty="0"/>
          </a:p>
        </p:txBody>
      </p:sp>
      <p:sp>
        <p:nvSpPr>
          <p:cNvPr id="6" name="Text 4"/>
          <p:cNvSpPr/>
          <p:nvPr/>
        </p:nvSpPr>
        <p:spPr>
          <a:xfrm>
            <a:off x="507950" y="1663601"/>
            <a:ext cx="1911400" cy="767953"/>
          </a:xfrm>
          <a:prstGeom prst="rect">
            <a:avLst/>
          </a:prstGeom>
          <a:solidFill>
            <a:srgbClr val="E9ECF2"/>
          </a:solidFill>
          <a:ln/>
        </p:spPr>
        <p:txBody>
          <a:bodyPr wrap="square" rtlCol="0" anchor="ctr"/>
          <a:lstStyle/>
          <a:p>
            <a:pPr marL="0" indent="0">
              <a:buNone/>
            </a:pPr>
            <a:endParaRPr lang="en-US" dirty="0"/>
          </a:p>
        </p:txBody>
      </p:sp>
      <p:sp>
        <p:nvSpPr>
          <p:cNvPr id="7" name="Shape 5"/>
          <p:cNvSpPr/>
          <p:nvPr/>
        </p:nvSpPr>
        <p:spPr>
          <a:xfrm>
            <a:off x="531763" y="1663601"/>
            <a:ext cx="0" cy="767953"/>
          </a:xfrm>
          <a:prstGeom prst="line">
            <a:avLst/>
          </a:prstGeom>
          <a:noFill/>
          <a:ln w="47625">
            <a:solidFill>
              <a:srgbClr val="00B4D8"/>
            </a:solidFill>
            <a:prstDash val="solid"/>
          </a:ln>
        </p:spPr>
        <p:txBody>
          <a:bodyPr/>
          <a:lstStyle/>
          <a:p>
            <a:endParaRPr lang="en-US"/>
          </a:p>
        </p:txBody>
      </p:sp>
      <p:sp>
        <p:nvSpPr>
          <p:cNvPr id="8" name="Text 6"/>
          <p:cNvSpPr/>
          <p:nvPr/>
        </p:nvSpPr>
        <p:spPr>
          <a:xfrm>
            <a:off x="682526" y="1765102"/>
            <a:ext cx="1642071" cy="171450"/>
          </a:xfrm>
          <a:prstGeom prst="rect">
            <a:avLst/>
          </a:prstGeom>
          <a:noFill/>
          <a:ln/>
        </p:spPr>
        <p:txBody>
          <a:bodyPr wrap="square" lIns="0" tIns="0" rIns="0" bIns="0" rtlCol="0" anchor="t"/>
          <a:lstStyle/>
          <a:p>
            <a:pPr marL="0" indent="0" algn="l">
              <a:spcAft>
                <a:spcPts val="300"/>
              </a:spcAft>
              <a:buNone/>
            </a:pPr>
            <a:r>
              <a:rPr lang="en-US" sz="1100" b="1" dirty="0">
                <a:solidFill>
                  <a:srgbClr val="1F2A56"/>
                </a:solidFill>
                <a:latin typeface="Verdana" pitchFamily="34" charset="0"/>
                <a:ea typeface="Verdana" pitchFamily="34" charset="-122"/>
                <a:cs typeface="Verdana" pitchFamily="34" charset="-120"/>
              </a:rPr>
              <a:t>MCP</a:t>
            </a:r>
            <a:endParaRPr lang="en-US" sz="1100" dirty="0"/>
          </a:p>
        </p:txBody>
      </p:sp>
      <p:sp>
        <p:nvSpPr>
          <p:cNvPr id="9" name="Text 7"/>
          <p:cNvSpPr/>
          <p:nvPr/>
        </p:nvSpPr>
        <p:spPr>
          <a:xfrm>
            <a:off x="682526" y="1974652"/>
            <a:ext cx="1642071" cy="3554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Model Context Protocol -- tools and resources</a:t>
            </a:r>
            <a:endParaRPr lang="en-US" sz="1000" dirty="0"/>
          </a:p>
        </p:txBody>
      </p:sp>
      <p:sp>
        <p:nvSpPr>
          <p:cNvPr id="10" name="Text 8"/>
          <p:cNvSpPr/>
          <p:nvPr/>
        </p:nvSpPr>
        <p:spPr>
          <a:xfrm>
            <a:off x="2520851" y="1663601"/>
            <a:ext cx="1911400" cy="767953"/>
          </a:xfrm>
          <a:prstGeom prst="rect">
            <a:avLst/>
          </a:prstGeom>
          <a:solidFill>
            <a:srgbClr val="E9ECF2"/>
          </a:solidFill>
          <a:ln/>
        </p:spPr>
        <p:txBody>
          <a:bodyPr wrap="square" rtlCol="0" anchor="ctr"/>
          <a:lstStyle/>
          <a:p>
            <a:pPr marL="0" indent="0">
              <a:buNone/>
            </a:pPr>
            <a:endParaRPr lang="en-US" dirty="0"/>
          </a:p>
        </p:txBody>
      </p:sp>
      <p:sp>
        <p:nvSpPr>
          <p:cNvPr id="11" name="Shape 9"/>
          <p:cNvSpPr/>
          <p:nvPr/>
        </p:nvSpPr>
        <p:spPr>
          <a:xfrm>
            <a:off x="2544663" y="1663601"/>
            <a:ext cx="0" cy="767953"/>
          </a:xfrm>
          <a:prstGeom prst="line">
            <a:avLst/>
          </a:prstGeom>
          <a:noFill/>
          <a:ln w="47625">
            <a:solidFill>
              <a:srgbClr val="F4845F"/>
            </a:solidFill>
            <a:prstDash val="solid"/>
          </a:ln>
        </p:spPr>
        <p:txBody>
          <a:bodyPr/>
          <a:lstStyle/>
          <a:p>
            <a:endParaRPr lang="en-US"/>
          </a:p>
        </p:txBody>
      </p:sp>
      <p:sp>
        <p:nvSpPr>
          <p:cNvPr id="12" name="Text 10"/>
          <p:cNvSpPr/>
          <p:nvPr/>
        </p:nvSpPr>
        <p:spPr>
          <a:xfrm>
            <a:off x="2695426" y="1765102"/>
            <a:ext cx="1642071" cy="171450"/>
          </a:xfrm>
          <a:prstGeom prst="rect">
            <a:avLst/>
          </a:prstGeom>
          <a:noFill/>
          <a:ln/>
        </p:spPr>
        <p:txBody>
          <a:bodyPr wrap="square" lIns="0" tIns="0" rIns="0" bIns="0" rtlCol="0" anchor="t"/>
          <a:lstStyle/>
          <a:p>
            <a:pPr marL="0" indent="0" algn="l">
              <a:spcAft>
                <a:spcPts val="300"/>
              </a:spcAft>
              <a:buNone/>
            </a:pPr>
            <a:r>
              <a:rPr lang="en-US" sz="1100" b="1" dirty="0">
                <a:solidFill>
                  <a:srgbClr val="1F2A56"/>
                </a:solidFill>
                <a:latin typeface="Verdana" pitchFamily="34" charset="0"/>
                <a:ea typeface="Verdana" pitchFamily="34" charset="-122"/>
                <a:cs typeface="Verdana" pitchFamily="34" charset="-120"/>
              </a:rPr>
              <a:t>A2A</a:t>
            </a:r>
            <a:endParaRPr lang="en-US" sz="1100" dirty="0"/>
          </a:p>
        </p:txBody>
      </p:sp>
      <p:sp>
        <p:nvSpPr>
          <p:cNvPr id="13" name="Text 11"/>
          <p:cNvSpPr/>
          <p:nvPr/>
        </p:nvSpPr>
        <p:spPr>
          <a:xfrm>
            <a:off x="2695426" y="1974652"/>
            <a:ext cx="1642071" cy="3554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Agent2Agent -- cross-agent calls</a:t>
            </a:r>
            <a:endParaRPr lang="en-US" sz="1000" dirty="0"/>
          </a:p>
        </p:txBody>
      </p:sp>
      <p:sp>
        <p:nvSpPr>
          <p:cNvPr id="14" name="Text 12"/>
          <p:cNvSpPr/>
          <p:nvPr/>
        </p:nvSpPr>
        <p:spPr>
          <a:xfrm>
            <a:off x="507950" y="2533055"/>
            <a:ext cx="1911400" cy="590252"/>
          </a:xfrm>
          <a:prstGeom prst="rect">
            <a:avLst/>
          </a:prstGeom>
          <a:solidFill>
            <a:srgbClr val="E9ECF2"/>
          </a:solidFill>
          <a:ln/>
        </p:spPr>
        <p:txBody>
          <a:bodyPr wrap="square" rtlCol="0" anchor="ctr"/>
          <a:lstStyle/>
          <a:p>
            <a:pPr marL="0" indent="0">
              <a:buNone/>
            </a:pPr>
            <a:endParaRPr lang="en-US" dirty="0"/>
          </a:p>
        </p:txBody>
      </p:sp>
      <p:sp>
        <p:nvSpPr>
          <p:cNvPr id="15" name="Shape 13"/>
          <p:cNvSpPr/>
          <p:nvPr/>
        </p:nvSpPr>
        <p:spPr>
          <a:xfrm>
            <a:off x="531763" y="2533055"/>
            <a:ext cx="0" cy="590252"/>
          </a:xfrm>
          <a:prstGeom prst="line">
            <a:avLst/>
          </a:prstGeom>
          <a:noFill/>
          <a:ln w="47625">
            <a:solidFill>
              <a:srgbClr val="00B4D8"/>
            </a:solidFill>
            <a:prstDash val="solid"/>
          </a:ln>
        </p:spPr>
        <p:txBody>
          <a:bodyPr/>
          <a:lstStyle/>
          <a:p>
            <a:endParaRPr lang="en-US"/>
          </a:p>
        </p:txBody>
      </p:sp>
      <p:sp>
        <p:nvSpPr>
          <p:cNvPr id="16" name="Text 14"/>
          <p:cNvSpPr/>
          <p:nvPr/>
        </p:nvSpPr>
        <p:spPr>
          <a:xfrm>
            <a:off x="682526" y="2634555"/>
            <a:ext cx="1642071" cy="171450"/>
          </a:xfrm>
          <a:prstGeom prst="rect">
            <a:avLst/>
          </a:prstGeom>
          <a:noFill/>
          <a:ln/>
        </p:spPr>
        <p:txBody>
          <a:bodyPr wrap="square" lIns="0" tIns="0" rIns="0" bIns="0" rtlCol="0" anchor="t"/>
          <a:lstStyle/>
          <a:p>
            <a:pPr marL="0" indent="0" algn="l">
              <a:spcAft>
                <a:spcPts val="300"/>
              </a:spcAft>
              <a:buNone/>
            </a:pPr>
            <a:r>
              <a:rPr lang="en-US" sz="1100" b="1" dirty="0">
                <a:solidFill>
                  <a:srgbClr val="1F2A56"/>
                </a:solidFill>
                <a:latin typeface="Verdana" pitchFamily="34" charset="0"/>
                <a:ea typeface="Verdana" pitchFamily="34" charset="-122"/>
                <a:cs typeface="Verdana" pitchFamily="34" charset="-120"/>
              </a:rPr>
              <a:t>OpenAPI</a:t>
            </a:r>
            <a:endParaRPr lang="en-US" sz="1100" dirty="0"/>
          </a:p>
        </p:txBody>
      </p:sp>
      <p:sp>
        <p:nvSpPr>
          <p:cNvPr id="17" name="Text 15"/>
          <p:cNvSpPr/>
          <p:nvPr/>
        </p:nvSpPr>
        <p:spPr>
          <a:xfrm>
            <a:off x="682526" y="2844105"/>
            <a:ext cx="1642071" cy="177701"/>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HTTP API tools</a:t>
            </a:r>
            <a:endParaRPr lang="en-US" sz="1000" dirty="0"/>
          </a:p>
        </p:txBody>
      </p:sp>
      <p:sp>
        <p:nvSpPr>
          <p:cNvPr id="18" name="Text 16"/>
          <p:cNvSpPr/>
          <p:nvPr/>
        </p:nvSpPr>
        <p:spPr>
          <a:xfrm>
            <a:off x="2520851" y="2533055"/>
            <a:ext cx="1911400" cy="590252"/>
          </a:xfrm>
          <a:prstGeom prst="rect">
            <a:avLst/>
          </a:prstGeom>
          <a:solidFill>
            <a:srgbClr val="E9ECF2"/>
          </a:solidFill>
          <a:ln/>
        </p:spPr>
        <p:txBody>
          <a:bodyPr wrap="square" rtlCol="0" anchor="ctr"/>
          <a:lstStyle/>
          <a:p>
            <a:pPr marL="0" indent="0">
              <a:buNone/>
            </a:pPr>
            <a:endParaRPr lang="en-US" dirty="0"/>
          </a:p>
        </p:txBody>
      </p:sp>
      <p:sp>
        <p:nvSpPr>
          <p:cNvPr id="19" name="Shape 17"/>
          <p:cNvSpPr/>
          <p:nvPr/>
        </p:nvSpPr>
        <p:spPr>
          <a:xfrm>
            <a:off x="2544663" y="2533055"/>
            <a:ext cx="0" cy="590252"/>
          </a:xfrm>
          <a:prstGeom prst="line">
            <a:avLst/>
          </a:prstGeom>
          <a:noFill/>
          <a:ln w="47625">
            <a:solidFill>
              <a:srgbClr val="F4845F"/>
            </a:solidFill>
            <a:prstDash val="solid"/>
          </a:ln>
        </p:spPr>
        <p:txBody>
          <a:bodyPr/>
          <a:lstStyle/>
          <a:p>
            <a:endParaRPr lang="en-US"/>
          </a:p>
        </p:txBody>
      </p:sp>
      <p:sp>
        <p:nvSpPr>
          <p:cNvPr id="20" name="Text 18"/>
          <p:cNvSpPr/>
          <p:nvPr/>
        </p:nvSpPr>
        <p:spPr>
          <a:xfrm>
            <a:off x="2695426" y="2634555"/>
            <a:ext cx="1642071" cy="171450"/>
          </a:xfrm>
          <a:prstGeom prst="rect">
            <a:avLst/>
          </a:prstGeom>
          <a:noFill/>
          <a:ln/>
        </p:spPr>
        <p:txBody>
          <a:bodyPr wrap="square" lIns="0" tIns="0" rIns="0" bIns="0" rtlCol="0" anchor="t"/>
          <a:lstStyle/>
          <a:p>
            <a:pPr marL="0" indent="0" algn="l">
              <a:spcAft>
                <a:spcPts val="300"/>
              </a:spcAft>
              <a:buNone/>
            </a:pPr>
            <a:r>
              <a:rPr lang="en-US" sz="1100" b="1" dirty="0">
                <a:solidFill>
                  <a:srgbClr val="1F2A56"/>
                </a:solidFill>
                <a:latin typeface="Verdana" pitchFamily="34" charset="0"/>
                <a:ea typeface="Verdana" pitchFamily="34" charset="-122"/>
                <a:cs typeface="Verdana" pitchFamily="34" charset="-120"/>
              </a:rPr>
              <a:t>Toolbox</a:t>
            </a:r>
            <a:endParaRPr lang="en-US" sz="1100" dirty="0"/>
          </a:p>
        </p:txBody>
      </p:sp>
      <p:sp>
        <p:nvSpPr>
          <p:cNvPr id="21" name="Text 19"/>
          <p:cNvSpPr/>
          <p:nvPr/>
        </p:nvSpPr>
        <p:spPr>
          <a:xfrm>
            <a:off x="2695426" y="2844105"/>
            <a:ext cx="1642071" cy="177701"/>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Bundled MCP endpoint</a:t>
            </a:r>
            <a:endParaRPr lang="en-US" sz="1000" dirty="0"/>
          </a:p>
        </p:txBody>
      </p:sp>
      <p:sp>
        <p:nvSpPr>
          <p:cNvPr id="22" name="Text 20"/>
          <p:cNvSpPr/>
          <p:nvPr/>
        </p:nvSpPr>
        <p:spPr>
          <a:xfrm>
            <a:off x="507950" y="3250257"/>
            <a:ext cx="3924300" cy="891480"/>
          </a:xfrm>
          <a:prstGeom prst="rect">
            <a:avLst/>
          </a:prstGeom>
          <a:solidFill>
            <a:srgbClr val="1F2A56"/>
          </a:solidFill>
          <a:ln/>
        </p:spPr>
        <p:txBody>
          <a:bodyPr wrap="square" rtlCol="0" anchor="ctr"/>
          <a:lstStyle/>
          <a:p>
            <a:pPr marL="0" indent="0">
              <a:buNone/>
            </a:pPr>
            <a:endParaRPr lang="en-US" dirty="0"/>
          </a:p>
        </p:txBody>
      </p:sp>
      <p:sp>
        <p:nvSpPr>
          <p:cNvPr id="23" name="Text 21"/>
          <p:cNvSpPr/>
          <p:nvPr/>
        </p:nvSpPr>
        <p:spPr>
          <a:xfrm>
            <a:off x="685651" y="3402657"/>
            <a:ext cx="3640276" cy="586680"/>
          </a:xfrm>
          <a:prstGeom prst="rect">
            <a:avLst/>
          </a:prstGeom>
          <a:noFill/>
          <a:ln/>
        </p:spPr>
        <p:txBody>
          <a:bodyPr wrap="square" lIns="0" tIns="0" rIns="0" bIns="0" rtlCol="0" anchor="t"/>
          <a:lstStyle/>
          <a:p>
            <a:pPr marL="0" indent="0" algn="l">
              <a:lnSpc>
                <a:spcPts val="1540"/>
              </a:lnSpc>
              <a:buNone/>
            </a:pPr>
            <a:r>
              <a:rPr lang="en-US" sz="1100" b="1" dirty="0">
                <a:solidFill>
                  <a:srgbClr val="00B4D8"/>
                </a:solidFill>
                <a:latin typeface="Verdana" pitchFamily="34" charset="0"/>
                <a:ea typeface="Verdana" pitchFamily="34" charset="-122"/>
                <a:cs typeface="Verdana" pitchFamily="34" charset="-120"/>
              </a:rPr>
              <a:t>MCP requires generative orchestration.</a:t>
            </a:r>
            <a:r>
              <a:rPr lang="en-US" sz="1100" dirty="0">
                <a:solidFill>
                  <a:srgbClr val="FFFFFF"/>
                </a:solidFill>
                <a:latin typeface="Verdana" pitchFamily="34" charset="0"/>
                <a:ea typeface="Verdana" pitchFamily="34" charset="-122"/>
                <a:cs typeface="Verdana" pitchFamily="34" charset="-120"/>
              </a:rPr>
              <a:t> Connect once on the server, reuse across agents and runtimes.</a:t>
            </a:r>
            <a:endParaRPr lang="en-US" sz="1100" dirty="0"/>
          </a:p>
        </p:txBody>
      </p:sp>
      <p:sp>
        <p:nvSpPr>
          <p:cNvPr id="24" name="Text 22"/>
          <p:cNvSpPr/>
          <p:nvPr/>
        </p:nvSpPr>
        <p:spPr>
          <a:xfrm>
            <a:off x="4711601" y="1292126"/>
            <a:ext cx="4002938" cy="219075"/>
          </a:xfrm>
          <a:prstGeom prst="rect">
            <a:avLst/>
          </a:prstGeom>
          <a:noFill/>
          <a:ln/>
        </p:spPr>
        <p:txBody>
          <a:bodyPr wrap="square" lIns="0" tIns="0" rIns="0" bIns="0" rtlCol="0" anchor="t"/>
          <a:lstStyle/>
          <a:p>
            <a:pPr marL="0" indent="0" algn="l">
              <a:spcAft>
                <a:spcPts val="1200"/>
              </a:spcAft>
              <a:buNone/>
            </a:pPr>
            <a:r>
              <a:rPr lang="en-US" sz="1400" b="1" dirty="0">
                <a:solidFill>
                  <a:srgbClr val="1F2A56"/>
                </a:solidFill>
                <a:latin typeface="Verdana" pitchFamily="34" charset="0"/>
                <a:ea typeface="Verdana" pitchFamily="34" charset="-122"/>
                <a:cs typeface="Verdana" pitchFamily="34" charset="-120"/>
              </a:rPr>
              <a:t>Behavior and reach</a:t>
            </a:r>
            <a:endParaRPr lang="en-US" sz="1400" dirty="0"/>
          </a:p>
        </p:txBody>
      </p:sp>
      <p:sp>
        <p:nvSpPr>
          <p:cNvPr id="25" name="Text 23"/>
          <p:cNvSpPr/>
          <p:nvPr/>
        </p:nvSpPr>
        <p:spPr>
          <a:xfrm>
            <a:off x="4711601" y="1663601"/>
            <a:ext cx="3924449" cy="1832818"/>
          </a:xfrm>
          <a:prstGeom prst="rect">
            <a:avLst/>
          </a:prstGeom>
          <a:noFill/>
          <a:ln/>
        </p:spPr>
        <p:txBody>
          <a:bodyPr wrap="square" lIns="101600" tIns="0" rIns="0" bIns="0" rtlCol="0" anchor="t"/>
          <a:lstStyle/>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Custom models in Microsoft Foundry</a:t>
            </a:r>
            <a:endParaRPr lang="en-US" sz="1100" dirty="0"/>
          </a:p>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Agents in Microsoft 365 Copilot</a:t>
            </a:r>
            <a:endParaRPr lang="en-US" sz="1100" dirty="0"/>
          </a:p>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Computer Use -- automate apps and websites</a:t>
            </a:r>
            <a:endParaRPr lang="en-US" sz="1100" dirty="0"/>
          </a:p>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Reasoning and voice mode behaviors</a:t>
            </a:r>
            <a:endParaRPr lang="en-US" sz="1100" dirty="0"/>
          </a:p>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Optimize across Teams and SharePoint</a:t>
            </a:r>
            <a:endParaRPr lang="en-US" sz="1100" dirty="0"/>
          </a:p>
          <a:p>
            <a:pPr marL="101600" indent="-101600" algn="l">
              <a:lnSpc>
                <a:spcPts val="1705"/>
              </a:lnSpc>
              <a:spcAft>
                <a:spcPts val="500"/>
              </a:spcAft>
              <a:buSzPct val="100000"/>
              <a:buChar char="•"/>
            </a:pPr>
            <a:r>
              <a:rPr lang="en-US" sz="1100" dirty="0">
                <a:solidFill>
                  <a:srgbClr val="1A1A2E"/>
                </a:solidFill>
                <a:latin typeface="Verdana" pitchFamily="34" charset="0"/>
                <a:ea typeface="Verdana" pitchFamily="34" charset="-122"/>
                <a:cs typeface="Verdana" pitchFamily="34" charset="-120"/>
              </a:rPr>
              <a:t>Foundry Tools: Web search, Code Interpreter, File Search, AI Search, Functions</a:t>
            </a:r>
            <a:endParaRPr lang="en-US" sz="1100" dirty="0"/>
          </a:p>
        </p:txBody>
      </p:sp>
      <p:sp>
        <p:nvSpPr>
          <p:cNvPr id="26" name="Text 24"/>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Foundry Agent Service tool catalog; Copilot Studio MCP extensibility.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2.2 -- AGENT BEHAVIOR TRIGGERS</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Reasoning, voice, and Computer Use</a:t>
            </a:r>
            <a:endParaRPr lang="en-US" sz="2200" dirty="0"/>
          </a:p>
        </p:txBody>
      </p:sp>
      <p:sp>
        <p:nvSpPr>
          <p:cNvPr id="5" name="Text 3"/>
          <p:cNvSpPr/>
          <p:nvPr/>
        </p:nvSpPr>
        <p:spPr>
          <a:xfrm>
            <a:off x="507950" y="1241375"/>
            <a:ext cx="3975199" cy="1370409"/>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36525" y="1241375"/>
            <a:ext cx="0" cy="1370409"/>
          </a:xfrm>
          <a:prstGeom prst="line">
            <a:avLst/>
          </a:prstGeom>
          <a:noFill/>
          <a:ln w="57150">
            <a:solidFill>
              <a:srgbClr val="00B4D8"/>
            </a:solidFill>
            <a:prstDash val="solid"/>
          </a:ln>
        </p:spPr>
        <p:txBody>
          <a:bodyPr/>
          <a:lstStyle/>
          <a:p>
            <a:endParaRPr lang="en-US"/>
          </a:p>
        </p:txBody>
      </p:sp>
      <p:sp>
        <p:nvSpPr>
          <p:cNvPr id="7" name="Text 5"/>
          <p:cNvSpPr/>
          <p:nvPr/>
        </p:nvSpPr>
        <p:spPr>
          <a:xfrm>
            <a:off x="742801" y="1368326"/>
            <a:ext cx="3633901" cy="200025"/>
          </a:xfrm>
          <a:prstGeom prst="rect">
            <a:avLst/>
          </a:prstGeom>
          <a:noFill/>
          <a:ln/>
        </p:spPr>
        <p:txBody>
          <a:bodyPr wrap="square" lIns="0" tIns="0" rIns="0" bIns="0" rtlCol="0" anchor="t"/>
          <a:lstStyle/>
          <a:p>
            <a:pPr marL="0" indent="0" algn="l">
              <a:spcAft>
                <a:spcPts val="400"/>
              </a:spcAft>
              <a:buNone/>
            </a:pPr>
            <a:r>
              <a:rPr lang="en-US" sz="1300" b="1" dirty="0">
                <a:solidFill>
                  <a:srgbClr val="1F2A56"/>
                </a:solidFill>
                <a:latin typeface="Verdana" pitchFamily="34" charset="0"/>
                <a:ea typeface="Verdana" pitchFamily="34" charset="-122"/>
                <a:cs typeface="Verdana" pitchFamily="34" charset="-120"/>
              </a:rPr>
              <a:t>Standard reasoning</a:t>
            </a:r>
            <a:endParaRPr lang="en-US" sz="1300" dirty="0"/>
          </a:p>
        </p:txBody>
      </p:sp>
      <p:sp>
        <p:nvSpPr>
          <p:cNvPr id="8" name="Text 6"/>
          <p:cNvSpPr/>
          <p:nvPr/>
        </p:nvSpPr>
        <p:spPr>
          <a:xfrm>
            <a:off x="742801" y="1619101"/>
            <a:ext cx="3633901" cy="152400"/>
          </a:xfrm>
          <a:prstGeom prst="rect">
            <a:avLst/>
          </a:prstGeom>
          <a:noFill/>
          <a:ln/>
        </p:spPr>
        <p:txBody>
          <a:bodyPr wrap="square" lIns="0" tIns="0" rIns="0" bIns="0" rtlCol="0" anchor="t"/>
          <a:lstStyle/>
          <a:p>
            <a:pPr marL="0" indent="0" algn="l">
              <a:spcAft>
                <a:spcPts val="400"/>
              </a:spcAft>
              <a:buNone/>
            </a:pPr>
            <a:r>
              <a:rPr lang="en-US" sz="1000" b="1" dirty="0">
                <a:solidFill>
                  <a:srgbClr val="1F2A56"/>
                </a:solidFill>
                <a:latin typeface="Verdana" pitchFamily="34" charset="0"/>
                <a:ea typeface="Verdana" pitchFamily="34" charset="-122"/>
                <a:cs typeface="Verdana" pitchFamily="34" charset="-120"/>
              </a:rPr>
              <a:t>USE WHEN</a:t>
            </a:r>
            <a:endParaRPr lang="en-US" sz="1000" dirty="0"/>
          </a:p>
        </p:txBody>
      </p:sp>
      <p:sp>
        <p:nvSpPr>
          <p:cNvPr id="9" name="Text 7"/>
          <p:cNvSpPr/>
          <p:nvPr/>
        </p:nvSpPr>
        <p:spPr>
          <a:xfrm>
            <a:off x="742801" y="1822252"/>
            <a:ext cx="3562648" cy="637282"/>
          </a:xfrm>
          <a:prstGeom prst="rect">
            <a:avLst/>
          </a:prstGeom>
          <a:noFill/>
          <a:ln/>
        </p:spPr>
        <p:txBody>
          <a:bodyPr wrap="square" lIns="101600" tIns="0" rIns="0" bIns="0" rtlCol="0" anchor="t"/>
          <a:lstStyle/>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Summaries, lookups, greetings</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Single-step retrieval</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Latency budget is tight</a:t>
            </a:r>
            <a:endParaRPr lang="en-US" sz="1100" dirty="0"/>
          </a:p>
        </p:txBody>
      </p:sp>
      <p:sp>
        <p:nvSpPr>
          <p:cNvPr id="10" name="Text 8"/>
          <p:cNvSpPr/>
          <p:nvPr/>
        </p:nvSpPr>
        <p:spPr>
          <a:xfrm>
            <a:off x="507950" y="2738735"/>
            <a:ext cx="3975199" cy="1370409"/>
          </a:xfrm>
          <a:prstGeom prst="rect">
            <a:avLst/>
          </a:prstGeom>
          <a:solidFill>
            <a:srgbClr val="E9ECF2"/>
          </a:solidFill>
          <a:ln/>
        </p:spPr>
        <p:txBody>
          <a:bodyPr wrap="square" rtlCol="0" anchor="ctr"/>
          <a:lstStyle/>
          <a:p>
            <a:pPr marL="0" indent="0">
              <a:buNone/>
            </a:pPr>
            <a:endParaRPr lang="en-US" dirty="0"/>
          </a:p>
        </p:txBody>
      </p:sp>
      <p:sp>
        <p:nvSpPr>
          <p:cNvPr id="11" name="Shape 9"/>
          <p:cNvSpPr/>
          <p:nvPr/>
        </p:nvSpPr>
        <p:spPr>
          <a:xfrm>
            <a:off x="536525" y="2738735"/>
            <a:ext cx="0" cy="1370409"/>
          </a:xfrm>
          <a:prstGeom prst="line">
            <a:avLst/>
          </a:prstGeom>
          <a:noFill/>
          <a:ln w="57150">
            <a:solidFill>
              <a:srgbClr val="F4845F"/>
            </a:solidFill>
            <a:prstDash val="solid"/>
          </a:ln>
        </p:spPr>
        <p:txBody>
          <a:bodyPr/>
          <a:lstStyle/>
          <a:p>
            <a:endParaRPr lang="en-US"/>
          </a:p>
        </p:txBody>
      </p:sp>
      <p:sp>
        <p:nvSpPr>
          <p:cNvPr id="12" name="Text 10"/>
          <p:cNvSpPr/>
          <p:nvPr/>
        </p:nvSpPr>
        <p:spPr>
          <a:xfrm>
            <a:off x="742801" y="2865686"/>
            <a:ext cx="3633901" cy="200025"/>
          </a:xfrm>
          <a:prstGeom prst="rect">
            <a:avLst/>
          </a:prstGeom>
          <a:noFill/>
          <a:ln/>
        </p:spPr>
        <p:txBody>
          <a:bodyPr wrap="square" lIns="0" tIns="0" rIns="0" bIns="0" rtlCol="0" anchor="t"/>
          <a:lstStyle/>
          <a:p>
            <a:pPr marL="0" indent="0" algn="l">
              <a:spcAft>
                <a:spcPts val="400"/>
              </a:spcAft>
              <a:buNone/>
            </a:pPr>
            <a:r>
              <a:rPr lang="en-US" sz="1300" b="1" dirty="0">
                <a:solidFill>
                  <a:srgbClr val="1F2A56"/>
                </a:solidFill>
                <a:latin typeface="Verdana" pitchFamily="34" charset="0"/>
                <a:ea typeface="Verdana" pitchFamily="34" charset="-122"/>
                <a:cs typeface="Verdana" pitchFamily="34" charset="-120"/>
              </a:rPr>
              <a:t>Deep reasoning</a:t>
            </a:r>
            <a:endParaRPr lang="en-US" sz="1300" dirty="0"/>
          </a:p>
        </p:txBody>
      </p:sp>
      <p:sp>
        <p:nvSpPr>
          <p:cNvPr id="13" name="Text 11"/>
          <p:cNvSpPr/>
          <p:nvPr/>
        </p:nvSpPr>
        <p:spPr>
          <a:xfrm>
            <a:off x="742801" y="3116461"/>
            <a:ext cx="3633901" cy="152400"/>
          </a:xfrm>
          <a:prstGeom prst="rect">
            <a:avLst/>
          </a:prstGeom>
          <a:noFill/>
          <a:ln/>
        </p:spPr>
        <p:txBody>
          <a:bodyPr wrap="square" lIns="0" tIns="0" rIns="0" bIns="0" rtlCol="0" anchor="t"/>
          <a:lstStyle/>
          <a:p>
            <a:pPr marL="0" indent="0" algn="l">
              <a:spcAft>
                <a:spcPts val="400"/>
              </a:spcAft>
              <a:buNone/>
            </a:pPr>
            <a:r>
              <a:rPr lang="en-US" sz="1000" b="1" dirty="0">
                <a:solidFill>
                  <a:srgbClr val="1F2A56"/>
                </a:solidFill>
                <a:latin typeface="Verdana" pitchFamily="34" charset="0"/>
                <a:ea typeface="Verdana" pitchFamily="34" charset="-122"/>
                <a:cs typeface="Verdana" pitchFamily="34" charset="-120"/>
              </a:rPr>
              <a:t>USE WHEN</a:t>
            </a:r>
            <a:endParaRPr lang="en-US" sz="1000" dirty="0"/>
          </a:p>
        </p:txBody>
      </p:sp>
      <p:sp>
        <p:nvSpPr>
          <p:cNvPr id="14" name="Text 12"/>
          <p:cNvSpPr/>
          <p:nvPr/>
        </p:nvSpPr>
        <p:spPr>
          <a:xfrm>
            <a:off x="742801" y="3319611"/>
            <a:ext cx="3562648" cy="637282"/>
          </a:xfrm>
          <a:prstGeom prst="rect">
            <a:avLst/>
          </a:prstGeom>
          <a:noFill/>
          <a:ln/>
        </p:spPr>
        <p:txBody>
          <a:bodyPr wrap="square" lIns="101600" tIns="0" rIns="0" bIns="0" rtlCol="0" anchor="t"/>
          <a:lstStyle/>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Multi-step validation chains</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Constraint and policy evaluation</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Finance, compliance, engineering</a:t>
            </a:r>
            <a:endParaRPr lang="en-US" sz="1100" dirty="0"/>
          </a:p>
        </p:txBody>
      </p:sp>
      <p:sp>
        <p:nvSpPr>
          <p:cNvPr id="15" name="Text 13"/>
          <p:cNvSpPr/>
          <p:nvPr/>
        </p:nvSpPr>
        <p:spPr>
          <a:xfrm>
            <a:off x="4660850" y="1241375"/>
            <a:ext cx="3975199" cy="1370409"/>
          </a:xfrm>
          <a:prstGeom prst="rect">
            <a:avLst/>
          </a:prstGeom>
          <a:solidFill>
            <a:srgbClr val="E9ECF2"/>
          </a:solidFill>
          <a:ln/>
        </p:spPr>
        <p:txBody>
          <a:bodyPr wrap="square" rtlCol="0" anchor="ctr"/>
          <a:lstStyle/>
          <a:p>
            <a:pPr marL="0" indent="0">
              <a:buNone/>
            </a:pPr>
            <a:endParaRPr lang="en-US" dirty="0"/>
          </a:p>
        </p:txBody>
      </p:sp>
      <p:sp>
        <p:nvSpPr>
          <p:cNvPr id="16" name="Shape 14"/>
          <p:cNvSpPr/>
          <p:nvPr/>
        </p:nvSpPr>
        <p:spPr>
          <a:xfrm>
            <a:off x="4689425" y="1241375"/>
            <a:ext cx="0" cy="1370409"/>
          </a:xfrm>
          <a:prstGeom prst="line">
            <a:avLst/>
          </a:prstGeom>
          <a:noFill/>
          <a:ln w="57150">
            <a:solidFill>
              <a:srgbClr val="F4845F"/>
            </a:solidFill>
            <a:prstDash val="solid"/>
          </a:ln>
        </p:spPr>
        <p:txBody>
          <a:bodyPr/>
          <a:lstStyle/>
          <a:p>
            <a:endParaRPr lang="en-US"/>
          </a:p>
        </p:txBody>
      </p:sp>
      <p:sp>
        <p:nvSpPr>
          <p:cNvPr id="17" name="Text 15"/>
          <p:cNvSpPr/>
          <p:nvPr/>
        </p:nvSpPr>
        <p:spPr>
          <a:xfrm>
            <a:off x="4895701" y="1368326"/>
            <a:ext cx="3633901" cy="200025"/>
          </a:xfrm>
          <a:prstGeom prst="rect">
            <a:avLst/>
          </a:prstGeom>
          <a:noFill/>
          <a:ln/>
        </p:spPr>
        <p:txBody>
          <a:bodyPr wrap="square" lIns="0" tIns="0" rIns="0" bIns="0" rtlCol="0" anchor="t"/>
          <a:lstStyle/>
          <a:p>
            <a:pPr marL="0" indent="0" algn="l">
              <a:spcAft>
                <a:spcPts val="400"/>
              </a:spcAft>
              <a:buNone/>
            </a:pPr>
            <a:r>
              <a:rPr lang="en-US" sz="1300" b="1" dirty="0">
                <a:solidFill>
                  <a:srgbClr val="1F2A56"/>
                </a:solidFill>
                <a:latin typeface="Verdana" pitchFamily="34" charset="0"/>
                <a:ea typeface="Verdana" pitchFamily="34" charset="-122"/>
                <a:cs typeface="Verdana" pitchFamily="34" charset="-120"/>
              </a:rPr>
              <a:t>Voice mode</a:t>
            </a:r>
            <a:endParaRPr lang="en-US" sz="1300" dirty="0"/>
          </a:p>
        </p:txBody>
      </p:sp>
      <p:sp>
        <p:nvSpPr>
          <p:cNvPr id="18" name="Text 16"/>
          <p:cNvSpPr/>
          <p:nvPr/>
        </p:nvSpPr>
        <p:spPr>
          <a:xfrm>
            <a:off x="4895701" y="1619101"/>
            <a:ext cx="3633901" cy="152400"/>
          </a:xfrm>
          <a:prstGeom prst="rect">
            <a:avLst/>
          </a:prstGeom>
          <a:noFill/>
          <a:ln/>
        </p:spPr>
        <p:txBody>
          <a:bodyPr wrap="square" lIns="0" tIns="0" rIns="0" bIns="0" rtlCol="0" anchor="t"/>
          <a:lstStyle/>
          <a:p>
            <a:pPr marL="0" indent="0" algn="l">
              <a:spcAft>
                <a:spcPts val="400"/>
              </a:spcAft>
              <a:buNone/>
            </a:pPr>
            <a:r>
              <a:rPr lang="en-US" sz="1000" b="1" dirty="0">
                <a:solidFill>
                  <a:srgbClr val="1F2A56"/>
                </a:solidFill>
                <a:latin typeface="Verdana" pitchFamily="34" charset="0"/>
                <a:ea typeface="Verdana" pitchFamily="34" charset="-122"/>
                <a:cs typeface="Verdana" pitchFamily="34" charset="-120"/>
              </a:rPr>
              <a:t>DESIGN RULES</a:t>
            </a:r>
            <a:endParaRPr lang="en-US" sz="1000" dirty="0"/>
          </a:p>
        </p:txBody>
      </p:sp>
      <p:sp>
        <p:nvSpPr>
          <p:cNvPr id="19" name="Text 17"/>
          <p:cNvSpPr/>
          <p:nvPr/>
        </p:nvSpPr>
        <p:spPr>
          <a:xfrm>
            <a:off x="4895701" y="1822252"/>
            <a:ext cx="3562648" cy="637282"/>
          </a:xfrm>
          <a:prstGeom prst="rect">
            <a:avLst/>
          </a:prstGeom>
          <a:noFill/>
          <a:ln/>
        </p:spPr>
        <p:txBody>
          <a:bodyPr wrap="square" lIns="101600" tIns="0" rIns="0" bIns="0" rtlCol="0" anchor="t"/>
          <a:lstStyle/>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Short phrasing, confirm before action</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Confidence checks, graceful backtrack</a:t>
            </a:r>
            <a:endParaRPr lang="en-US" sz="1100" dirty="0"/>
          </a:p>
          <a:p>
            <a:pPr marL="101600" indent="-101600" algn="l">
              <a:lnSpc>
                <a:spcPts val="1540"/>
              </a:lnSpc>
              <a:spcAft>
                <a:spcPts val="200"/>
              </a:spcAft>
              <a:buSzPct val="100000"/>
              <a:buChar char="•"/>
            </a:pPr>
            <a:r>
              <a:rPr lang="en-US" sz="1100" dirty="0">
                <a:solidFill>
                  <a:srgbClr val="1A1A2E"/>
                </a:solidFill>
                <a:latin typeface="Verdana" pitchFamily="34" charset="0"/>
                <a:ea typeface="Verdana" pitchFamily="34" charset="-122"/>
                <a:cs typeface="Verdana" pitchFamily="34" charset="-120"/>
              </a:rPr>
              <a:t>Interruption handling required</a:t>
            </a:r>
            <a:endParaRPr lang="en-US" sz="1100" dirty="0"/>
          </a:p>
        </p:txBody>
      </p:sp>
      <p:sp>
        <p:nvSpPr>
          <p:cNvPr id="20" name="Text 18"/>
          <p:cNvSpPr/>
          <p:nvPr/>
        </p:nvSpPr>
        <p:spPr>
          <a:xfrm>
            <a:off x="4660850" y="2738735"/>
            <a:ext cx="3975199" cy="1334691"/>
          </a:xfrm>
          <a:prstGeom prst="rect">
            <a:avLst/>
          </a:prstGeom>
          <a:solidFill>
            <a:srgbClr val="1F2A56"/>
          </a:solidFill>
          <a:ln/>
        </p:spPr>
        <p:txBody>
          <a:bodyPr wrap="square" rtlCol="0" anchor="ctr"/>
          <a:lstStyle/>
          <a:p>
            <a:pPr marL="0" indent="0">
              <a:buNone/>
            </a:pPr>
            <a:endParaRPr lang="en-US" dirty="0"/>
          </a:p>
        </p:txBody>
      </p:sp>
      <p:sp>
        <p:nvSpPr>
          <p:cNvPr id="21" name="Text 19"/>
          <p:cNvSpPr/>
          <p:nvPr/>
        </p:nvSpPr>
        <p:spPr>
          <a:xfrm>
            <a:off x="4838551" y="2891135"/>
            <a:ext cx="3692194" cy="171450"/>
          </a:xfrm>
          <a:prstGeom prst="rect">
            <a:avLst/>
          </a:prstGeom>
          <a:noFill/>
          <a:ln/>
        </p:spPr>
        <p:txBody>
          <a:bodyPr wrap="square" lIns="0" tIns="0" rIns="0" bIns="0" rtlCol="0" anchor="t"/>
          <a:lstStyle/>
          <a:p>
            <a:pPr marL="0" indent="0" algn="l">
              <a:spcAft>
                <a:spcPts val="600"/>
              </a:spcAft>
              <a:buNone/>
            </a:pPr>
            <a:r>
              <a:rPr lang="en-US" sz="1100" b="1" dirty="0">
                <a:solidFill>
                  <a:srgbClr val="00B4D8"/>
                </a:solidFill>
                <a:latin typeface="Verdana" pitchFamily="34" charset="0"/>
                <a:ea typeface="Verdana" pitchFamily="34" charset="-122"/>
                <a:cs typeface="Verdana" pitchFamily="34" charset="-120"/>
              </a:rPr>
              <a:t>COMPUTER USE -- LAST RESORT</a:t>
            </a:r>
            <a:endParaRPr lang="en-US" sz="1100" dirty="0"/>
          </a:p>
        </p:txBody>
      </p:sp>
      <p:sp>
        <p:nvSpPr>
          <p:cNvPr id="22" name="Text 20"/>
          <p:cNvSpPr/>
          <p:nvPr/>
        </p:nvSpPr>
        <p:spPr>
          <a:xfrm>
            <a:off x="4838551" y="3138785"/>
            <a:ext cx="3619798" cy="782241"/>
          </a:xfrm>
          <a:prstGeom prst="rect">
            <a:avLst/>
          </a:prstGeom>
          <a:noFill/>
          <a:ln/>
        </p:spPr>
        <p:txBody>
          <a:bodyPr wrap="square" lIns="101600" tIns="0" rIns="0" bIns="0" rtlCol="0" anchor="t"/>
          <a:lstStyle/>
          <a:p>
            <a:pPr marL="101600" indent="-101600" algn="l">
              <a:lnSpc>
                <a:spcPts val="1540"/>
              </a:lnSpc>
              <a:buSzPct val="100000"/>
              <a:buChar char="•"/>
            </a:pPr>
            <a:r>
              <a:rPr lang="en-US" sz="1100" dirty="0">
                <a:solidFill>
                  <a:srgbClr val="FFFFFF"/>
                </a:solidFill>
                <a:latin typeface="Verdana" pitchFamily="34" charset="0"/>
                <a:ea typeface="Verdana" pitchFamily="34" charset="-122"/>
                <a:cs typeface="Verdana" pitchFamily="34" charset="-120"/>
              </a:rPr>
              <a:t>Use only when no API or connector exists</a:t>
            </a:r>
            <a:endParaRPr lang="en-US" sz="1100" dirty="0"/>
          </a:p>
          <a:p>
            <a:pPr marL="101600" indent="-101600" algn="l">
              <a:lnSpc>
                <a:spcPts val="1540"/>
              </a:lnSpc>
              <a:buSzPct val="100000"/>
              <a:buChar char="•"/>
            </a:pPr>
            <a:r>
              <a:rPr lang="en-US" sz="1100" dirty="0">
                <a:solidFill>
                  <a:srgbClr val="FFFFFF"/>
                </a:solidFill>
                <a:latin typeface="Verdana" pitchFamily="34" charset="0"/>
                <a:ea typeface="Verdana" pitchFamily="34" charset="-122"/>
                <a:cs typeface="Verdana" pitchFamily="34" charset="-120"/>
              </a:rPr>
              <a:t>Legacy desktop, vendor portals, dynamic UI</a:t>
            </a:r>
            <a:endParaRPr lang="en-US" sz="1100" dirty="0"/>
          </a:p>
          <a:p>
            <a:pPr marL="101600" indent="-101600" algn="l">
              <a:lnSpc>
                <a:spcPts val="1540"/>
              </a:lnSpc>
              <a:buSzPct val="100000"/>
              <a:buChar char="•"/>
            </a:pPr>
            <a:r>
              <a:rPr lang="en-US" sz="1100" dirty="0">
                <a:solidFill>
                  <a:srgbClr val="FFFFFF"/>
                </a:solidFill>
                <a:latin typeface="Verdana" pitchFamily="34" charset="0"/>
                <a:ea typeface="Verdana" pitchFamily="34" charset="-122"/>
                <a:cs typeface="Verdana" pitchFamily="34" charset="-120"/>
              </a:rPr>
              <a:t>Reasoning over visible elements</a:t>
            </a:r>
            <a:endParaRPr lang="en-US" sz="1100" dirty="0"/>
          </a:p>
          <a:p>
            <a:pPr marL="101600" indent="-101600" algn="l">
              <a:lnSpc>
                <a:spcPts val="1540"/>
              </a:lnSpc>
              <a:buSzPct val="100000"/>
              <a:buChar char="•"/>
            </a:pPr>
            <a:r>
              <a:rPr lang="en-US" sz="1100" dirty="0">
                <a:solidFill>
                  <a:srgbClr val="FFFFFF"/>
                </a:solidFill>
                <a:latin typeface="Verdana" pitchFamily="34" charset="0"/>
                <a:ea typeface="Verdana" pitchFamily="34" charset="-122"/>
                <a:cs typeface="Verdana" pitchFamily="34" charset="-120"/>
              </a:rPr>
              <a:t>If an API exists, do not pick Computer Use</a:t>
            </a:r>
            <a:endParaRPr lang="en-US" sz="1100" dirty="0"/>
          </a:p>
        </p:txBody>
      </p:sp>
      <p:sp>
        <p:nvSpPr>
          <p:cNvPr id="23" name="Text 21"/>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2.2.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2.3</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Orchestrate prebuilt agents and apps</a:t>
            </a:r>
            <a:endParaRPr lang="en-US" sz="2200" dirty="0"/>
          </a:p>
        </p:txBody>
      </p:sp>
      <p:sp>
        <p:nvSpPr>
          <p:cNvPr id="5" name="Text 3"/>
          <p:cNvSpPr/>
          <p:nvPr/>
        </p:nvSpPr>
        <p:spPr>
          <a:xfrm>
            <a:off x="507950" y="1292126"/>
            <a:ext cx="3949750" cy="1236762"/>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36525" y="1292126"/>
            <a:ext cx="0" cy="1236762"/>
          </a:xfrm>
          <a:prstGeom prst="line">
            <a:avLst/>
          </a:prstGeom>
          <a:noFill/>
          <a:ln w="57150">
            <a:solidFill>
              <a:srgbClr val="00B4D8"/>
            </a:solidFill>
            <a:prstDash val="solid"/>
          </a:ln>
        </p:spPr>
        <p:txBody>
          <a:bodyPr/>
          <a:lstStyle/>
          <a:p>
            <a:endParaRPr lang="en-US"/>
          </a:p>
        </p:txBody>
      </p:sp>
      <p:sp>
        <p:nvSpPr>
          <p:cNvPr id="7" name="Text 5"/>
          <p:cNvSpPr/>
          <p:nvPr/>
        </p:nvSpPr>
        <p:spPr>
          <a:xfrm>
            <a:off x="742801" y="1469827"/>
            <a:ext cx="3607942" cy="400050"/>
          </a:xfrm>
          <a:prstGeom prst="rect">
            <a:avLst/>
          </a:prstGeom>
          <a:noFill/>
          <a:ln/>
        </p:spPr>
        <p:txBody>
          <a:bodyPr wrap="square" lIns="0" tIns="0" rIns="0" bIns="0" rtlCol="0" anchor="t"/>
          <a:lstStyle/>
          <a:p>
            <a:pPr marL="0" indent="0" algn="l">
              <a:spcAft>
                <a:spcPts val="600"/>
              </a:spcAft>
              <a:buNone/>
            </a:pPr>
            <a:r>
              <a:rPr lang="en-US" sz="1300" b="1" dirty="0">
                <a:solidFill>
                  <a:srgbClr val="1F2A56"/>
                </a:solidFill>
                <a:latin typeface="Verdana" pitchFamily="34" charset="0"/>
                <a:ea typeface="Verdana" pitchFamily="34" charset="-122"/>
                <a:cs typeface="Verdana" pitchFamily="34" charset="-120"/>
              </a:rPr>
              <a:t>Dynamics 365 customer experience and service</a:t>
            </a:r>
            <a:endParaRPr lang="en-US" sz="1300" dirty="0"/>
          </a:p>
        </p:txBody>
      </p:sp>
      <p:sp>
        <p:nvSpPr>
          <p:cNvPr id="8" name="Text 6"/>
          <p:cNvSpPr/>
          <p:nvPr/>
        </p:nvSpPr>
        <p:spPr>
          <a:xfrm>
            <a:off x="742801" y="1946077"/>
            <a:ext cx="3607942" cy="405110"/>
          </a:xfrm>
          <a:prstGeom prst="rect">
            <a:avLst/>
          </a:prstGeom>
          <a:noFill/>
          <a:ln/>
        </p:spPr>
        <p:txBody>
          <a:bodyPr wrap="square" lIns="0" tIns="0" rIns="0" bIns="0" rtlCol="0" anchor="t"/>
          <a:lstStyle/>
          <a:p>
            <a:pPr marL="0" indent="0" algn="l">
              <a:lnSpc>
                <a:spcPts val="1595"/>
              </a:lnSpc>
              <a:buNone/>
            </a:pPr>
            <a:r>
              <a:rPr lang="en-US" sz="1100" dirty="0">
                <a:solidFill>
                  <a:srgbClr val="1A1A2E"/>
                </a:solidFill>
                <a:latin typeface="Verdana" pitchFamily="34" charset="0"/>
                <a:ea typeface="Verdana" pitchFamily="34" charset="-122"/>
                <a:cs typeface="Verdana" pitchFamily="34" charset="-120"/>
              </a:rPr>
              <a:t>Copilot for Sales and Service, business terms, connectors, Contact Center channel agents.</a:t>
            </a:r>
            <a:endParaRPr lang="en-US" sz="1100" dirty="0"/>
          </a:p>
        </p:txBody>
      </p:sp>
      <p:sp>
        <p:nvSpPr>
          <p:cNvPr id="9" name="Text 7"/>
          <p:cNvSpPr/>
          <p:nvPr/>
        </p:nvSpPr>
        <p:spPr>
          <a:xfrm>
            <a:off x="507950" y="2655838"/>
            <a:ext cx="3949750" cy="1236762"/>
          </a:xfrm>
          <a:prstGeom prst="rect">
            <a:avLst/>
          </a:prstGeom>
          <a:solidFill>
            <a:srgbClr val="E9ECF2"/>
          </a:solidFill>
          <a:ln/>
        </p:spPr>
        <p:txBody>
          <a:bodyPr wrap="square" rtlCol="0" anchor="ctr"/>
          <a:lstStyle/>
          <a:p>
            <a:pPr marL="0" indent="0">
              <a:buNone/>
            </a:pPr>
            <a:endParaRPr lang="en-US" dirty="0"/>
          </a:p>
        </p:txBody>
      </p:sp>
      <p:sp>
        <p:nvSpPr>
          <p:cNvPr id="10" name="Shape 8"/>
          <p:cNvSpPr/>
          <p:nvPr/>
        </p:nvSpPr>
        <p:spPr>
          <a:xfrm>
            <a:off x="536525" y="2655838"/>
            <a:ext cx="0" cy="1236762"/>
          </a:xfrm>
          <a:prstGeom prst="line">
            <a:avLst/>
          </a:prstGeom>
          <a:noFill/>
          <a:ln w="57150">
            <a:solidFill>
              <a:srgbClr val="F4845F"/>
            </a:solidFill>
            <a:prstDash val="solid"/>
          </a:ln>
        </p:spPr>
        <p:txBody>
          <a:bodyPr/>
          <a:lstStyle/>
          <a:p>
            <a:endParaRPr lang="en-US"/>
          </a:p>
        </p:txBody>
      </p:sp>
      <p:sp>
        <p:nvSpPr>
          <p:cNvPr id="11" name="Text 9"/>
          <p:cNvSpPr/>
          <p:nvPr/>
        </p:nvSpPr>
        <p:spPr>
          <a:xfrm>
            <a:off x="742801" y="2833539"/>
            <a:ext cx="3607942" cy="400050"/>
          </a:xfrm>
          <a:prstGeom prst="rect">
            <a:avLst/>
          </a:prstGeom>
          <a:noFill/>
          <a:ln/>
        </p:spPr>
        <p:txBody>
          <a:bodyPr wrap="square" lIns="0" tIns="0" rIns="0" bIns="0" rtlCol="0" anchor="t"/>
          <a:lstStyle/>
          <a:p>
            <a:pPr marL="0" indent="0" algn="l">
              <a:spcAft>
                <a:spcPts val="600"/>
              </a:spcAft>
              <a:buNone/>
            </a:pPr>
            <a:r>
              <a:rPr lang="en-US" sz="1300" b="1" dirty="0">
                <a:solidFill>
                  <a:srgbClr val="1F2A56"/>
                </a:solidFill>
                <a:latin typeface="Verdana" pitchFamily="34" charset="0"/>
                <a:ea typeface="Verdana" pitchFamily="34" charset="-122"/>
                <a:cs typeface="Verdana" pitchFamily="34" charset="-120"/>
              </a:rPr>
              <a:t>Dynamics 365 finance and supply chain</a:t>
            </a:r>
            <a:endParaRPr lang="en-US" sz="1300" dirty="0"/>
          </a:p>
        </p:txBody>
      </p:sp>
      <p:sp>
        <p:nvSpPr>
          <p:cNvPr id="12" name="Text 10"/>
          <p:cNvSpPr/>
          <p:nvPr/>
        </p:nvSpPr>
        <p:spPr>
          <a:xfrm>
            <a:off x="742801" y="3309789"/>
            <a:ext cx="3607942" cy="405110"/>
          </a:xfrm>
          <a:prstGeom prst="rect">
            <a:avLst/>
          </a:prstGeom>
          <a:noFill/>
          <a:ln/>
        </p:spPr>
        <p:txBody>
          <a:bodyPr wrap="square" lIns="0" tIns="0" rIns="0" bIns="0" rtlCol="0" anchor="t"/>
          <a:lstStyle/>
          <a:p>
            <a:pPr marL="0" indent="0" algn="l">
              <a:lnSpc>
                <a:spcPts val="1595"/>
              </a:lnSpc>
              <a:buNone/>
            </a:pPr>
            <a:r>
              <a:rPr lang="en-US" sz="1100" dirty="0">
                <a:solidFill>
                  <a:srgbClr val="1A1A2E"/>
                </a:solidFill>
                <a:latin typeface="Verdana" pitchFamily="34" charset="0"/>
                <a:ea typeface="Verdana" pitchFamily="34" charset="-122"/>
                <a:cs typeface="Verdana" pitchFamily="34" charset="-120"/>
              </a:rPr>
              <a:t>F and O agent chats with extra knowledge sources, in-app help and guidance, AI features.</a:t>
            </a:r>
            <a:endParaRPr lang="en-US" sz="1100" dirty="0"/>
          </a:p>
        </p:txBody>
      </p:sp>
      <p:sp>
        <p:nvSpPr>
          <p:cNvPr id="13" name="Text 11"/>
          <p:cNvSpPr/>
          <p:nvPr/>
        </p:nvSpPr>
        <p:spPr>
          <a:xfrm>
            <a:off x="4686300" y="1292126"/>
            <a:ext cx="3949750" cy="1236762"/>
          </a:xfrm>
          <a:prstGeom prst="rect">
            <a:avLst/>
          </a:prstGeom>
          <a:solidFill>
            <a:srgbClr val="E9ECF2"/>
          </a:solidFill>
          <a:ln/>
        </p:spPr>
        <p:txBody>
          <a:bodyPr wrap="square" rtlCol="0" anchor="ctr"/>
          <a:lstStyle/>
          <a:p>
            <a:pPr marL="0" indent="0">
              <a:buNone/>
            </a:pPr>
            <a:endParaRPr lang="en-US" dirty="0"/>
          </a:p>
        </p:txBody>
      </p:sp>
      <p:sp>
        <p:nvSpPr>
          <p:cNvPr id="14" name="Shape 12"/>
          <p:cNvSpPr/>
          <p:nvPr/>
        </p:nvSpPr>
        <p:spPr>
          <a:xfrm>
            <a:off x="4714875" y="1292126"/>
            <a:ext cx="0" cy="1236762"/>
          </a:xfrm>
          <a:prstGeom prst="line">
            <a:avLst/>
          </a:prstGeom>
          <a:noFill/>
          <a:ln w="57150">
            <a:solidFill>
              <a:srgbClr val="F4845F"/>
            </a:solidFill>
            <a:prstDash val="solid"/>
          </a:ln>
        </p:spPr>
        <p:txBody>
          <a:bodyPr/>
          <a:lstStyle/>
          <a:p>
            <a:endParaRPr lang="en-US"/>
          </a:p>
        </p:txBody>
      </p:sp>
      <p:sp>
        <p:nvSpPr>
          <p:cNvPr id="15" name="Text 13"/>
          <p:cNvSpPr/>
          <p:nvPr/>
        </p:nvSpPr>
        <p:spPr>
          <a:xfrm>
            <a:off x="4921151" y="1469827"/>
            <a:ext cx="3607942" cy="400050"/>
          </a:xfrm>
          <a:prstGeom prst="rect">
            <a:avLst/>
          </a:prstGeom>
          <a:noFill/>
          <a:ln/>
        </p:spPr>
        <p:txBody>
          <a:bodyPr wrap="square" lIns="0" tIns="0" rIns="0" bIns="0" rtlCol="0" anchor="t"/>
          <a:lstStyle/>
          <a:p>
            <a:pPr marL="0" indent="0" algn="l">
              <a:spcAft>
                <a:spcPts val="600"/>
              </a:spcAft>
              <a:buNone/>
            </a:pPr>
            <a:r>
              <a:rPr lang="en-US" sz="1300" b="1" dirty="0">
                <a:solidFill>
                  <a:srgbClr val="1F2A56"/>
                </a:solidFill>
                <a:latin typeface="Verdana" pitchFamily="34" charset="0"/>
                <a:ea typeface="Verdana" pitchFamily="34" charset="-122"/>
                <a:cs typeface="Verdana" pitchFamily="34" charset="-120"/>
              </a:rPr>
              <a:t>Microsoft 365 Copilot for Sales and Service</a:t>
            </a:r>
            <a:endParaRPr lang="en-US" sz="1300" dirty="0"/>
          </a:p>
        </p:txBody>
      </p:sp>
      <p:sp>
        <p:nvSpPr>
          <p:cNvPr id="16" name="Text 14"/>
          <p:cNvSpPr/>
          <p:nvPr/>
        </p:nvSpPr>
        <p:spPr>
          <a:xfrm>
            <a:off x="4921151" y="1946077"/>
            <a:ext cx="3607942" cy="405110"/>
          </a:xfrm>
          <a:prstGeom prst="rect">
            <a:avLst/>
          </a:prstGeom>
          <a:noFill/>
          <a:ln/>
        </p:spPr>
        <p:txBody>
          <a:bodyPr wrap="square" lIns="0" tIns="0" rIns="0" bIns="0" rtlCol="0" anchor="t"/>
          <a:lstStyle/>
          <a:p>
            <a:pPr marL="0" indent="0" algn="l">
              <a:lnSpc>
                <a:spcPts val="1595"/>
              </a:lnSpc>
              <a:buNone/>
            </a:pPr>
            <a:r>
              <a:rPr lang="en-US" sz="1100" dirty="0">
                <a:solidFill>
                  <a:srgbClr val="1A1A2E"/>
                </a:solidFill>
                <a:latin typeface="Verdana" pitchFamily="34" charset="0"/>
                <a:ea typeface="Verdana" pitchFamily="34" charset="-122"/>
                <a:cs typeface="Verdana" pitchFamily="34" charset="-120"/>
              </a:rPr>
              <a:t>Configure CRM grounding, agent surfaces, and Sales-specific actions across email and Teams.</a:t>
            </a:r>
            <a:endParaRPr lang="en-US" sz="1100" dirty="0"/>
          </a:p>
        </p:txBody>
      </p:sp>
      <p:sp>
        <p:nvSpPr>
          <p:cNvPr id="17" name="Text 15"/>
          <p:cNvSpPr/>
          <p:nvPr/>
        </p:nvSpPr>
        <p:spPr>
          <a:xfrm>
            <a:off x="4686300" y="2655838"/>
            <a:ext cx="3949750" cy="1792337"/>
          </a:xfrm>
          <a:prstGeom prst="rect">
            <a:avLst/>
          </a:prstGeom>
          <a:solidFill>
            <a:srgbClr val="E9ECF2"/>
          </a:solidFill>
          <a:ln/>
        </p:spPr>
        <p:txBody>
          <a:bodyPr wrap="square" rtlCol="0" anchor="ctr"/>
          <a:lstStyle/>
          <a:p>
            <a:pPr marL="0" indent="0">
              <a:buNone/>
            </a:pPr>
            <a:endParaRPr lang="en-US" dirty="0"/>
          </a:p>
        </p:txBody>
      </p:sp>
      <p:sp>
        <p:nvSpPr>
          <p:cNvPr id="18" name="Shape 16"/>
          <p:cNvSpPr/>
          <p:nvPr/>
        </p:nvSpPr>
        <p:spPr>
          <a:xfrm>
            <a:off x="4714875" y="2655838"/>
            <a:ext cx="0" cy="1792337"/>
          </a:xfrm>
          <a:prstGeom prst="line">
            <a:avLst/>
          </a:prstGeom>
          <a:noFill/>
          <a:ln w="57150">
            <a:solidFill>
              <a:srgbClr val="00B4D8"/>
            </a:solidFill>
            <a:prstDash val="solid"/>
          </a:ln>
        </p:spPr>
        <p:txBody>
          <a:bodyPr/>
          <a:lstStyle/>
          <a:p>
            <a:endParaRPr lang="en-US"/>
          </a:p>
        </p:txBody>
      </p:sp>
      <p:sp>
        <p:nvSpPr>
          <p:cNvPr id="19" name="Text 17"/>
          <p:cNvSpPr/>
          <p:nvPr/>
        </p:nvSpPr>
        <p:spPr>
          <a:xfrm>
            <a:off x="4921151" y="2833539"/>
            <a:ext cx="3607942" cy="200025"/>
          </a:xfrm>
          <a:prstGeom prst="rect">
            <a:avLst/>
          </a:prstGeom>
          <a:noFill/>
          <a:ln/>
        </p:spPr>
        <p:txBody>
          <a:bodyPr wrap="square" lIns="0" tIns="0" rIns="0" bIns="0" rtlCol="0" anchor="t"/>
          <a:lstStyle/>
          <a:p>
            <a:pPr marL="0" indent="0" algn="l">
              <a:spcAft>
                <a:spcPts val="600"/>
              </a:spcAft>
              <a:buNone/>
            </a:pPr>
            <a:r>
              <a:rPr lang="en-US" sz="1300" b="1" dirty="0">
                <a:solidFill>
                  <a:srgbClr val="1F2A56"/>
                </a:solidFill>
                <a:latin typeface="Verdana" pitchFamily="34" charset="0"/>
                <a:ea typeface="Verdana" pitchFamily="34" charset="-122"/>
                <a:cs typeface="Verdana" pitchFamily="34" charset="-120"/>
              </a:rPr>
              <a:t>Power Platform AI hub</a:t>
            </a:r>
            <a:endParaRPr lang="en-US" sz="1300" dirty="0"/>
          </a:p>
        </p:txBody>
      </p:sp>
      <p:sp>
        <p:nvSpPr>
          <p:cNvPr id="20" name="Text 18"/>
          <p:cNvSpPr/>
          <p:nvPr/>
        </p:nvSpPr>
        <p:spPr>
          <a:xfrm>
            <a:off x="4921151" y="3109764"/>
            <a:ext cx="3607942" cy="405110"/>
          </a:xfrm>
          <a:prstGeom prst="rect">
            <a:avLst/>
          </a:prstGeom>
          <a:noFill/>
          <a:ln/>
        </p:spPr>
        <p:txBody>
          <a:bodyPr wrap="square" lIns="0" tIns="0" rIns="0" bIns="0" rtlCol="0" anchor="t"/>
          <a:lstStyle/>
          <a:p>
            <a:pPr marL="0" indent="0" algn="l">
              <a:lnSpc>
                <a:spcPts val="1595"/>
              </a:lnSpc>
              <a:buNone/>
            </a:pPr>
            <a:r>
              <a:rPr lang="en-US" sz="1100" dirty="0">
                <a:solidFill>
                  <a:srgbClr val="1A1A2E"/>
                </a:solidFill>
                <a:latin typeface="Verdana" pitchFamily="34" charset="0"/>
                <a:ea typeface="Verdana" pitchFamily="34" charset="-122"/>
                <a:cs typeface="Verdana" pitchFamily="34" charset="-120"/>
              </a:rPr>
              <a:t>Catalog of AI prompts, models, and AI Builder features that intelligent canvas apps can call.</a:t>
            </a:r>
            <a:endParaRPr lang="en-US" sz="1100" dirty="0"/>
          </a:p>
        </p:txBody>
      </p:sp>
      <p:sp>
        <p:nvSpPr>
          <p:cNvPr id="21" name="Text 19"/>
          <p:cNvSpPr/>
          <p:nvPr/>
        </p:nvSpPr>
        <p:spPr>
          <a:xfrm>
            <a:off x="4921151" y="3565624"/>
            <a:ext cx="3537198" cy="66675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Propose M365 agents for business scenarios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Apply Power Platform Well-Architected to intelligent workloads</a:t>
            </a:r>
            <a:endParaRPr lang="en-US" sz="1100" dirty="0"/>
          </a:p>
        </p:txBody>
      </p:sp>
      <p:sp>
        <p:nvSpPr>
          <p:cNvPr id="22" name="Text 20"/>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AB-100 Subdomain 2.3; Microsoft 365 agents deployment checklist.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0" y="0"/>
            <a:ext cx="4698802" cy="5143500"/>
          </a:xfrm>
          <a:prstGeom prst="rect">
            <a:avLst/>
          </a:prstGeom>
          <a:solidFill>
            <a:srgbClr val="F4845F"/>
          </a:solidFill>
          <a:ln/>
        </p:spPr>
        <p:txBody>
          <a:bodyPr wrap="square" rtlCol="0" anchor="ctr"/>
          <a:lstStyle/>
          <a:p>
            <a:pPr marL="0" indent="0">
              <a:buNone/>
            </a:pPr>
            <a:endParaRPr lang="en-US" dirty="0"/>
          </a:p>
        </p:txBody>
      </p:sp>
      <p:sp>
        <p:nvSpPr>
          <p:cNvPr id="3" name="Text 1"/>
          <p:cNvSpPr/>
          <p:nvPr/>
        </p:nvSpPr>
        <p:spPr>
          <a:xfrm>
            <a:off x="634901" y="634901"/>
            <a:ext cx="3627069" cy="200025"/>
          </a:xfrm>
          <a:prstGeom prst="rect">
            <a:avLst/>
          </a:prstGeom>
          <a:noFill/>
          <a:ln/>
        </p:spPr>
        <p:txBody>
          <a:bodyPr wrap="square" lIns="0" tIns="0" rIns="0" bIns="0" rtlCol="0" anchor="t"/>
          <a:lstStyle/>
          <a:p>
            <a:pPr marL="0" indent="0" algn="l">
              <a:spcAft>
                <a:spcPts val="1400"/>
              </a:spcAft>
              <a:buNone/>
            </a:pPr>
            <a:r>
              <a:rPr lang="en-US" sz="1300" b="1" dirty="0">
                <a:solidFill>
                  <a:srgbClr val="1F2A56"/>
                </a:solidFill>
                <a:latin typeface="Verdana" pitchFamily="34" charset="0"/>
                <a:ea typeface="Verdana" pitchFamily="34" charset="-122"/>
                <a:cs typeface="Verdana" pitchFamily="34" charset="-120"/>
              </a:rPr>
              <a:t>SEGMENT</a:t>
            </a:r>
            <a:endParaRPr lang="en-US" sz="1300" dirty="0"/>
          </a:p>
        </p:txBody>
      </p:sp>
      <p:sp>
        <p:nvSpPr>
          <p:cNvPr id="4" name="Text 2"/>
          <p:cNvSpPr/>
          <p:nvPr/>
        </p:nvSpPr>
        <p:spPr>
          <a:xfrm>
            <a:off x="634901" y="1012627"/>
            <a:ext cx="3627069" cy="1257300"/>
          </a:xfrm>
          <a:prstGeom prst="rect">
            <a:avLst/>
          </a:prstGeom>
          <a:noFill/>
          <a:ln/>
        </p:spPr>
        <p:txBody>
          <a:bodyPr wrap="square" lIns="0" tIns="0" rIns="0" bIns="0" rtlCol="0" anchor="t"/>
          <a:lstStyle/>
          <a:p>
            <a:pPr marL="0" indent="0" algn="l">
              <a:lnSpc>
                <a:spcPts val="9900"/>
              </a:lnSpc>
              <a:buNone/>
            </a:pPr>
            <a:r>
              <a:rPr lang="en-US" sz="11000" b="1" dirty="0">
                <a:solidFill>
                  <a:srgbClr val="1F2A56"/>
                </a:solidFill>
                <a:latin typeface="Verdana" pitchFamily="34" charset="0"/>
                <a:ea typeface="Verdana" pitchFamily="34" charset="-122"/>
                <a:cs typeface="Verdana" pitchFamily="34" charset="-120"/>
              </a:rPr>
              <a:t>3</a:t>
            </a:r>
            <a:endParaRPr lang="en-US" sz="11000" dirty="0"/>
          </a:p>
        </p:txBody>
      </p:sp>
      <p:sp>
        <p:nvSpPr>
          <p:cNvPr id="5" name="Text 3"/>
          <p:cNvSpPr/>
          <p:nvPr/>
        </p:nvSpPr>
        <p:spPr>
          <a:xfrm>
            <a:off x="634901" y="2447627"/>
            <a:ext cx="3627069" cy="238125"/>
          </a:xfrm>
          <a:prstGeom prst="rect">
            <a:avLst/>
          </a:prstGeom>
          <a:noFill/>
          <a:ln/>
        </p:spPr>
        <p:txBody>
          <a:bodyPr wrap="square" lIns="0" tIns="0" rIns="0" bIns="0" rtlCol="0" anchor="t"/>
          <a:lstStyle/>
          <a:p>
            <a:pPr marL="0" indent="0" algn="l">
              <a:spcBef>
                <a:spcPts val="1400"/>
              </a:spcBef>
              <a:buNone/>
            </a:pPr>
            <a:r>
              <a:rPr lang="en-US" sz="1600" b="1" dirty="0">
                <a:solidFill>
                  <a:srgbClr val="1F2A56"/>
                </a:solidFill>
                <a:latin typeface="Verdana" pitchFamily="34" charset="0"/>
                <a:ea typeface="Verdana" pitchFamily="34" charset="-122"/>
                <a:cs typeface="Verdana" pitchFamily="34" charset="-120"/>
              </a:rPr>
              <a:t>2:00 -- 2:50</a:t>
            </a:r>
            <a:endParaRPr lang="en-US" sz="1600" dirty="0"/>
          </a:p>
        </p:txBody>
      </p:sp>
      <p:sp>
        <p:nvSpPr>
          <p:cNvPr id="6" name="Text 4"/>
          <p:cNvSpPr/>
          <p:nvPr/>
        </p:nvSpPr>
        <p:spPr>
          <a:xfrm>
            <a:off x="5206752" y="457200"/>
            <a:ext cx="3368394" cy="361950"/>
          </a:xfrm>
          <a:prstGeom prst="rect">
            <a:avLst/>
          </a:prstGeom>
          <a:noFill/>
          <a:ln/>
        </p:spPr>
        <p:txBody>
          <a:bodyPr wrap="square" lIns="0" tIns="0" rIns="0" bIns="0" rtlCol="0" anchor="t"/>
          <a:lstStyle/>
          <a:p>
            <a:pPr marL="0" indent="0" algn="l">
              <a:spcAft>
                <a:spcPts val="800"/>
              </a:spcAft>
              <a:buNone/>
            </a:pPr>
            <a:r>
              <a:rPr lang="en-US" sz="1200" b="1" dirty="0">
                <a:solidFill>
                  <a:srgbClr val="00B4D8"/>
                </a:solidFill>
                <a:latin typeface="Verdana" pitchFamily="34" charset="0"/>
                <a:ea typeface="Verdana" pitchFamily="34" charset="-122"/>
                <a:cs typeface="Verdana" pitchFamily="34" charset="-120"/>
              </a:rPr>
              <a:t>DEPLOY DOMAIN -- OPS, TEST, ALM (~20-25%)</a:t>
            </a:r>
            <a:endParaRPr lang="en-US" sz="1200" dirty="0"/>
          </a:p>
        </p:txBody>
      </p:sp>
      <p:sp>
        <p:nvSpPr>
          <p:cNvPr id="7" name="Text 5"/>
          <p:cNvSpPr/>
          <p:nvPr/>
        </p:nvSpPr>
        <p:spPr>
          <a:xfrm>
            <a:off x="5206752" y="920651"/>
            <a:ext cx="3368394" cy="666750"/>
          </a:xfrm>
          <a:prstGeom prst="rect">
            <a:avLst/>
          </a:prstGeom>
          <a:noFill/>
          <a:ln/>
        </p:spPr>
        <p:txBody>
          <a:bodyPr wrap="square" lIns="0" tIns="0" rIns="0" bIns="0" rtlCol="0" anchor="t"/>
          <a:lstStyle/>
          <a:p>
            <a:pPr marL="0" indent="0" algn="l">
              <a:spcAft>
                <a:spcPts val="800"/>
              </a:spcAft>
              <a:buNone/>
            </a:pPr>
            <a:r>
              <a:rPr lang="en-US" sz="2200" b="1" dirty="0">
                <a:solidFill>
                  <a:srgbClr val="FFFFFF"/>
                </a:solidFill>
                <a:latin typeface="Verdana" pitchFamily="34" charset="0"/>
                <a:ea typeface="Verdana" pitchFamily="34" charset="-122"/>
                <a:cs typeface="Verdana" pitchFamily="34" charset="-120"/>
              </a:rPr>
              <a:t>Deploy: monitor, test, and ALM</a:t>
            </a:r>
            <a:endParaRPr lang="en-US" sz="2200" dirty="0"/>
          </a:p>
        </p:txBody>
      </p:sp>
      <p:sp>
        <p:nvSpPr>
          <p:cNvPr id="8" name="Text 6"/>
          <p:cNvSpPr/>
          <p:nvPr/>
        </p:nvSpPr>
        <p:spPr>
          <a:xfrm>
            <a:off x="5206752" y="1688902"/>
            <a:ext cx="1015901" cy="50750"/>
          </a:xfrm>
          <a:prstGeom prst="rect">
            <a:avLst/>
          </a:prstGeom>
          <a:solidFill>
            <a:srgbClr val="00B4D8"/>
          </a:solidFill>
          <a:ln/>
        </p:spPr>
        <p:txBody>
          <a:bodyPr wrap="square" rtlCol="0" anchor="ctr"/>
          <a:lstStyle/>
          <a:p>
            <a:pPr marL="0" indent="0">
              <a:buNone/>
            </a:pPr>
            <a:endParaRPr lang="en-US" dirty="0"/>
          </a:p>
        </p:txBody>
      </p:sp>
      <p:sp>
        <p:nvSpPr>
          <p:cNvPr id="9" name="Text 7"/>
          <p:cNvSpPr/>
          <p:nvPr/>
        </p:nvSpPr>
        <p:spPr>
          <a:xfrm>
            <a:off x="5206752" y="1866602"/>
            <a:ext cx="3302347" cy="1355824"/>
          </a:xfrm>
          <a:prstGeom prst="rect">
            <a:avLst/>
          </a:prstGeom>
          <a:noFill/>
          <a:ln/>
        </p:spPr>
        <p:txBody>
          <a:bodyPr wrap="square" lIns="114300" tIns="0" rIns="0" bIns="0" rtlCol="0" anchor="t"/>
          <a:lstStyle/>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Analyze, monitor, and tune AI-powered solutions</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Manage testing of agents and custom AI models</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Design ALM across data, agents, and Dynamics 365 AI</a:t>
            </a:r>
            <a:endParaRPr lang="en-US" sz="1200" dirty="0"/>
          </a:p>
        </p:txBody>
      </p:sp>
      <p:sp>
        <p:nvSpPr>
          <p:cNvPr id="10" name="Text 8"/>
          <p:cNvSpPr/>
          <p:nvPr/>
        </p:nvSpPr>
        <p:spPr>
          <a:xfrm>
            <a:off x="5206752" y="3349377"/>
            <a:ext cx="3302347" cy="1040011"/>
          </a:xfrm>
          <a:prstGeom prst="rect">
            <a:avLst/>
          </a:prstGeom>
          <a:solidFill>
            <a:srgbClr val="2A3666"/>
          </a:solidFill>
          <a:ln/>
        </p:spPr>
        <p:txBody>
          <a:bodyPr wrap="square" rtlCol="0" anchor="ctr"/>
          <a:lstStyle/>
          <a:p>
            <a:pPr marL="0" indent="0">
              <a:buNone/>
            </a:pPr>
            <a:endParaRPr lang="en-US" dirty="0"/>
          </a:p>
        </p:txBody>
      </p:sp>
      <p:sp>
        <p:nvSpPr>
          <p:cNvPr id="11" name="Shape 9"/>
          <p:cNvSpPr/>
          <p:nvPr/>
        </p:nvSpPr>
        <p:spPr>
          <a:xfrm>
            <a:off x="5230564" y="3349377"/>
            <a:ext cx="0" cy="1040011"/>
          </a:xfrm>
          <a:prstGeom prst="line">
            <a:avLst/>
          </a:prstGeom>
          <a:noFill/>
          <a:ln w="47625">
            <a:solidFill>
              <a:srgbClr val="F4845F"/>
            </a:solidFill>
            <a:prstDash val="solid"/>
          </a:ln>
        </p:spPr>
        <p:txBody>
          <a:bodyPr/>
          <a:lstStyle/>
          <a:p>
            <a:endParaRPr lang="en-US"/>
          </a:p>
        </p:txBody>
      </p:sp>
      <p:sp>
        <p:nvSpPr>
          <p:cNvPr id="12" name="Text 10"/>
          <p:cNvSpPr/>
          <p:nvPr/>
        </p:nvSpPr>
        <p:spPr>
          <a:xfrm>
            <a:off x="5406777" y="3450878"/>
            <a:ext cx="3008921" cy="285750"/>
          </a:xfrm>
          <a:prstGeom prst="rect">
            <a:avLst/>
          </a:prstGeom>
          <a:noFill/>
          <a:ln/>
        </p:spPr>
        <p:txBody>
          <a:bodyPr wrap="square" lIns="0" tIns="0" rIns="0" bIns="0" rtlCol="0" anchor="t"/>
          <a:lstStyle/>
          <a:p>
            <a:pPr marL="0" indent="0" algn="l">
              <a:spcAft>
                <a:spcPts val="400"/>
              </a:spcAft>
              <a:buNone/>
            </a:pPr>
            <a:r>
              <a:rPr lang="en-US" sz="900" b="1" dirty="0">
                <a:solidFill>
                  <a:srgbClr val="F4845F"/>
                </a:solidFill>
                <a:latin typeface="Verdana" pitchFamily="34" charset="0"/>
                <a:ea typeface="Verdana" pitchFamily="34" charset="-122"/>
                <a:cs typeface="Verdana" pitchFamily="34" charset="-120"/>
              </a:rPr>
              <a:t>STUDY BETWEEN SESSIONS -- MICROSOFT LEARN</a:t>
            </a:r>
            <a:endParaRPr lang="en-US" sz="900" dirty="0"/>
          </a:p>
        </p:txBody>
      </p:sp>
      <p:sp>
        <p:nvSpPr>
          <p:cNvPr id="13" name="Text 11"/>
          <p:cNvSpPr/>
          <p:nvPr/>
        </p:nvSpPr>
        <p:spPr>
          <a:xfrm>
            <a:off x="5406777" y="3787378"/>
            <a:ext cx="2949922" cy="487859"/>
          </a:xfrm>
          <a:prstGeom prst="rect">
            <a:avLst/>
          </a:prstGeom>
          <a:noFill/>
          <a:ln/>
        </p:spPr>
        <p:txBody>
          <a:bodyPr wrap="square" lIns="88900" tIns="0" rIns="0" bIns="0" rtlCol="0" anchor="t"/>
          <a:lstStyle/>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08. Monitor, analyze, and tune agents</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09. Manage testing</a:t>
            </a:r>
            <a:endParaRPr lang="en-US" sz="900" dirty="0"/>
          </a:p>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10. Design ALM process</a:t>
            </a:r>
            <a:endParaRPr lang="en-US" sz="900" dirty="0"/>
          </a:p>
        </p:txBody>
      </p:sp>
      <p:sp>
        <p:nvSpPr>
          <p:cNvPr id="14" name="Text 12"/>
          <p:cNvSpPr/>
          <p:nvPr/>
        </p:nvSpPr>
        <p:spPr>
          <a:xfrm>
            <a:off x="5206752" y="4490889"/>
            <a:ext cx="3368394" cy="428625"/>
          </a:xfrm>
          <a:prstGeom prst="rect">
            <a:avLst/>
          </a:prstGeom>
          <a:noFill/>
          <a:ln/>
        </p:spPr>
        <p:txBody>
          <a:bodyPr wrap="square" lIns="0" tIns="0" rIns="0" bIns="0" rtlCol="0" anchor="t"/>
          <a:lstStyle/>
          <a:p>
            <a:pPr marL="0" indent="0" algn="l">
              <a:spcBef>
                <a:spcPts val="800"/>
              </a:spcBef>
              <a:buNone/>
            </a:pPr>
            <a:r>
              <a:rPr lang="en-US" sz="900" i="1" dirty="0">
                <a:solidFill>
                  <a:srgbClr val="A8B5D1"/>
                </a:solidFill>
                <a:latin typeface="Verdana" pitchFamily="34" charset="0"/>
                <a:ea typeface="Verdana" pitchFamily="34" charset="-122"/>
                <a:cs typeface="Verdana" pitchFamily="34" charset="-120"/>
              </a:rPr>
              <a:t>Note: Microsoft groups Deploy as one 40-45 percent domain. Tim splits it across segments 3 and 4 for pacing.</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3.1</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Monitor agents and tune from telemetry</a:t>
            </a:r>
            <a:endParaRPr lang="en-US" sz="2200" dirty="0"/>
          </a:p>
        </p:txBody>
      </p:sp>
      <p:sp>
        <p:nvSpPr>
          <p:cNvPr id="5" name="Text 3"/>
          <p:cNvSpPr/>
          <p:nvPr/>
        </p:nvSpPr>
        <p:spPr>
          <a:xfrm>
            <a:off x="507950" y="1215926"/>
            <a:ext cx="2624733" cy="1310432"/>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07950" y="1239738"/>
            <a:ext cx="2624733" cy="0"/>
          </a:xfrm>
          <a:prstGeom prst="line">
            <a:avLst/>
          </a:prstGeom>
          <a:noFill/>
          <a:ln w="47625">
            <a:solidFill>
              <a:srgbClr val="00B4D8"/>
            </a:solidFill>
            <a:prstDash val="solid"/>
          </a:ln>
        </p:spPr>
        <p:txBody>
          <a:bodyPr/>
          <a:lstStyle/>
          <a:p>
            <a:endParaRPr lang="en-US"/>
          </a:p>
        </p:txBody>
      </p:sp>
      <p:sp>
        <p:nvSpPr>
          <p:cNvPr id="7" name="Text 5"/>
          <p:cNvSpPr/>
          <p:nvPr/>
        </p:nvSpPr>
        <p:spPr>
          <a:xfrm>
            <a:off x="660350" y="1390501"/>
            <a:ext cx="2366331" cy="142875"/>
          </a:xfrm>
          <a:prstGeom prst="rect">
            <a:avLst/>
          </a:prstGeom>
          <a:noFill/>
          <a:ln/>
        </p:spPr>
        <p:txBody>
          <a:bodyPr wrap="square" lIns="0" tIns="0" rIns="0" bIns="0" rtlCol="0" anchor="t"/>
          <a:lstStyle/>
          <a:p>
            <a:pPr marL="0" indent="0" algn="l">
              <a:buNone/>
            </a:pPr>
            <a:r>
              <a:rPr lang="en-US" sz="900" b="1" dirty="0">
                <a:solidFill>
                  <a:srgbClr val="00B4D8"/>
                </a:solidFill>
                <a:latin typeface="Verdana" pitchFamily="34" charset="0"/>
                <a:ea typeface="Verdana" pitchFamily="34" charset="-122"/>
                <a:cs typeface="Verdana" pitchFamily="34" charset="-120"/>
              </a:rPr>
              <a:t>BUCKET 1</a:t>
            </a:r>
            <a:endParaRPr lang="en-US" sz="900" dirty="0"/>
          </a:p>
        </p:txBody>
      </p:sp>
      <p:sp>
        <p:nvSpPr>
          <p:cNvPr id="8" name="Text 6"/>
          <p:cNvSpPr/>
          <p:nvPr/>
        </p:nvSpPr>
        <p:spPr>
          <a:xfrm>
            <a:off x="660350" y="1558677"/>
            <a:ext cx="2366331" cy="180975"/>
          </a:xfrm>
          <a:prstGeom prst="rect">
            <a:avLst/>
          </a:prstGeom>
          <a:noFill/>
          <a:ln/>
        </p:spPr>
        <p:txBody>
          <a:bodyPr wrap="square" lIns="0" tIns="0" rIns="0" bIns="0" rtlCol="0" anchor="t"/>
          <a:lstStyle/>
          <a:p>
            <a:pPr marL="0" indent="0" algn="l">
              <a:spcBef>
                <a:spcPts val="200"/>
              </a:spcBef>
              <a:spcAft>
                <a:spcPts val="400"/>
              </a:spcAft>
              <a:buNone/>
            </a:pPr>
            <a:r>
              <a:rPr lang="en-US" sz="1200" b="1" dirty="0">
                <a:solidFill>
                  <a:srgbClr val="1F2A56"/>
                </a:solidFill>
                <a:latin typeface="Verdana" pitchFamily="34" charset="0"/>
                <a:ea typeface="Verdana" pitchFamily="34" charset="-122"/>
                <a:cs typeface="Verdana" pitchFamily="34" charset="-120"/>
              </a:rPr>
              <a:t>Operational</a:t>
            </a:r>
            <a:endParaRPr lang="en-US" sz="1200" dirty="0"/>
          </a:p>
        </p:txBody>
      </p:sp>
      <p:sp>
        <p:nvSpPr>
          <p:cNvPr id="9" name="Text 7"/>
          <p:cNvSpPr/>
          <p:nvPr/>
        </p:nvSpPr>
        <p:spPr>
          <a:xfrm>
            <a:off x="660350" y="1790402"/>
            <a:ext cx="2319933" cy="583704"/>
          </a:xfrm>
          <a:prstGeom prst="rect">
            <a:avLst/>
          </a:prstGeom>
          <a:noFill/>
          <a:ln/>
        </p:spPr>
        <p:txBody>
          <a:bodyPr wrap="square" lIns="88900" tIns="0" rIns="0" bIns="0" rtlCol="0" anchor="t"/>
          <a:lstStyle/>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Latency and throughput</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Error rate</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Resource utilization</a:t>
            </a:r>
            <a:endParaRPr lang="en-US" sz="1000" dirty="0"/>
          </a:p>
        </p:txBody>
      </p:sp>
      <p:sp>
        <p:nvSpPr>
          <p:cNvPr id="10" name="Text 8"/>
          <p:cNvSpPr/>
          <p:nvPr/>
        </p:nvSpPr>
        <p:spPr>
          <a:xfrm>
            <a:off x="3259634" y="1215926"/>
            <a:ext cx="2624733" cy="1310432"/>
          </a:xfrm>
          <a:prstGeom prst="rect">
            <a:avLst/>
          </a:prstGeom>
          <a:solidFill>
            <a:srgbClr val="E9ECF2"/>
          </a:solidFill>
          <a:ln/>
        </p:spPr>
        <p:txBody>
          <a:bodyPr wrap="square" rtlCol="0" anchor="ctr"/>
          <a:lstStyle/>
          <a:p>
            <a:pPr marL="0" indent="0">
              <a:buNone/>
            </a:pPr>
            <a:endParaRPr lang="en-US" dirty="0"/>
          </a:p>
        </p:txBody>
      </p:sp>
      <p:sp>
        <p:nvSpPr>
          <p:cNvPr id="11" name="Shape 9"/>
          <p:cNvSpPr/>
          <p:nvPr/>
        </p:nvSpPr>
        <p:spPr>
          <a:xfrm>
            <a:off x="3259634" y="1239738"/>
            <a:ext cx="2624733" cy="0"/>
          </a:xfrm>
          <a:prstGeom prst="line">
            <a:avLst/>
          </a:prstGeom>
          <a:noFill/>
          <a:ln w="47625">
            <a:solidFill>
              <a:srgbClr val="F4845F"/>
            </a:solidFill>
            <a:prstDash val="solid"/>
          </a:ln>
        </p:spPr>
        <p:txBody>
          <a:bodyPr/>
          <a:lstStyle/>
          <a:p>
            <a:endParaRPr lang="en-US"/>
          </a:p>
        </p:txBody>
      </p:sp>
      <p:sp>
        <p:nvSpPr>
          <p:cNvPr id="12" name="Text 10"/>
          <p:cNvSpPr/>
          <p:nvPr/>
        </p:nvSpPr>
        <p:spPr>
          <a:xfrm>
            <a:off x="3412034" y="1390501"/>
            <a:ext cx="2366331" cy="142875"/>
          </a:xfrm>
          <a:prstGeom prst="rect">
            <a:avLst/>
          </a:prstGeom>
          <a:noFill/>
          <a:ln/>
        </p:spPr>
        <p:txBody>
          <a:bodyPr wrap="square" lIns="0" tIns="0" rIns="0" bIns="0" rtlCol="0" anchor="t"/>
          <a:lstStyle/>
          <a:p>
            <a:pPr marL="0" indent="0" algn="l">
              <a:buNone/>
            </a:pPr>
            <a:r>
              <a:rPr lang="en-US" sz="900" b="1" dirty="0">
                <a:solidFill>
                  <a:srgbClr val="F4845F"/>
                </a:solidFill>
                <a:latin typeface="Verdana" pitchFamily="34" charset="0"/>
                <a:ea typeface="Verdana" pitchFamily="34" charset="-122"/>
                <a:cs typeface="Verdana" pitchFamily="34" charset="-120"/>
              </a:rPr>
              <a:t>BUCKET 2</a:t>
            </a:r>
            <a:endParaRPr lang="en-US" sz="900" dirty="0"/>
          </a:p>
        </p:txBody>
      </p:sp>
      <p:sp>
        <p:nvSpPr>
          <p:cNvPr id="13" name="Text 11"/>
          <p:cNvSpPr/>
          <p:nvPr/>
        </p:nvSpPr>
        <p:spPr>
          <a:xfrm>
            <a:off x="3412034" y="1558677"/>
            <a:ext cx="2366331" cy="180975"/>
          </a:xfrm>
          <a:prstGeom prst="rect">
            <a:avLst/>
          </a:prstGeom>
          <a:noFill/>
          <a:ln/>
        </p:spPr>
        <p:txBody>
          <a:bodyPr wrap="square" lIns="0" tIns="0" rIns="0" bIns="0" rtlCol="0" anchor="t"/>
          <a:lstStyle/>
          <a:p>
            <a:pPr marL="0" indent="0" algn="l">
              <a:spcBef>
                <a:spcPts val="200"/>
              </a:spcBef>
              <a:spcAft>
                <a:spcPts val="400"/>
              </a:spcAft>
              <a:buNone/>
            </a:pPr>
            <a:r>
              <a:rPr lang="en-US" sz="1200" b="1" dirty="0">
                <a:solidFill>
                  <a:srgbClr val="1F2A56"/>
                </a:solidFill>
                <a:latin typeface="Verdana" pitchFamily="34" charset="0"/>
                <a:ea typeface="Verdana" pitchFamily="34" charset="-122"/>
                <a:cs typeface="Verdana" pitchFamily="34" charset="-120"/>
              </a:rPr>
              <a:t>Quality and reasoning</a:t>
            </a:r>
            <a:endParaRPr lang="en-US" sz="1200" dirty="0"/>
          </a:p>
        </p:txBody>
      </p:sp>
      <p:sp>
        <p:nvSpPr>
          <p:cNvPr id="14" name="Text 12"/>
          <p:cNvSpPr/>
          <p:nvPr/>
        </p:nvSpPr>
        <p:spPr>
          <a:xfrm>
            <a:off x="3412034" y="1790402"/>
            <a:ext cx="2319933" cy="583704"/>
          </a:xfrm>
          <a:prstGeom prst="rect">
            <a:avLst/>
          </a:prstGeom>
          <a:noFill/>
          <a:ln/>
        </p:spPr>
        <p:txBody>
          <a:bodyPr wrap="square" lIns="88900" tIns="0" rIns="0" bIns="0" rtlCol="0" anchor="t"/>
          <a:lstStyle/>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Response accuracy</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Knowledge coverage</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Action effectiveness</a:t>
            </a:r>
            <a:endParaRPr lang="en-US" sz="1000" dirty="0"/>
          </a:p>
        </p:txBody>
      </p:sp>
      <p:sp>
        <p:nvSpPr>
          <p:cNvPr id="15" name="Text 13"/>
          <p:cNvSpPr/>
          <p:nvPr/>
        </p:nvSpPr>
        <p:spPr>
          <a:xfrm>
            <a:off x="6011317" y="1215926"/>
            <a:ext cx="2624733" cy="1310432"/>
          </a:xfrm>
          <a:prstGeom prst="rect">
            <a:avLst/>
          </a:prstGeom>
          <a:solidFill>
            <a:srgbClr val="E9ECF2"/>
          </a:solidFill>
          <a:ln/>
        </p:spPr>
        <p:txBody>
          <a:bodyPr wrap="square" rtlCol="0" anchor="ctr"/>
          <a:lstStyle/>
          <a:p>
            <a:pPr marL="0" indent="0">
              <a:buNone/>
            </a:pPr>
            <a:endParaRPr lang="en-US" dirty="0"/>
          </a:p>
        </p:txBody>
      </p:sp>
      <p:sp>
        <p:nvSpPr>
          <p:cNvPr id="16" name="Shape 14"/>
          <p:cNvSpPr/>
          <p:nvPr/>
        </p:nvSpPr>
        <p:spPr>
          <a:xfrm>
            <a:off x="6011317" y="1239738"/>
            <a:ext cx="2624733" cy="0"/>
          </a:xfrm>
          <a:prstGeom prst="line">
            <a:avLst/>
          </a:prstGeom>
          <a:noFill/>
          <a:ln w="47625">
            <a:solidFill>
              <a:srgbClr val="00B4D8"/>
            </a:solidFill>
            <a:prstDash val="solid"/>
          </a:ln>
        </p:spPr>
        <p:txBody>
          <a:bodyPr/>
          <a:lstStyle/>
          <a:p>
            <a:endParaRPr lang="en-US"/>
          </a:p>
        </p:txBody>
      </p:sp>
      <p:sp>
        <p:nvSpPr>
          <p:cNvPr id="17" name="Text 15"/>
          <p:cNvSpPr/>
          <p:nvPr/>
        </p:nvSpPr>
        <p:spPr>
          <a:xfrm>
            <a:off x="6163717" y="1390501"/>
            <a:ext cx="2366331" cy="142875"/>
          </a:xfrm>
          <a:prstGeom prst="rect">
            <a:avLst/>
          </a:prstGeom>
          <a:noFill/>
          <a:ln/>
        </p:spPr>
        <p:txBody>
          <a:bodyPr wrap="square" lIns="0" tIns="0" rIns="0" bIns="0" rtlCol="0" anchor="t"/>
          <a:lstStyle/>
          <a:p>
            <a:pPr marL="0" indent="0" algn="l">
              <a:buNone/>
            </a:pPr>
            <a:r>
              <a:rPr lang="en-US" sz="900" b="1" dirty="0">
                <a:solidFill>
                  <a:srgbClr val="00B4D8"/>
                </a:solidFill>
                <a:latin typeface="Verdana" pitchFamily="34" charset="0"/>
                <a:ea typeface="Verdana" pitchFamily="34" charset="-122"/>
                <a:cs typeface="Verdana" pitchFamily="34" charset="-120"/>
              </a:rPr>
              <a:t>BUCKET 3</a:t>
            </a:r>
            <a:endParaRPr lang="en-US" sz="900" dirty="0"/>
          </a:p>
        </p:txBody>
      </p:sp>
      <p:sp>
        <p:nvSpPr>
          <p:cNvPr id="18" name="Text 16"/>
          <p:cNvSpPr/>
          <p:nvPr/>
        </p:nvSpPr>
        <p:spPr>
          <a:xfrm>
            <a:off x="6163717" y="1558677"/>
            <a:ext cx="2366331" cy="180975"/>
          </a:xfrm>
          <a:prstGeom prst="rect">
            <a:avLst/>
          </a:prstGeom>
          <a:noFill/>
          <a:ln/>
        </p:spPr>
        <p:txBody>
          <a:bodyPr wrap="square" lIns="0" tIns="0" rIns="0" bIns="0" rtlCol="0" anchor="t"/>
          <a:lstStyle/>
          <a:p>
            <a:pPr marL="0" indent="0" algn="l">
              <a:spcBef>
                <a:spcPts val="200"/>
              </a:spcBef>
              <a:spcAft>
                <a:spcPts val="400"/>
              </a:spcAft>
              <a:buNone/>
            </a:pPr>
            <a:r>
              <a:rPr lang="en-US" sz="1200" b="1" dirty="0">
                <a:solidFill>
                  <a:srgbClr val="1F2A56"/>
                </a:solidFill>
                <a:latin typeface="Verdana" pitchFamily="34" charset="0"/>
                <a:ea typeface="Verdana" pitchFamily="34" charset="-122"/>
                <a:cs typeface="Verdana" pitchFamily="34" charset="-120"/>
              </a:rPr>
              <a:t>User-centered</a:t>
            </a:r>
            <a:endParaRPr lang="en-US" sz="1200" dirty="0"/>
          </a:p>
        </p:txBody>
      </p:sp>
      <p:sp>
        <p:nvSpPr>
          <p:cNvPr id="19" name="Text 17"/>
          <p:cNvSpPr/>
          <p:nvPr/>
        </p:nvSpPr>
        <p:spPr>
          <a:xfrm>
            <a:off x="6163717" y="1790402"/>
            <a:ext cx="2319933" cy="583704"/>
          </a:xfrm>
          <a:prstGeom prst="rect">
            <a:avLst/>
          </a:prstGeom>
          <a:noFill/>
          <a:ln/>
        </p:spPr>
        <p:txBody>
          <a:bodyPr wrap="square" lIns="88900" tIns="0" rIns="0" bIns="0" rtlCol="0" anchor="t"/>
          <a:lstStyle/>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Task completion rate</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Satisfaction (CSAT)</a:t>
            </a:r>
            <a:endParaRPr lang="en-US" sz="1000" dirty="0"/>
          </a:p>
          <a:p>
            <a:pPr marL="88900" indent="-88900" algn="l">
              <a:lnSpc>
                <a:spcPts val="1400"/>
              </a:lnSpc>
              <a:spcAft>
                <a:spcPts val="200"/>
              </a:spcAft>
              <a:buSzPct val="100000"/>
              <a:buChar char="•"/>
            </a:pPr>
            <a:r>
              <a:rPr lang="en-US" sz="1000" dirty="0">
                <a:solidFill>
                  <a:srgbClr val="1A1A2E"/>
                </a:solidFill>
                <a:latin typeface="Verdana" pitchFamily="34" charset="0"/>
                <a:ea typeface="Verdana" pitchFamily="34" charset="-122"/>
                <a:cs typeface="Verdana" pitchFamily="34" charset="-120"/>
              </a:rPr>
              <a:t>Abandonment rate</a:t>
            </a:r>
            <a:endParaRPr lang="en-US" sz="1000" dirty="0"/>
          </a:p>
        </p:txBody>
      </p:sp>
      <p:sp>
        <p:nvSpPr>
          <p:cNvPr id="20" name="Text 18"/>
          <p:cNvSpPr/>
          <p:nvPr/>
        </p:nvSpPr>
        <p:spPr>
          <a:xfrm>
            <a:off x="507950" y="2653308"/>
            <a:ext cx="1117699" cy="304800"/>
          </a:xfrm>
          <a:prstGeom prst="rect">
            <a:avLst/>
          </a:prstGeom>
          <a:solidFill>
            <a:srgbClr val="1F2A56"/>
          </a:solidFill>
          <a:ln/>
        </p:spPr>
        <p:txBody>
          <a:bodyPr wrap="square" rtlCol="0" anchor="ctr"/>
          <a:lstStyle/>
          <a:p>
            <a:pPr marL="0" indent="0">
              <a:buNone/>
            </a:pPr>
            <a:endParaRPr lang="en-US" dirty="0"/>
          </a:p>
        </p:txBody>
      </p:sp>
      <p:sp>
        <p:nvSpPr>
          <p:cNvPr id="21" name="Text 19"/>
          <p:cNvSpPr/>
          <p:nvPr/>
        </p:nvSpPr>
        <p:spPr>
          <a:xfrm>
            <a:off x="600304" y="2729508"/>
            <a:ext cx="932992"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Monitor</a:t>
            </a:r>
            <a:endParaRPr lang="en-US" sz="1000" dirty="0"/>
          </a:p>
        </p:txBody>
      </p:sp>
      <p:sp>
        <p:nvSpPr>
          <p:cNvPr id="22" name="Text 20"/>
          <p:cNvSpPr/>
          <p:nvPr/>
        </p:nvSpPr>
        <p:spPr>
          <a:xfrm>
            <a:off x="1701701" y="2715220"/>
            <a:ext cx="134803" cy="180975"/>
          </a:xfrm>
          <a:prstGeom prst="rect">
            <a:avLst/>
          </a:prstGeom>
          <a:noFill/>
          <a:ln/>
        </p:spPr>
        <p:txBody>
          <a:bodyPr wrap="square" lIns="0" tIns="0" rIns="0" bIns="0" rtlCol="0" anchor="t"/>
          <a:lstStyle/>
          <a:p>
            <a:pPr marL="0" indent="0" algn="l">
              <a:buNone/>
            </a:pPr>
            <a:r>
              <a:rPr lang="en-US" sz="1200" b="1" dirty="0">
                <a:solidFill>
                  <a:srgbClr val="00B4D8"/>
                </a:solidFill>
                <a:latin typeface="Verdana" pitchFamily="34" charset="0"/>
                <a:ea typeface="Verdana" pitchFamily="34" charset="-122"/>
                <a:cs typeface="Verdana" pitchFamily="34" charset="-120"/>
              </a:rPr>
              <a:t>&gt;</a:t>
            </a:r>
            <a:endParaRPr lang="en-US" sz="1200" dirty="0"/>
          </a:p>
        </p:txBody>
      </p:sp>
      <p:sp>
        <p:nvSpPr>
          <p:cNvPr id="23" name="Text 21"/>
          <p:cNvSpPr/>
          <p:nvPr/>
        </p:nvSpPr>
        <p:spPr>
          <a:xfrm>
            <a:off x="1909911" y="2653308"/>
            <a:ext cx="1117848" cy="304800"/>
          </a:xfrm>
          <a:prstGeom prst="rect">
            <a:avLst/>
          </a:prstGeom>
          <a:solidFill>
            <a:srgbClr val="1F2A56"/>
          </a:solidFill>
          <a:ln/>
        </p:spPr>
        <p:txBody>
          <a:bodyPr wrap="square" rtlCol="0" anchor="ctr"/>
          <a:lstStyle/>
          <a:p>
            <a:pPr marL="0" indent="0">
              <a:buNone/>
            </a:pPr>
            <a:endParaRPr lang="en-US" dirty="0"/>
          </a:p>
        </p:txBody>
      </p:sp>
      <p:sp>
        <p:nvSpPr>
          <p:cNvPr id="24" name="Text 22"/>
          <p:cNvSpPr/>
          <p:nvPr/>
        </p:nvSpPr>
        <p:spPr>
          <a:xfrm>
            <a:off x="2002264" y="2729508"/>
            <a:ext cx="933143"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Detect</a:t>
            </a:r>
            <a:endParaRPr lang="en-US" sz="1000" dirty="0"/>
          </a:p>
        </p:txBody>
      </p:sp>
      <p:sp>
        <p:nvSpPr>
          <p:cNvPr id="25" name="Text 23"/>
          <p:cNvSpPr/>
          <p:nvPr/>
        </p:nvSpPr>
        <p:spPr>
          <a:xfrm>
            <a:off x="3103811" y="2715220"/>
            <a:ext cx="134803" cy="180975"/>
          </a:xfrm>
          <a:prstGeom prst="rect">
            <a:avLst/>
          </a:prstGeom>
          <a:noFill/>
          <a:ln/>
        </p:spPr>
        <p:txBody>
          <a:bodyPr wrap="square" lIns="0" tIns="0" rIns="0" bIns="0" rtlCol="0" anchor="t"/>
          <a:lstStyle/>
          <a:p>
            <a:pPr marL="0" indent="0" algn="l">
              <a:buNone/>
            </a:pPr>
            <a:r>
              <a:rPr lang="en-US" sz="1200" b="1" dirty="0">
                <a:solidFill>
                  <a:srgbClr val="00B4D8"/>
                </a:solidFill>
                <a:latin typeface="Verdana" pitchFamily="34" charset="0"/>
                <a:ea typeface="Verdana" pitchFamily="34" charset="-122"/>
                <a:cs typeface="Verdana" pitchFamily="34" charset="-120"/>
              </a:rPr>
              <a:t>&gt;</a:t>
            </a:r>
            <a:endParaRPr lang="en-US" sz="1200" dirty="0"/>
          </a:p>
        </p:txBody>
      </p:sp>
      <p:sp>
        <p:nvSpPr>
          <p:cNvPr id="26" name="Text 24"/>
          <p:cNvSpPr/>
          <p:nvPr/>
        </p:nvSpPr>
        <p:spPr>
          <a:xfrm>
            <a:off x="3312021" y="2653308"/>
            <a:ext cx="1117699" cy="304800"/>
          </a:xfrm>
          <a:prstGeom prst="rect">
            <a:avLst/>
          </a:prstGeom>
          <a:solidFill>
            <a:srgbClr val="1F2A56"/>
          </a:solidFill>
          <a:ln/>
        </p:spPr>
        <p:txBody>
          <a:bodyPr wrap="square" rtlCol="0" anchor="ctr"/>
          <a:lstStyle/>
          <a:p>
            <a:pPr marL="0" indent="0">
              <a:buNone/>
            </a:pPr>
            <a:endParaRPr lang="en-US" dirty="0"/>
          </a:p>
        </p:txBody>
      </p:sp>
      <p:sp>
        <p:nvSpPr>
          <p:cNvPr id="27" name="Text 25"/>
          <p:cNvSpPr/>
          <p:nvPr/>
        </p:nvSpPr>
        <p:spPr>
          <a:xfrm>
            <a:off x="3404375" y="2729508"/>
            <a:ext cx="932992"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Correlate</a:t>
            </a:r>
            <a:endParaRPr lang="en-US" sz="1000" dirty="0"/>
          </a:p>
        </p:txBody>
      </p:sp>
      <p:sp>
        <p:nvSpPr>
          <p:cNvPr id="28" name="Text 26"/>
          <p:cNvSpPr/>
          <p:nvPr/>
        </p:nvSpPr>
        <p:spPr>
          <a:xfrm>
            <a:off x="4505771" y="2715220"/>
            <a:ext cx="134803" cy="180975"/>
          </a:xfrm>
          <a:prstGeom prst="rect">
            <a:avLst/>
          </a:prstGeom>
          <a:noFill/>
          <a:ln/>
        </p:spPr>
        <p:txBody>
          <a:bodyPr wrap="square" lIns="0" tIns="0" rIns="0" bIns="0" rtlCol="0" anchor="t"/>
          <a:lstStyle/>
          <a:p>
            <a:pPr marL="0" indent="0" algn="l">
              <a:buNone/>
            </a:pPr>
            <a:r>
              <a:rPr lang="en-US" sz="1200" b="1" dirty="0">
                <a:solidFill>
                  <a:srgbClr val="00B4D8"/>
                </a:solidFill>
                <a:latin typeface="Verdana" pitchFamily="34" charset="0"/>
                <a:ea typeface="Verdana" pitchFamily="34" charset="-122"/>
                <a:cs typeface="Verdana" pitchFamily="34" charset="-120"/>
              </a:rPr>
              <a:t>&gt;</a:t>
            </a:r>
            <a:endParaRPr lang="en-US" sz="1200" dirty="0"/>
          </a:p>
        </p:txBody>
      </p:sp>
      <p:sp>
        <p:nvSpPr>
          <p:cNvPr id="29" name="Text 27"/>
          <p:cNvSpPr/>
          <p:nvPr/>
        </p:nvSpPr>
        <p:spPr>
          <a:xfrm>
            <a:off x="4713982" y="2653308"/>
            <a:ext cx="1117848" cy="304800"/>
          </a:xfrm>
          <a:prstGeom prst="rect">
            <a:avLst/>
          </a:prstGeom>
          <a:solidFill>
            <a:srgbClr val="1F2A56"/>
          </a:solidFill>
          <a:ln/>
        </p:spPr>
        <p:txBody>
          <a:bodyPr wrap="square" rtlCol="0" anchor="ctr"/>
          <a:lstStyle/>
          <a:p>
            <a:pPr marL="0" indent="0">
              <a:buNone/>
            </a:pPr>
            <a:endParaRPr lang="en-US" dirty="0"/>
          </a:p>
        </p:txBody>
      </p:sp>
      <p:sp>
        <p:nvSpPr>
          <p:cNvPr id="30" name="Text 28"/>
          <p:cNvSpPr/>
          <p:nvPr/>
        </p:nvSpPr>
        <p:spPr>
          <a:xfrm>
            <a:off x="4806334" y="2729508"/>
            <a:ext cx="933143"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Root cause</a:t>
            </a:r>
            <a:endParaRPr lang="en-US" sz="1000" dirty="0"/>
          </a:p>
        </p:txBody>
      </p:sp>
      <p:sp>
        <p:nvSpPr>
          <p:cNvPr id="31" name="Text 29"/>
          <p:cNvSpPr/>
          <p:nvPr/>
        </p:nvSpPr>
        <p:spPr>
          <a:xfrm>
            <a:off x="5907881" y="2715220"/>
            <a:ext cx="134803" cy="180975"/>
          </a:xfrm>
          <a:prstGeom prst="rect">
            <a:avLst/>
          </a:prstGeom>
          <a:noFill/>
          <a:ln/>
        </p:spPr>
        <p:txBody>
          <a:bodyPr wrap="square" lIns="0" tIns="0" rIns="0" bIns="0" rtlCol="0" anchor="t"/>
          <a:lstStyle/>
          <a:p>
            <a:pPr marL="0" indent="0" algn="l">
              <a:buNone/>
            </a:pPr>
            <a:r>
              <a:rPr lang="en-US" sz="1200" b="1" dirty="0">
                <a:solidFill>
                  <a:srgbClr val="00B4D8"/>
                </a:solidFill>
                <a:latin typeface="Verdana" pitchFamily="34" charset="0"/>
                <a:ea typeface="Verdana" pitchFamily="34" charset="-122"/>
                <a:cs typeface="Verdana" pitchFamily="34" charset="-120"/>
              </a:rPr>
              <a:t>&gt;</a:t>
            </a:r>
            <a:endParaRPr lang="en-US" sz="1200" dirty="0"/>
          </a:p>
        </p:txBody>
      </p:sp>
      <p:sp>
        <p:nvSpPr>
          <p:cNvPr id="32" name="Text 30"/>
          <p:cNvSpPr/>
          <p:nvPr/>
        </p:nvSpPr>
        <p:spPr>
          <a:xfrm>
            <a:off x="6116092" y="2653308"/>
            <a:ext cx="1117848" cy="304800"/>
          </a:xfrm>
          <a:prstGeom prst="rect">
            <a:avLst/>
          </a:prstGeom>
          <a:solidFill>
            <a:srgbClr val="1F2A56"/>
          </a:solidFill>
          <a:ln/>
        </p:spPr>
        <p:txBody>
          <a:bodyPr wrap="square" rtlCol="0" anchor="ctr"/>
          <a:lstStyle/>
          <a:p>
            <a:pPr marL="0" indent="0">
              <a:buNone/>
            </a:pPr>
            <a:endParaRPr lang="en-US" dirty="0"/>
          </a:p>
        </p:txBody>
      </p:sp>
      <p:sp>
        <p:nvSpPr>
          <p:cNvPr id="33" name="Text 31"/>
          <p:cNvSpPr/>
          <p:nvPr/>
        </p:nvSpPr>
        <p:spPr>
          <a:xfrm>
            <a:off x="6208444" y="2729508"/>
            <a:ext cx="933143"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Tune</a:t>
            </a:r>
            <a:endParaRPr lang="en-US" sz="1000" dirty="0"/>
          </a:p>
        </p:txBody>
      </p:sp>
      <p:sp>
        <p:nvSpPr>
          <p:cNvPr id="34" name="Text 32"/>
          <p:cNvSpPr/>
          <p:nvPr/>
        </p:nvSpPr>
        <p:spPr>
          <a:xfrm>
            <a:off x="7309991" y="2715220"/>
            <a:ext cx="134803" cy="180975"/>
          </a:xfrm>
          <a:prstGeom prst="rect">
            <a:avLst/>
          </a:prstGeom>
          <a:noFill/>
          <a:ln/>
        </p:spPr>
        <p:txBody>
          <a:bodyPr wrap="square" lIns="0" tIns="0" rIns="0" bIns="0" rtlCol="0" anchor="t"/>
          <a:lstStyle/>
          <a:p>
            <a:pPr marL="0" indent="0" algn="l">
              <a:buNone/>
            </a:pPr>
            <a:r>
              <a:rPr lang="en-US" sz="1200" b="1" dirty="0">
                <a:solidFill>
                  <a:srgbClr val="00B4D8"/>
                </a:solidFill>
                <a:latin typeface="Verdana" pitchFamily="34" charset="0"/>
                <a:ea typeface="Verdana" pitchFamily="34" charset="-122"/>
                <a:cs typeface="Verdana" pitchFamily="34" charset="-120"/>
              </a:rPr>
              <a:t>&gt;</a:t>
            </a:r>
            <a:endParaRPr lang="en-US" sz="1200" dirty="0"/>
          </a:p>
        </p:txBody>
      </p:sp>
      <p:sp>
        <p:nvSpPr>
          <p:cNvPr id="35" name="Text 33"/>
          <p:cNvSpPr/>
          <p:nvPr/>
        </p:nvSpPr>
        <p:spPr>
          <a:xfrm>
            <a:off x="7518202" y="2653308"/>
            <a:ext cx="1117848" cy="304800"/>
          </a:xfrm>
          <a:prstGeom prst="rect">
            <a:avLst/>
          </a:prstGeom>
          <a:solidFill>
            <a:srgbClr val="1F2A56"/>
          </a:solidFill>
          <a:ln/>
        </p:spPr>
        <p:txBody>
          <a:bodyPr wrap="square" rtlCol="0" anchor="ctr"/>
          <a:lstStyle/>
          <a:p>
            <a:pPr marL="0" indent="0">
              <a:buNone/>
            </a:pPr>
            <a:endParaRPr lang="en-US" dirty="0"/>
          </a:p>
        </p:txBody>
      </p:sp>
      <p:sp>
        <p:nvSpPr>
          <p:cNvPr id="36" name="Text 34"/>
          <p:cNvSpPr/>
          <p:nvPr/>
        </p:nvSpPr>
        <p:spPr>
          <a:xfrm>
            <a:off x="7610554" y="2729508"/>
            <a:ext cx="933143"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Validate</a:t>
            </a:r>
            <a:endParaRPr lang="en-US" sz="1000" dirty="0"/>
          </a:p>
        </p:txBody>
      </p:sp>
      <p:sp>
        <p:nvSpPr>
          <p:cNvPr id="37" name="Text 35"/>
          <p:cNvSpPr/>
          <p:nvPr/>
        </p:nvSpPr>
        <p:spPr>
          <a:xfrm>
            <a:off x="507950" y="3085058"/>
            <a:ext cx="8128099" cy="558403"/>
          </a:xfrm>
          <a:prstGeom prst="rect">
            <a:avLst/>
          </a:prstGeom>
          <a:solidFill>
            <a:srgbClr val="1F2A56"/>
          </a:solidFill>
          <a:ln/>
        </p:spPr>
        <p:txBody>
          <a:bodyPr wrap="square" rtlCol="0" anchor="ctr"/>
          <a:lstStyle/>
          <a:p>
            <a:pPr marL="0" indent="0">
              <a:buNone/>
            </a:pPr>
            <a:endParaRPr lang="en-US" dirty="0"/>
          </a:p>
        </p:txBody>
      </p:sp>
      <p:sp>
        <p:nvSpPr>
          <p:cNvPr id="38" name="Shape 36"/>
          <p:cNvSpPr/>
          <p:nvPr/>
        </p:nvSpPr>
        <p:spPr>
          <a:xfrm>
            <a:off x="536525" y="3085058"/>
            <a:ext cx="0" cy="558403"/>
          </a:xfrm>
          <a:prstGeom prst="line">
            <a:avLst/>
          </a:prstGeom>
          <a:noFill/>
          <a:ln w="57150">
            <a:solidFill>
              <a:srgbClr val="F4845F"/>
            </a:solidFill>
            <a:prstDash val="solid"/>
          </a:ln>
        </p:spPr>
        <p:txBody>
          <a:bodyPr/>
          <a:lstStyle/>
          <a:p>
            <a:endParaRPr lang="en-US"/>
          </a:p>
        </p:txBody>
      </p:sp>
      <p:sp>
        <p:nvSpPr>
          <p:cNvPr id="39" name="Text 37"/>
          <p:cNvSpPr/>
          <p:nvPr/>
        </p:nvSpPr>
        <p:spPr>
          <a:xfrm>
            <a:off x="717500" y="3186559"/>
            <a:ext cx="7921472" cy="355402"/>
          </a:xfrm>
          <a:prstGeom prst="rect">
            <a:avLst/>
          </a:prstGeom>
          <a:noFill/>
          <a:ln/>
        </p:spPr>
        <p:txBody>
          <a:bodyPr wrap="square" lIns="0" tIns="0" rIns="0" bIns="0" rtlCol="0" anchor="t"/>
          <a:lstStyle/>
          <a:p>
            <a:pPr marL="0" indent="0" algn="l">
              <a:lnSpc>
                <a:spcPts val="1400"/>
              </a:lnSpc>
              <a:buNone/>
            </a:pPr>
            <a:r>
              <a:rPr lang="en-US" sz="1000" b="1" dirty="0">
                <a:solidFill>
                  <a:srgbClr val="00B4D8"/>
                </a:solidFill>
                <a:latin typeface="Verdana" pitchFamily="34" charset="0"/>
                <a:ea typeface="Verdana" pitchFamily="34" charset="-122"/>
                <a:cs typeface="Verdana" pitchFamily="34" charset="-120"/>
              </a:rPr>
              <a:t>Task completion rate is the user-success metric.</a:t>
            </a:r>
            <a:r>
              <a:rPr lang="en-US" sz="1000" dirty="0">
                <a:solidFill>
                  <a:srgbClr val="FFFFFF"/>
                </a:solidFill>
                <a:latin typeface="Verdana" pitchFamily="34" charset="0"/>
                <a:ea typeface="Verdana" pitchFamily="34" charset="-122"/>
                <a:cs typeface="Verdana" pitchFamily="34" charset="-120"/>
              </a:rPr>
              <a:t> Sudden drop in output relevancy is the strongest model-drift signal. Tune from patterns, not isolated events.</a:t>
            </a:r>
            <a:endParaRPr lang="en-US" sz="1000" dirty="0"/>
          </a:p>
        </p:txBody>
      </p:sp>
      <p:sp>
        <p:nvSpPr>
          <p:cNvPr id="40" name="Text 38"/>
          <p:cNvSpPr/>
          <p:nvPr/>
        </p:nvSpPr>
        <p:spPr>
          <a:xfrm>
            <a:off x="507950" y="487367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SUBDOMAINS 3.2 AND 3.3</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Test strategy and ALM golden rules</a:t>
            </a:r>
            <a:endParaRPr lang="en-US" sz="2200" dirty="0"/>
          </a:p>
        </p:txBody>
      </p:sp>
      <p:sp>
        <p:nvSpPr>
          <p:cNvPr id="5" name="Text 3"/>
          <p:cNvSpPr/>
          <p:nvPr/>
        </p:nvSpPr>
        <p:spPr>
          <a:xfrm>
            <a:off x="507950" y="1292126"/>
            <a:ext cx="4028745"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Test strategy (3.2)</a:t>
            </a:r>
            <a:endParaRPr lang="en-US" sz="1300" dirty="0"/>
          </a:p>
        </p:txBody>
      </p:sp>
      <p:sp>
        <p:nvSpPr>
          <p:cNvPr id="6" name="Text 4"/>
          <p:cNvSpPr/>
          <p:nvPr/>
        </p:nvSpPr>
        <p:spPr>
          <a:xfrm>
            <a:off x="507950" y="1593652"/>
            <a:ext cx="3949750" cy="120015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Process and metrics to test agents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Validation criteria for custom AI models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Validate Copilot prompt best practices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End-to-end tests across multiple Dynamics 365 apps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Generate test cases by using Copilot</a:t>
            </a:r>
            <a:endParaRPr lang="en-US" sz="1100" dirty="0"/>
          </a:p>
        </p:txBody>
      </p:sp>
      <p:sp>
        <p:nvSpPr>
          <p:cNvPr id="7" name="Text 5"/>
          <p:cNvSpPr/>
          <p:nvPr/>
        </p:nvSpPr>
        <p:spPr>
          <a:xfrm>
            <a:off x="507950" y="2920752"/>
            <a:ext cx="4028745"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What ALM covers (3.3)</a:t>
            </a:r>
            <a:endParaRPr lang="en-US" sz="1300" dirty="0"/>
          </a:p>
        </p:txBody>
      </p:sp>
      <p:sp>
        <p:nvSpPr>
          <p:cNvPr id="8" name="Text 6"/>
          <p:cNvSpPr/>
          <p:nvPr/>
        </p:nvSpPr>
        <p:spPr>
          <a:xfrm>
            <a:off x="507950" y="3222278"/>
            <a:ext cx="3949750" cy="95250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Data used in AI models and agents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Copilot Studio agents, connectors, actions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Microsoft Foundry agents and custom models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AI in Dynamics 365 finance, supply chain, and CES</a:t>
            </a:r>
            <a:endParaRPr lang="en-US" sz="1100" dirty="0"/>
          </a:p>
        </p:txBody>
      </p:sp>
      <p:sp>
        <p:nvSpPr>
          <p:cNvPr id="9" name="Text 7"/>
          <p:cNvSpPr/>
          <p:nvPr/>
        </p:nvSpPr>
        <p:spPr>
          <a:xfrm>
            <a:off x="4686300" y="1292126"/>
            <a:ext cx="4028745"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Three-environment pipeline</a:t>
            </a:r>
            <a:endParaRPr lang="en-US" sz="1300" dirty="0"/>
          </a:p>
        </p:txBody>
      </p:sp>
      <p:sp>
        <p:nvSpPr>
          <p:cNvPr id="10" name="Text 8"/>
          <p:cNvSpPr/>
          <p:nvPr/>
        </p:nvSpPr>
        <p:spPr>
          <a:xfrm>
            <a:off x="4686300" y="1593652"/>
            <a:ext cx="1096417" cy="355402"/>
          </a:xfrm>
          <a:prstGeom prst="rect">
            <a:avLst/>
          </a:prstGeom>
          <a:solidFill>
            <a:srgbClr val="1F2A56"/>
          </a:solidFill>
          <a:ln/>
        </p:spPr>
        <p:txBody>
          <a:bodyPr wrap="square" rtlCol="0" anchor="ctr"/>
          <a:lstStyle/>
          <a:p>
            <a:pPr marL="0" indent="0">
              <a:buNone/>
            </a:pPr>
            <a:endParaRPr lang="en-US" dirty="0"/>
          </a:p>
        </p:txBody>
      </p:sp>
      <p:sp>
        <p:nvSpPr>
          <p:cNvPr id="11" name="Text 9"/>
          <p:cNvSpPr/>
          <p:nvPr/>
        </p:nvSpPr>
        <p:spPr>
          <a:xfrm>
            <a:off x="4753060" y="1695152"/>
            <a:ext cx="962897"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DEV</a:t>
            </a:r>
            <a:endParaRPr lang="en-US" sz="1000" dirty="0"/>
          </a:p>
        </p:txBody>
      </p:sp>
      <p:sp>
        <p:nvSpPr>
          <p:cNvPr id="12" name="Text 10"/>
          <p:cNvSpPr/>
          <p:nvPr/>
        </p:nvSpPr>
        <p:spPr>
          <a:xfrm>
            <a:off x="5858917" y="1661815"/>
            <a:ext cx="181255" cy="219075"/>
          </a:xfrm>
          <a:prstGeom prst="rect">
            <a:avLst/>
          </a:prstGeom>
          <a:noFill/>
          <a:ln/>
        </p:spPr>
        <p:txBody>
          <a:bodyPr wrap="square" lIns="0" tIns="0" rIns="0" bIns="0" rtlCol="0" anchor="t"/>
          <a:lstStyle/>
          <a:p>
            <a:pPr marL="0" indent="0" algn="l">
              <a:buNone/>
            </a:pPr>
            <a:r>
              <a:rPr lang="en-US" sz="1400" b="1" dirty="0">
                <a:solidFill>
                  <a:srgbClr val="F4845F"/>
                </a:solidFill>
                <a:latin typeface="Verdana" pitchFamily="34" charset="0"/>
                <a:ea typeface="Verdana" pitchFamily="34" charset="-122"/>
                <a:cs typeface="Verdana" pitchFamily="34" charset="-120"/>
              </a:rPr>
              <a:t>&gt;</a:t>
            </a:r>
            <a:endParaRPr lang="en-US" sz="1400" dirty="0"/>
          </a:p>
        </p:txBody>
      </p:sp>
      <p:sp>
        <p:nvSpPr>
          <p:cNvPr id="13" name="Text 11"/>
          <p:cNvSpPr/>
          <p:nvPr/>
        </p:nvSpPr>
        <p:spPr>
          <a:xfrm>
            <a:off x="6112818" y="1593652"/>
            <a:ext cx="1096566" cy="355402"/>
          </a:xfrm>
          <a:prstGeom prst="rect">
            <a:avLst/>
          </a:prstGeom>
          <a:solidFill>
            <a:srgbClr val="1F2A56"/>
          </a:solidFill>
          <a:ln/>
        </p:spPr>
        <p:txBody>
          <a:bodyPr wrap="square" rtlCol="0" anchor="ctr"/>
          <a:lstStyle/>
          <a:p>
            <a:pPr marL="0" indent="0">
              <a:buNone/>
            </a:pPr>
            <a:endParaRPr lang="en-US" dirty="0"/>
          </a:p>
        </p:txBody>
      </p:sp>
      <p:sp>
        <p:nvSpPr>
          <p:cNvPr id="14" name="Text 12"/>
          <p:cNvSpPr/>
          <p:nvPr/>
        </p:nvSpPr>
        <p:spPr>
          <a:xfrm>
            <a:off x="6179576" y="1695152"/>
            <a:ext cx="963049"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TEST</a:t>
            </a:r>
            <a:endParaRPr lang="en-US" sz="1000" dirty="0"/>
          </a:p>
        </p:txBody>
      </p:sp>
      <p:sp>
        <p:nvSpPr>
          <p:cNvPr id="15" name="Text 13"/>
          <p:cNvSpPr/>
          <p:nvPr/>
        </p:nvSpPr>
        <p:spPr>
          <a:xfrm>
            <a:off x="7285583" y="1661815"/>
            <a:ext cx="181255" cy="219075"/>
          </a:xfrm>
          <a:prstGeom prst="rect">
            <a:avLst/>
          </a:prstGeom>
          <a:noFill/>
          <a:ln/>
        </p:spPr>
        <p:txBody>
          <a:bodyPr wrap="square" lIns="0" tIns="0" rIns="0" bIns="0" rtlCol="0" anchor="t"/>
          <a:lstStyle/>
          <a:p>
            <a:pPr marL="0" indent="0" algn="l">
              <a:buNone/>
            </a:pPr>
            <a:r>
              <a:rPr lang="en-US" sz="1400" b="1" dirty="0">
                <a:solidFill>
                  <a:srgbClr val="F4845F"/>
                </a:solidFill>
                <a:latin typeface="Verdana" pitchFamily="34" charset="0"/>
                <a:ea typeface="Verdana" pitchFamily="34" charset="-122"/>
                <a:cs typeface="Verdana" pitchFamily="34" charset="-120"/>
              </a:rPr>
              <a:t>&gt;</a:t>
            </a:r>
            <a:endParaRPr lang="en-US" sz="1400" dirty="0"/>
          </a:p>
        </p:txBody>
      </p:sp>
      <p:sp>
        <p:nvSpPr>
          <p:cNvPr id="16" name="Text 14"/>
          <p:cNvSpPr/>
          <p:nvPr/>
        </p:nvSpPr>
        <p:spPr>
          <a:xfrm>
            <a:off x="7539484" y="1593652"/>
            <a:ext cx="1096566" cy="355402"/>
          </a:xfrm>
          <a:prstGeom prst="rect">
            <a:avLst/>
          </a:prstGeom>
          <a:solidFill>
            <a:srgbClr val="1F2A56"/>
          </a:solidFill>
          <a:ln/>
        </p:spPr>
        <p:txBody>
          <a:bodyPr wrap="square" rtlCol="0" anchor="ctr"/>
          <a:lstStyle/>
          <a:p>
            <a:pPr marL="0" indent="0">
              <a:buNone/>
            </a:pPr>
            <a:endParaRPr lang="en-US" dirty="0"/>
          </a:p>
        </p:txBody>
      </p:sp>
      <p:sp>
        <p:nvSpPr>
          <p:cNvPr id="17" name="Text 15"/>
          <p:cNvSpPr/>
          <p:nvPr/>
        </p:nvSpPr>
        <p:spPr>
          <a:xfrm>
            <a:off x="7606242" y="1695152"/>
            <a:ext cx="963049" cy="152400"/>
          </a:xfrm>
          <a:prstGeom prst="rect">
            <a:avLst/>
          </a:prstGeom>
          <a:noFill/>
          <a:ln/>
        </p:spPr>
        <p:txBody>
          <a:bodyPr wrap="square" lIns="0" tIns="0" rIns="0" bIns="0" rtlCol="0" anchor="t"/>
          <a:lstStyle/>
          <a:p>
            <a:pPr marL="0" indent="0" algn="ctr">
              <a:buNone/>
            </a:pPr>
            <a:r>
              <a:rPr lang="en-US" sz="1000" b="1" dirty="0">
                <a:solidFill>
                  <a:srgbClr val="FFFFFF"/>
                </a:solidFill>
                <a:latin typeface="Verdana" pitchFamily="34" charset="0"/>
                <a:ea typeface="Verdana" pitchFamily="34" charset="-122"/>
                <a:cs typeface="Verdana" pitchFamily="34" charset="-120"/>
              </a:rPr>
              <a:t>PROD</a:t>
            </a:r>
            <a:endParaRPr lang="en-US" sz="1000" dirty="0"/>
          </a:p>
        </p:txBody>
      </p:sp>
      <p:sp>
        <p:nvSpPr>
          <p:cNvPr id="18" name="Text 16"/>
          <p:cNvSpPr/>
          <p:nvPr/>
        </p:nvSpPr>
        <p:spPr>
          <a:xfrm>
            <a:off x="4686300" y="2126754"/>
            <a:ext cx="4028745" cy="200025"/>
          </a:xfrm>
          <a:prstGeom prst="rect">
            <a:avLst/>
          </a:prstGeom>
          <a:noFill/>
          <a:ln/>
        </p:spPr>
        <p:txBody>
          <a:bodyPr wrap="square" lIns="0" tIns="0" rIns="0" bIns="0" rtlCol="0" anchor="t"/>
          <a:lstStyle/>
          <a:p>
            <a:pPr marL="0" indent="0" algn="l">
              <a:spcBef>
                <a:spcPts val="1400"/>
              </a:spcBef>
              <a:spcAft>
                <a:spcPts val="800"/>
              </a:spcAft>
              <a:buNone/>
            </a:pPr>
            <a:r>
              <a:rPr lang="en-US" sz="1300" b="1" dirty="0">
                <a:solidFill>
                  <a:srgbClr val="1F2A56"/>
                </a:solidFill>
                <a:latin typeface="Verdana" pitchFamily="34" charset="0"/>
                <a:ea typeface="Verdana" pitchFamily="34" charset="-122"/>
                <a:cs typeface="Verdana" pitchFamily="34" charset="-120"/>
              </a:rPr>
              <a:t>ALM golden rules</a:t>
            </a:r>
            <a:endParaRPr lang="en-US" sz="1300" dirty="0"/>
          </a:p>
        </p:txBody>
      </p:sp>
      <p:sp>
        <p:nvSpPr>
          <p:cNvPr id="19" name="Text 17"/>
          <p:cNvSpPr/>
          <p:nvPr/>
        </p:nvSpPr>
        <p:spPr>
          <a:xfrm>
            <a:off x="4686300" y="2428280"/>
            <a:ext cx="3949750" cy="1200150"/>
          </a:xfrm>
          <a:prstGeom prst="rect">
            <a:avLst/>
          </a:prstGeom>
          <a:noFill/>
          <a:ln/>
        </p:spPr>
        <p:txBody>
          <a:bodyPr wrap="square" lIns="101600" tIns="0" rIns="0" bIns="0" rtlCol="0" anchor="t"/>
          <a:lstStyle/>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Never customize outside dev</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Always work in solutions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Use environment variables for settings</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Deploy managed solutions to test and prod</a:t>
            </a:r>
            <a:endParaRPr lang="en-US" sz="1100" dirty="0"/>
          </a:p>
          <a:p>
            <a:pPr marL="101600" indent="-101600" algn="l">
              <a:lnSpc>
                <a:spcPts val="1650"/>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Automate with Power Platform pipelines</a:t>
            </a:r>
            <a:endParaRPr lang="en-US" sz="1100" dirty="0"/>
          </a:p>
        </p:txBody>
      </p:sp>
      <p:sp>
        <p:nvSpPr>
          <p:cNvPr id="20" name="Text 18"/>
          <p:cNvSpPr/>
          <p:nvPr/>
        </p:nvSpPr>
        <p:spPr>
          <a:xfrm>
            <a:off x="4686300" y="3755380"/>
            <a:ext cx="3949750" cy="645021"/>
          </a:xfrm>
          <a:prstGeom prst="rect">
            <a:avLst/>
          </a:prstGeom>
          <a:solidFill>
            <a:srgbClr val="E9ECF2"/>
          </a:solidFill>
          <a:ln/>
        </p:spPr>
        <p:txBody>
          <a:bodyPr wrap="square" rtlCol="0" anchor="ctr"/>
          <a:lstStyle/>
          <a:p>
            <a:pPr marL="0" indent="0">
              <a:buNone/>
            </a:pPr>
            <a:endParaRPr lang="en-US" dirty="0"/>
          </a:p>
        </p:txBody>
      </p:sp>
      <p:sp>
        <p:nvSpPr>
          <p:cNvPr id="21" name="Shape 19"/>
          <p:cNvSpPr/>
          <p:nvPr/>
        </p:nvSpPr>
        <p:spPr>
          <a:xfrm>
            <a:off x="4714875" y="3755380"/>
            <a:ext cx="0" cy="645021"/>
          </a:xfrm>
          <a:prstGeom prst="line">
            <a:avLst/>
          </a:prstGeom>
          <a:noFill/>
          <a:ln w="57150">
            <a:solidFill>
              <a:srgbClr val="F4845F"/>
            </a:solidFill>
            <a:prstDash val="solid"/>
          </a:ln>
        </p:spPr>
        <p:txBody>
          <a:bodyPr/>
          <a:lstStyle/>
          <a:p>
            <a:endParaRPr lang="en-US"/>
          </a:p>
        </p:txBody>
      </p:sp>
      <p:sp>
        <p:nvSpPr>
          <p:cNvPr id="22" name="Text 20"/>
          <p:cNvSpPr/>
          <p:nvPr/>
        </p:nvSpPr>
        <p:spPr>
          <a:xfrm>
            <a:off x="4895850" y="3882330"/>
            <a:ext cx="3659556" cy="391120"/>
          </a:xfrm>
          <a:prstGeom prst="rect">
            <a:avLst/>
          </a:prstGeom>
          <a:noFill/>
          <a:ln/>
        </p:spPr>
        <p:txBody>
          <a:bodyPr wrap="square" lIns="0" tIns="0" rIns="0" bIns="0" rtlCol="0" anchor="t"/>
          <a:lstStyle/>
          <a:p>
            <a:pPr marL="0" indent="0" algn="l">
              <a:lnSpc>
                <a:spcPts val="1540"/>
              </a:lnSpc>
              <a:buNone/>
            </a:pPr>
            <a:r>
              <a:rPr lang="en-US" sz="1100" b="1" dirty="0">
                <a:solidFill>
                  <a:srgbClr val="1F2A56"/>
                </a:solidFill>
                <a:latin typeface="Verdana" pitchFamily="34" charset="0"/>
                <a:ea typeface="Verdana" pitchFamily="34" charset="-122"/>
                <a:cs typeface="Verdana" pitchFamily="34" charset="-120"/>
              </a:rPr>
              <a:t>Watch out:</a:t>
            </a:r>
            <a:r>
              <a:rPr lang="en-US" sz="1100" dirty="0">
                <a:solidFill>
                  <a:srgbClr val="1A1A2E"/>
                </a:solidFill>
                <a:latin typeface="Verdana" pitchFamily="34" charset="0"/>
                <a:ea typeface="Verdana" pitchFamily="34" charset="-122"/>
                <a:cs typeface="Verdana" pitchFamily="34" charset="-120"/>
              </a:rPr>
              <a:t> some Copilot Studio settings are not solution-aware -- App Insights, channels, sharing.</a:t>
            </a:r>
            <a:endParaRPr lang="en-US" sz="1100" dirty="0"/>
          </a:p>
        </p:txBody>
      </p:sp>
      <p:sp>
        <p:nvSpPr>
          <p:cNvPr id="23" name="Text 21"/>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ALM strategy for Copilot Studio; Power Platform pipelines for agents.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3.3 -- ENVIRONMENT STRATEGY</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Dev to Test to Pre-Prod to Prod</a:t>
            </a:r>
            <a:endParaRPr lang="en-US" sz="2200" dirty="0"/>
          </a:p>
        </p:txBody>
      </p:sp>
      <p:sp>
        <p:nvSpPr>
          <p:cNvPr id="5" name="Text 3"/>
          <p:cNvSpPr/>
          <p:nvPr/>
        </p:nvSpPr>
        <p:spPr>
          <a:xfrm>
            <a:off x="507950" y="1241375"/>
            <a:ext cx="1955899" cy="682526"/>
          </a:xfrm>
          <a:prstGeom prst="rect">
            <a:avLst/>
          </a:prstGeom>
          <a:solidFill>
            <a:srgbClr val="E9ECF2"/>
          </a:solidFill>
          <a:ln/>
        </p:spPr>
        <p:txBody>
          <a:bodyPr wrap="square" rtlCol="0" anchor="ctr"/>
          <a:lstStyle/>
          <a:p>
            <a:pPr marL="0" indent="0">
              <a:buNone/>
            </a:pPr>
            <a:endParaRPr lang="en-US" dirty="0"/>
          </a:p>
        </p:txBody>
      </p:sp>
      <p:sp>
        <p:nvSpPr>
          <p:cNvPr id="6" name="Shape 4"/>
          <p:cNvSpPr/>
          <p:nvPr/>
        </p:nvSpPr>
        <p:spPr>
          <a:xfrm>
            <a:off x="507950" y="1265188"/>
            <a:ext cx="1955899" cy="0"/>
          </a:xfrm>
          <a:prstGeom prst="line">
            <a:avLst/>
          </a:prstGeom>
          <a:noFill/>
          <a:ln w="47625">
            <a:solidFill>
              <a:srgbClr val="00B4D8"/>
            </a:solidFill>
            <a:prstDash val="solid"/>
          </a:ln>
        </p:spPr>
        <p:txBody>
          <a:bodyPr/>
          <a:lstStyle/>
          <a:p>
            <a:endParaRPr lang="en-US"/>
          </a:p>
        </p:txBody>
      </p:sp>
      <p:sp>
        <p:nvSpPr>
          <p:cNvPr id="7" name="Text 5"/>
          <p:cNvSpPr/>
          <p:nvPr/>
        </p:nvSpPr>
        <p:spPr>
          <a:xfrm>
            <a:off x="591922" y="1415951"/>
            <a:ext cx="1787956" cy="142875"/>
          </a:xfrm>
          <a:prstGeom prst="rect">
            <a:avLst/>
          </a:prstGeom>
          <a:noFill/>
          <a:ln/>
        </p:spPr>
        <p:txBody>
          <a:bodyPr wrap="square" lIns="0" tIns="0" rIns="0" bIns="0" rtlCol="0" anchor="t"/>
          <a:lstStyle/>
          <a:p>
            <a:pPr marL="0" indent="0" algn="ctr">
              <a:buNone/>
            </a:pPr>
            <a:r>
              <a:rPr lang="en-US" sz="900" b="1" dirty="0">
                <a:solidFill>
                  <a:srgbClr val="00B4D8"/>
                </a:solidFill>
                <a:latin typeface="Verdana" pitchFamily="34" charset="0"/>
                <a:ea typeface="Verdana" pitchFamily="34" charset="-122"/>
                <a:cs typeface="Verdana" pitchFamily="34" charset="-120"/>
              </a:rPr>
              <a:t>STAGE 1</a:t>
            </a:r>
            <a:endParaRPr lang="en-US" sz="900" dirty="0"/>
          </a:p>
        </p:txBody>
      </p:sp>
      <p:sp>
        <p:nvSpPr>
          <p:cNvPr id="8" name="Text 6"/>
          <p:cNvSpPr/>
          <p:nvPr/>
        </p:nvSpPr>
        <p:spPr>
          <a:xfrm>
            <a:off x="591922" y="1596926"/>
            <a:ext cx="1787956" cy="200025"/>
          </a:xfrm>
          <a:prstGeom prst="rect">
            <a:avLst/>
          </a:prstGeom>
          <a:noFill/>
          <a:ln/>
        </p:spPr>
        <p:txBody>
          <a:bodyPr wrap="square" lIns="0" tIns="0" rIns="0" bIns="0" rtlCol="0" anchor="t"/>
          <a:lstStyle/>
          <a:p>
            <a:pPr marL="0" indent="0" algn="ctr">
              <a:spcBef>
                <a:spcPts val="300"/>
              </a:spcBef>
              <a:buNone/>
            </a:pPr>
            <a:r>
              <a:rPr lang="en-US" sz="1300" b="1" dirty="0">
                <a:solidFill>
                  <a:srgbClr val="1F2A56"/>
                </a:solidFill>
                <a:latin typeface="Verdana" pitchFamily="34" charset="0"/>
                <a:ea typeface="Verdana" pitchFamily="34" charset="-122"/>
                <a:cs typeface="Verdana" pitchFamily="34" charset="-120"/>
              </a:rPr>
              <a:t>Dev</a:t>
            </a:r>
            <a:endParaRPr lang="en-US" sz="1300" dirty="0"/>
          </a:p>
        </p:txBody>
      </p:sp>
      <p:sp>
        <p:nvSpPr>
          <p:cNvPr id="9" name="Text 7"/>
          <p:cNvSpPr/>
          <p:nvPr/>
        </p:nvSpPr>
        <p:spPr>
          <a:xfrm>
            <a:off x="2565350" y="1241375"/>
            <a:ext cx="1955899" cy="682526"/>
          </a:xfrm>
          <a:prstGeom prst="rect">
            <a:avLst/>
          </a:prstGeom>
          <a:solidFill>
            <a:srgbClr val="E9ECF2"/>
          </a:solidFill>
          <a:ln/>
        </p:spPr>
        <p:txBody>
          <a:bodyPr wrap="square" rtlCol="0" anchor="ctr"/>
          <a:lstStyle/>
          <a:p>
            <a:pPr marL="0" indent="0">
              <a:buNone/>
            </a:pPr>
            <a:endParaRPr lang="en-US" dirty="0"/>
          </a:p>
        </p:txBody>
      </p:sp>
      <p:sp>
        <p:nvSpPr>
          <p:cNvPr id="10" name="Shape 8"/>
          <p:cNvSpPr/>
          <p:nvPr/>
        </p:nvSpPr>
        <p:spPr>
          <a:xfrm>
            <a:off x="2565350" y="1265188"/>
            <a:ext cx="1955899" cy="0"/>
          </a:xfrm>
          <a:prstGeom prst="line">
            <a:avLst/>
          </a:prstGeom>
          <a:noFill/>
          <a:ln w="47625">
            <a:solidFill>
              <a:srgbClr val="00B4D8"/>
            </a:solidFill>
            <a:prstDash val="solid"/>
          </a:ln>
        </p:spPr>
        <p:txBody>
          <a:bodyPr/>
          <a:lstStyle/>
          <a:p>
            <a:endParaRPr lang="en-US"/>
          </a:p>
        </p:txBody>
      </p:sp>
      <p:sp>
        <p:nvSpPr>
          <p:cNvPr id="11" name="Text 9"/>
          <p:cNvSpPr/>
          <p:nvPr/>
        </p:nvSpPr>
        <p:spPr>
          <a:xfrm>
            <a:off x="2649322" y="1415951"/>
            <a:ext cx="1787956" cy="142875"/>
          </a:xfrm>
          <a:prstGeom prst="rect">
            <a:avLst/>
          </a:prstGeom>
          <a:noFill/>
          <a:ln/>
        </p:spPr>
        <p:txBody>
          <a:bodyPr wrap="square" lIns="0" tIns="0" rIns="0" bIns="0" rtlCol="0" anchor="t"/>
          <a:lstStyle/>
          <a:p>
            <a:pPr marL="0" indent="0" algn="ctr">
              <a:buNone/>
            </a:pPr>
            <a:r>
              <a:rPr lang="en-US" sz="900" b="1" dirty="0">
                <a:solidFill>
                  <a:srgbClr val="00B4D8"/>
                </a:solidFill>
                <a:latin typeface="Verdana" pitchFamily="34" charset="0"/>
                <a:ea typeface="Verdana" pitchFamily="34" charset="-122"/>
                <a:cs typeface="Verdana" pitchFamily="34" charset="-120"/>
              </a:rPr>
              <a:t>STAGE 2</a:t>
            </a:r>
            <a:endParaRPr lang="en-US" sz="900" dirty="0"/>
          </a:p>
        </p:txBody>
      </p:sp>
      <p:sp>
        <p:nvSpPr>
          <p:cNvPr id="12" name="Text 10"/>
          <p:cNvSpPr/>
          <p:nvPr/>
        </p:nvSpPr>
        <p:spPr>
          <a:xfrm>
            <a:off x="2649322" y="1596926"/>
            <a:ext cx="1787956" cy="200025"/>
          </a:xfrm>
          <a:prstGeom prst="rect">
            <a:avLst/>
          </a:prstGeom>
          <a:noFill/>
          <a:ln/>
        </p:spPr>
        <p:txBody>
          <a:bodyPr wrap="square" lIns="0" tIns="0" rIns="0" bIns="0" rtlCol="0" anchor="t"/>
          <a:lstStyle/>
          <a:p>
            <a:pPr marL="0" indent="0" algn="ctr">
              <a:spcBef>
                <a:spcPts val="300"/>
              </a:spcBef>
              <a:buNone/>
            </a:pPr>
            <a:r>
              <a:rPr lang="en-US" sz="1300" b="1" dirty="0">
                <a:solidFill>
                  <a:srgbClr val="1F2A56"/>
                </a:solidFill>
                <a:latin typeface="Verdana" pitchFamily="34" charset="0"/>
                <a:ea typeface="Verdana" pitchFamily="34" charset="-122"/>
                <a:cs typeface="Verdana" pitchFamily="34" charset="-120"/>
              </a:rPr>
              <a:t>Test</a:t>
            </a:r>
            <a:endParaRPr lang="en-US" sz="1300" dirty="0"/>
          </a:p>
        </p:txBody>
      </p:sp>
      <p:sp>
        <p:nvSpPr>
          <p:cNvPr id="13" name="Text 11"/>
          <p:cNvSpPr/>
          <p:nvPr/>
        </p:nvSpPr>
        <p:spPr>
          <a:xfrm>
            <a:off x="4622750" y="1241375"/>
            <a:ext cx="1955899" cy="682526"/>
          </a:xfrm>
          <a:prstGeom prst="rect">
            <a:avLst/>
          </a:prstGeom>
          <a:solidFill>
            <a:srgbClr val="E9ECF2"/>
          </a:solidFill>
          <a:ln/>
        </p:spPr>
        <p:txBody>
          <a:bodyPr wrap="square" rtlCol="0" anchor="ctr"/>
          <a:lstStyle/>
          <a:p>
            <a:pPr marL="0" indent="0">
              <a:buNone/>
            </a:pPr>
            <a:endParaRPr lang="en-US" dirty="0"/>
          </a:p>
        </p:txBody>
      </p:sp>
      <p:sp>
        <p:nvSpPr>
          <p:cNvPr id="14" name="Shape 12"/>
          <p:cNvSpPr/>
          <p:nvPr/>
        </p:nvSpPr>
        <p:spPr>
          <a:xfrm>
            <a:off x="4622750" y="1265188"/>
            <a:ext cx="1955899" cy="0"/>
          </a:xfrm>
          <a:prstGeom prst="line">
            <a:avLst/>
          </a:prstGeom>
          <a:noFill/>
          <a:ln w="47625">
            <a:solidFill>
              <a:srgbClr val="F4845F"/>
            </a:solidFill>
            <a:prstDash val="solid"/>
          </a:ln>
        </p:spPr>
        <p:txBody>
          <a:bodyPr/>
          <a:lstStyle/>
          <a:p>
            <a:endParaRPr lang="en-US"/>
          </a:p>
        </p:txBody>
      </p:sp>
      <p:sp>
        <p:nvSpPr>
          <p:cNvPr id="15" name="Text 13"/>
          <p:cNvSpPr/>
          <p:nvPr/>
        </p:nvSpPr>
        <p:spPr>
          <a:xfrm>
            <a:off x="4706722" y="1415951"/>
            <a:ext cx="1787956" cy="142875"/>
          </a:xfrm>
          <a:prstGeom prst="rect">
            <a:avLst/>
          </a:prstGeom>
          <a:noFill/>
          <a:ln/>
        </p:spPr>
        <p:txBody>
          <a:bodyPr wrap="square" lIns="0" tIns="0" rIns="0" bIns="0" rtlCol="0" anchor="t"/>
          <a:lstStyle/>
          <a:p>
            <a:pPr marL="0" indent="0" algn="ctr">
              <a:buNone/>
            </a:pPr>
            <a:r>
              <a:rPr lang="en-US" sz="900" b="1" dirty="0">
                <a:solidFill>
                  <a:srgbClr val="00B4D8"/>
                </a:solidFill>
                <a:latin typeface="Verdana" pitchFamily="34" charset="0"/>
                <a:ea typeface="Verdana" pitchFamily="34" charset="-122"/>
                <a:cs typeface="Verdana" pitchFamily="34" charset="-120"/>
              </a:rPr>
              <a:t>STAGE 3 -- CANARY</a:t>
            </a:r>
            <a:endParaRPr lang="en-US" sz="900" dirty="0"/>
          </a:p>
        </p:txBody>
      </p:sp>
      <p:sp>
        <p:nvSpPr>
          <p:cNvPr id="16" name="Text 14"/>
          <p:cNvSpPr/>
          <p:nvPr/>
        </p:nvSpPr>
        <p:spPr>
          <a:xfrm>
            <a:off x="4706722" y="1596926"/>
            <a:ext cx="1787956" cy="200025"/>
          </a:xfrm>
          <a:prstGeom prst="rect">
            <a:avLst/>
          </a:prstGeom>
          <a:noFill/>
          <a:ln/>
        </p:spPr>
        <p:txBody>
          <a:bodyPr wrap="square" lIns="0" tIns="0" rIns="0" bIns="0" rtlCol="0" anchor="t"/>
          <a:lstStyle/>
          <a:p>
            <a:pPr marL="0" indent="0" algn="ctr">
              <a:spcBef>
                <a:spcPts val="300"/>
              </a:spcBef>
              <a:buNone/>
            </a:pPr>
            <a:r>
              <a:rPr lang="en-US" sz="1300" b="1" dirty="0">
                <a:solidFill>
                  <a:srgbClr val="1F2A56"/>
                </a:solidFill>
                <a:latin typeface="Verdana" pitchFamily="34" charset="0"/>
                <a:ea typeface="Verdana" pitchFamily="34" charset="-122"/>
                <a:cs typeface="Verdana" pitchFamily="34" charset="-120"/>
              </a:rPr>
              <a:t>Pre-Prod</a:t>
            </a:r>
            <a:endParaRPr lang="en-US" sz="1300" dirty="0"/>
          </a:p>
        </p:txBody>
      </p:sp>
      <p:sp>
        <p:nvSpPr>
          <p:cNvPr id="17" name="Text 15"/>
          <p:cNvSpPr/>
          <p:nvPr/>
        </p:nvSpPr>
        <p:spPr>
          <a:xfrm>
            <a:off x="6680150" y="1241375"/>
            <a:ext cx="1955899" cy="682526"/>
          </a:xfrm>
          <a:prstGeom prst="rect">
            <a:avLst/>
          </a:prstGeom>
          <a:solidFill>
            <a:srgbClr val="1F2A56"/>
          </a:solidFill>
          <a:ln/>
        </p:spPr>
        <p:txBody>
          <a:bodyPr wrap="square" rtlCol="0" anchor="ctr"/>
          <a:lstStyle/>
          <a:p>
            <a:pPr marL="0" indent="0">
              <a:buNone/>
            </a:pPr>
            <a:endParaRPr lang="en-US" dirty="0"/>
          </a:p>
        </p:txBody>
      </p:sp>
      <p:sp>
        <p:nvSpPr>
          <p:cNvPr id="18" name="Shape 16"/>
          <p:cNvSpPr/>
          <p:nvPr/>
        </p:nvSpPr>
        <p:spPr>
          <a:xfrm>
            <a:off x="6680150" y="1265188"/>
            <a:ext cx="1955899" cy="0"/>
          </a:xfrm>
          <a:prstGeom prst="line">
            <a:avLst/>
          </a:prstGeom>
          <a:noFill/>
          <a:ln w="47625">
            <a:solidFill>
              <a:srgbClr val="FFFFFF"/>
            </a:solidFill>
            <a:prstDash val="solid"/>
          </a:ln>
        </p:spPr>
        <p:txBody>
          <a:bodyPr/>
          <a:lstStyle/>
          <a:p>
            <a:endParaRPr lang="en-US"/>
          </a:p>
        </p:txBody>
      </p:sp>
      <p:sp>
        <p:nvSpPr>
          <p:cNvPr id="19" name="Text 17"/>
          <p:cNvSpPr/>
          <p:nvPr/>
        </p:nvSpPr>
        <p:spPr>
          <a:xfrm>
            <a:off x="6764122" y="1415951"/>
            <a:ext cx="1787956" cy="142875"/>
          </a:xfrm>
          <a:prstGeom prst="rect">
            <a:avLst/>
          </a:prstGeom>
          <a:noFill/>
          <a:ln/>
        </p:spPr>
        <p:txBody>
          <a:bodyPr wrap="square" lIns="0" tIns="0" rIns="0" bIns="0" rtlCol="0" anchor="t"/>
          <a:lstStyle/>
          <a:p>
            <a:pPr marL="0" indent="0" algn="ctr">
              <a:buNone/>
            </a:pPr>
            <a:r>
              <a:rPr lang="en-US" sz="900" b="1" dirty="0">
                <a:solidFill>
                  <a:srgbClr val="00B4D8"/>
                </a:solidFill>
                <a:latin typeface="Verdana" pitchFamily="34" charset="0"/>
                <a:ea typeface="Verdana" pitchFamily="34" charset="-122"/>
                <a:cs typeface="Verdana" pitchFamily="34" charset="-120"/>
              </a:rPr>
              <a:t>STAGE 4</a:t>
            </a:r>
            <a:endParaRPr lang="en-US" sz="900" dirty="0"/>
          </a:p>
        </p:txBody>
      </p:sp>
      <p:sp>
        <p:nvSpPr>
          <p:cNvPr id="20" name="Text 18"/>
          <p:cNvSpPr/>
          <p:nvPr/>
        </p:nvSpPr>
        <p:spPr>
          <a:xfrm>
            <a:off x="6764122" y="1596926"/>
            <a:ext cx="1787956" cy="200025"/>
          </a:xfrm>
          <a:prstGeom prst="rect">
            <a:avLst/>
          </a:prstGeom>
          <a:noFill/>
          <a:ln/>
        </p:spPr>
        <p:txBody>
          <a:bodyPr wrap="square" lIns="0" tIns="0" rIns="0" bIns="0" rtlCol="0" anchor="t"/>
          <a:lstStyle/>
          <a:p>
            <a:pPr marL="0" indent="0" algn="ctr">
              <a:spcBef>
                <a:spcPts val="300"/>
              </a:spcBef>
              <a:buNone/>
            </a:pPr>
            <a:r>
              <a:rPr lang="en-US" sz="1300" b="1" dirty="0">
                <a:solidFill>
                  <a:srgbClr val="FFFFFF"/>
                </a:solidFill>
                <a:latin typeface="Verdana" pitchFamily="34" charset="0"/>
                <a:ea typeface="Verdana" pitchFamily="34" charset="-122"/>
                <a:cs typeface="Verdana" pitchFamily="34" charset="-120"/>
              </a:rPr>
              <a:t>Prod</a:t>
            </a:r>
            <a:endParaRPr lang="en-US" sz="1300" dirty="0"/>
          </a:p>
        </p:txBody>
      </p:sp>
      <p:sp>
        <p:nvSpPr>
          <p:cNvPr id="21" name="Text 19"/>
          <p:cNvSpPr/>
          <p:nvPr/>
        </p:nvSpPr>
        <p:spPr>
          <a:xfrm>
            <a:off x="507950" y="3323183"/>
            <a:ext cx="8128099" cy="609302"/>
          </a:xfrm>
          <a:prstGeom prst="rect">
            <a:avLst/>
          </a:prstGeom>
          <a:solidFill>
            <a:srgbClr val="1F2A56"/>
          </a:solidFill>
          <a:ln/>
        </p:spPr>
        <p:txBody>
          <a:bodyPr wrap="square" rtlCol="0" anchor="ctr"/>
          <a:lstStyle/>
          <a:p>
            <a:pPr marL="0" indent="0">
              <a:buNone/>
            </a:pPr>
            <a:endParaRPr lang="en-US" dirty="0"/>
          </a:p>
        </p:txBody>
      </p:sp>
      <p:sp>
        <p:nvSpPr>
          <p:cNvPr id="22" name="Shape 20"/>
          <p:cNvSpPr/>
          <p:nvPr/>
        </p:nvSpPr>
        <p:spPr>
          <a:xfrm>
            <a:off x="536525" y="3323183"/>
            <a:ext cx="0" cy="609302"/>
          </a:xfrm>
          <a:prstGeom prst="line">
            <a:avLst/>
          </a:prstGeom>
          <a:noFill/>
          <a:ln w="57150">
            <a:solidFill>
              <a:srgbClr val="F4845F"/>
            </a:solidFill>
            <a:prstDash val="solid"/>
          </a:ln>
        </p:spPr>
        <p:txBody>
          <a:bodyPr/>
          <a:lstStyle/>
          <a:p>
            <a:endParaRPr lang="en-US"/>
          </a:p>
        </p:txBody>
      </p:sp>
      <p:sp>
        <p:nvSpPr>
          <p:cNvPr id="23" name="Text 21"/>
          <p:cNvSpPr/>
          <p:nvPr/>
        </p:nvSpPr>
        <p:spPr>
          <a:xfrm>
            <a:off x="742801" y="3450134"/>
            <a:ext cx="7869859" cy="355402"/>
          </a:xfrm>
          <a:prstGeom prst="rect">
            <a:avLst/>
          </a:prstGeom>
          <a:noFill/>
          <a:ln/>
        </p:spPr>
        <p:txBody>
          <a:bodyPr wrap="square" lIns="0" tIns="0" rIns="0" bIns="0" rtlCol="0" anchor="t"/>
          <a:lstStyle/>
          <a:p>
            <a:pPr marL="0" indent="0" algn="l">
              <a:lnSpc>
                <a:spcPts val="1400"/>
              </a:lnSpc>
              <a:buNone/>
            </a:pPr>
            <a:r>
              <a:rPr lang="en-US" sz="1000" b="1" dirty="0">
                <a:solidFill>
                  <a:srgbClr val="00B4D8"/>
                </a:solidFill>
                <a:latin typeface="Verdana" pitchFamily="34" charset="0"/>
                <a:ea typeface="Verdana" pitchFamily="34" charset="-122"/>
                <a:cs typeface="Verdana" pitchFamily="34" charset="-120"/>
              </a:rPr>
              <a:t>Red is mutable, gold is frozen.</a:t>
            </a:r>
            <a:r>
              <a:rPr lang="en-US" sz="1000" dirty="0">
                <a:solidFill>
                  <a:srgbClr val="FFFFFF"/>
                </a:solidFill>
                <a:latin typeface="Verdana" pitchFamily="34" charset="0"/>
                <a:ea typeface="Verdana" pitchFamily="34" charset="-122"/>
                <a:cs typeface="Verdana" pitchFamily="34" charset="-120"/>
              </a:rPr>
              <a:t> Only frozen, evaluation-passed datasets cross into Prod. Promotion is a control plane decision, not a deployment step.</a:t>
            </a:r>
            <a:endParaRPr lang="en-US" sz="1000" dirty="0"/>
          </a:p>
        </p:txBody>
      </p:sp>
      <p:sp>
        <p:nvSpPr>
          <p:cNvPr id="24" name="Text 22"/>
          <p:cNvSpPr/>
          <p:nvPr/>
        </p:nvSpPr>
        <p:spPr>
          <a:xfrm>
            <a:off x="507950" y="4084737"/>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9">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0" y="0"/>
            <a:ext cx="4698802" cy="5143500"/>
          </a:xfrm>
          <a:prstGeom prst="rect">
            <a:avLst/>
          </a:prstGeom>
          <a:solidFill>
            <a:srgbClr val="F4845F"/>
          </a:solidFill>
          <a:ln/>
        </p:spPr>
        <p:txBody>
          <a:bodyPr wrap="square" rtlCol="0" anchor="ctr"/>
          <a:lstStyle/>
          <a:p>
            <a:pPr marL="0" indent="0">
              <a:buNone/>
            </a:pPr>
            <a:endParaRPr lang="en-US" dirty="0"/>
          </a:p>
        </p:txBody>
      </p:sp>
      <p:sp>
        <p:nvSpPr>
          <p:cNvPr id="3" name="Text 1"/>
          <p:cNvSpPr/>
          <p:nvPr/>
        </p:nvSpPr>
        <p:spPr>
          <a:xfrm>
            <a:off x="634901" y="634901"/>
            <a:ext cx="3627069" cy="200025"/>
          </a:xfrm>
          <a:prstGeom prst="rect">
            <a:avLst/>
          </a:prstGeom>
          <a:noFill/>
          <a:ln/>
        </p:spPr>
        <p:txBody>
          <a:bodyPr wrap="square" lIns="0" tIns="0" rIns="0" bIns="0" rtlCol="0" anchor="t"/>
          <a:lstStyle/>
          <a:p>
            <a:pPr marL="0" indent="0" algn="l">
              <a:spcAft>
                <a:spcPts val="1400"/>
              </a:spcAft>
              <a:buNone/>
            </a:pPr>
            <a:r>
              <a:rPr lang="en-US" sz="1300" b="1" dirty="0">
                <a:solidFill>
                  <a:srgbClr val="1F2A56"/>
                </a:solidFill>
                <a:latin typeface="Verdana" pitchFamily="34" charset="0"/>
                <a:ea typeface="Verdana" pitchFamily="34" charset="-122"/>
                <a:cs typeface="Verdana" pitchFamily="34" charset="-120"/>
              </a:rPr>
              <a:t>SEGMENT</a:t>
            </a:r>
            <a:endParaRPr lang="en-US" sz="1300" dirty="0"/>
          </a:p>
        </p:txBody>
      </p:sp>
      <p:sp>
        <p:nvSpPr>
          <p:cNvPr id="4" name="Text 2"/>
          <p:cNvSpPr/>
          <p:nvPr/>
        </p:nvSpPr>
        <p:spPr>
          <a:xfrm>
            <a:off x="634901" y="1012627"/>
            <a:ext cx="3627069" cy="1257300"/>
          </a:xfrm>
          <a:prstGeom prst="rect">
            <a:avLst/>
          </a:prstGeom>
          <a:noFill/>
          <a:ln/>
        </p:spPr>
        <p:txBody>
          <a:bodyPr wrap="square" lIns="0" tIns="0" rIns="0" bIns="0" rtlCol="0" anchor="t"/>
          <a:lstStyle/>
          <a:p>
            <a:pPr marL="0" indent="0" algn="l">
              <a:lnSpc>
                <a:spcPts val="9900"/>
              </a:lnSpc>
              <a:buNone/>
            </a:pPr>
            <a:r>
              <a:rPr lang="en-US" sz="11000" b="1" dirty="0">
                <a:solidFill>
                  <a:srgbClr val="1F2A56"/>
                </a:solidFill>
                <a:latin typeface="Verdana" pitchFamily="34" charset="0"/>
                <a:ea typeface="Verdana" pitchFamily="34" charset="-122"/>
                <a:cs typeface="Verdana" pitchFamily="34" charset="-120"/>
              </a:rPr>
              <a:t>4</a:t>
            </a:r>
            <a:endParaRPr lang="en-US" sz="11000" dirty="0"/>
          </a:p>
        </p:txBody>
      </p:sp>
      <p:sp>
        <p:nvSpPr>
          <p:cNvPr id="5" name="Text 3"/>
          <p:cNvSpPr/>
          <p:nvPr/>
        </p:nvSpPr>
        <p:spPr>
          <a:xfrm>
            <a:off x="634901" y="2447627"/>
            <a:ext cx="3627069" cy="238125"/>
          </a:xfrm>
          <a:prstGeom prst="rect">
            <a:avLst/>
          </a:prstGeom>
          <a:noFill/>
          <a:ln/>
        </p:spPr>
        <p:txBody>
          <a:bodyPr wrap="square" lIns="0" tIns="0" rIns="0" bIns="0" rtlCol="0" anchor="t"/>
          <a:lstStyle/>
          <a:p>
            <a:pPr marL="0" indent="0" algn="l">
              <a:spcBef>
                <a:spcPts val="1400"/>
              </a:spcBef>
              <a:buNone/>
            </a:pPr>
            <a:r>
              <a:rPr lang="en-US" sz="1600" b="1" dirty="0">
                <a:solidFill>
                  <a:srgbClr val="1F2A56"/>
                </a:solidFill>
                <a:latin typeface="Verdana" pitchFamily="34" charset="0"/>
                <a:ea typeface="Verdana" pitchFamily="34" charset="-122"/>
                <a:cs typeface="Verdana" pitchFamily="34" charset="-120"/>
              </a:rPr>
              <a:t>3:00 -- 3:50</a:t>
            </a:r>
            <a:endParaRPr lang="en-US" sz="1600" dirty="0"/>
          </a:p>
        </p:txBody>
      </p:sp>
      <p:sp>
        <p:nvSpPr>
          <p:cNvPr id="6" name="Text 4"/>
          <p:cNvSpPr/>
          <p:nvPr/>
        </p:nvSpPr>
        <p:spPr>
          <a:xfrm>
            <a:off x="5206752" y="507950"/>
            <a:ext cx="3368394" cy="400050"/>
          </a:xfrm>
          <a:prstGeom prst="rect">
            <a:avLst/>
          </a:prstGeom>
          <a:noFill/>
          <a:ln/>
        </p:spPr>
        <p:txBody>
          <a:bodyPr wrap="square" lIns="0" tIns="0" rIns="0" bIns="0" rtlCol="0" anchor="t"/>
          <a:lstStyle/>
          <a:p>
            <a:pPr marL="0" indent="0" algn="l">
              <a:spcAft>
                <a:spcPts val="1000"/>
              </a:spcAft>
              <a:buNone/>
            </a:pPr>
            <a:r>
              <a:rPr lang="en-US" sz="1300" b="1" dirty="0">
                <a:solidFill>
                  <a:srgbClr val="00B4D8"/>
                </a:solidFill>
                <a:latin typeface="Verdana" pitchFamily="34" charset="0"/>
                <a:ea typeface="Verdana" pitchFamily="34" charset="-122"/>
                <a:cs typeface="Verdana" pitchFamily="34" charset="-120"/>
              </a:rPr>
              <a:t>DEPLOY DOMAIN -- SEC AND GOV (~20-25%)</a:t>
            </a:r>
            <a:endParaRPr lang="en-US" sz="1300" dirty="0"/>
          </a:p>
        </p:txBody>
      </p:sp>
      <p:sp>
        <p:nvSpPr>
          <p:cNvPr id="7" name="Text 5"/>
          <p:cNvSpPr/>
          <p:nvPr/>
        </p:nvSpPr>
        <p:spPr>
          <a:xfrm>
            <a:off x="5206752" y="1034951"/>
            <a:ext cx="3368394" cy="1000125"/>
          </a:xfrm>
          <a:prstGeom prst="rect">
            <a:avLst/>
          </a:prstGeom>
          <a:noFill/>
          <a:ln/>
        </p:spPr>
        <p:txBody>
          <a:bodyPr wrap="square" lIns="0" tIns="0" rIns="0" bIns="0" rtlCol="0" anchor="t"/>
          <a:lstStyle/>
          <a:p>
            <a:pPr marL="0" indent="0" algn="l">
              <a:spcAft>
                <a:spcPts val="1000"/>
              </a:spcAft>
              <a:buNone/>
            </a:pPr>
            <a:r>
              <a:rPr lang="en-US" sz="2200" b="1" dirty="0">
                <a:solidFill>
                  <a:srgbClr val="FFFFFF"/>
                </a:solidFill>
                <a:latin typeface="Verdana" pitchFamily="34" charset="0"/>
                <a:ea typeface="Verdana" pitchFamily="34" charset="-122"/>
                <a:cs typeface="Verdana" pitchFamily="34" charset="-120"/>
              </a:rPr>
              <a:t>Security, governance, and exam mastery</a:t>
            </a:r>
            <a:endParaRPr lang="en-US" sz="2200" dirty="0"/>
          </a:p>
        </p:txBody>
      </p:sp>
      <p:sp>
        <p:nvSpPr>
          <p:cNvPr id="8" name="Text 6"/>
          <p:cNvSpPr/>
          <p:nvPr/>
        </p:nvSpPr>
        <p:spPr>
          <a:xfrm>
            <a:off x="5206752" y="2162026"/>
            <a:ext cx="1015901" cy="50750"/>
          </a:xfrm>
          <a:prstGeom prst="rect">
            <a:avLst/>
          </a:prstGeom>
          <a:solidFill>
            <a:srgbClr val="00B4D8"/>
          </a:solidFill>
          <a:ln/>
        </p:spPr>
        <p:txBody>
          <a:bodyPr wrap="square" rtlCol="0" anchor="ctr"/>
          <a:lstStyle/>
          <a:p>
            <a:pPr marL="0" indent="0">
              <a:buNone/>
            </a:pPr>
            <a:endParaRPr lang="en-US" dirty="0"/>
          </a:p>
        </p:txBody>
      </p:sp>
      <p:sp>
        <p:nvSpPr>
          <p:cNvPr id="9" name="Text 7"/>
          <p:cNvSpPr/>
          <p:nvPr/>
        </p:nvSpPr>
        <p:spPr>
          <a:xfrm>
            <a:off x="5206752" y="2365177"/>
            <a:ext cx="3302347" cy="1820466"/>
          </a:xfrm>
          <a:prstGeom prst="rect">
            <a:avLst/>
          </a:prstGeom>
          <a:noFill/>
          <a:ln/>
        </p:spPr>
        <p:txBody>
          <a:bodyPr wrap="square" lIns="114300" tIns="0" rIns="0" bIns="0" rtlCol="0" anchor="t"/>
          <a:lstStyle/>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Design security and governance for agents and models</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Defend against prompt manipulation and indirect injection</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Validate residency, access controls, and audit trails</a:t>
            </a:r>
            <a:endParaRPr lang="en-US" sz="1200" dirty="0"/>
          </a:p>
          <a:p>
            <a:pPr marL="114300" indent="-114300" algn="l">
              <a:lnSpc>
                <a:spcPts val="1680"/>
              </a:lnSpc>
              <a:spcAft>
                <a:spcPts val="300"/>
              </a:spcAft>
              <a:buSzPct val="100000"/>
              <a:buChar char="•"/>
            </a:pPr>
            <a:r>
              <a:rPr lang="en-US" sz="1200" dirty="0">
                <a:solidFill>
                  <a:srgbClr val="E9ECF2"/>
                </a:solidFill>
                <a:latin typeface="Verdana" pitchFamily="34" charset="0"/>
                <a:ea typeface="Verdana" pitchFamily="34" charset="-122"/>
                <a:cs typeface="Verdana" pitchFamily="34" charset="-120"/>
              </a:rPr>
              <a:t>Walk in confident -- AB-100 exam-day plan</a:t>
            </a:r>
            <a:endParaRPr lang="en-US" sz="1200" dirty="0"/>
          </a:p>
        </p:txBody>
      </p:sp>
      <p:sp>
        <p:nvSpPr>
          <p:cNvPr id="10" name="Text 8"/>
          <p:cNvSpPr/>
          <p:nvPr/>
        </p:nvSpPr>
        <p:spPr>
          <a:xfrm>
            <a:off x="5206752" y="4338042"/>
            <a:ext cx="3302347" cy="706338"/>
          </a:xfrm>
          <a:prstGeom prst="rect">
            <a:avLst/>
          </a:prstGeom>
          <a:solidFill>
            <a:srgbClr val="2A3666"/>
          </a:solidFill>
          <a:ln/>
        </p:spPr>
        <p:txBody>
          <a:bodyPr wrap="square" rtlCol="0" anchor="ctr"/>
          <a:lstStyle/>
          <a:p>
            <a:pPr marL="0" indent="0">
              <a:buNone/>
            </a:pPr>
            <a:endParaRPr lang="en-US" dirty="0"/>
          </a:p>
        </p:txBody>
      </p:sp>
      <p:sp>
        <p:nvSpPr>
          <p:cNvPr id="11" name="Shape 9"/>
          <p:cNvSpPr/>
          <p:nvPr/>
        </p:nvSpPr>
        <p:spPr>
          <a:xfrm>
            <a:off x="5230564" y="4338042"/>
            <a:ext cx="0" cy="706338"/>
          </a:xfrm>
          <a:prstGeom prst="line">
            <a:avLst/>
          </a:prstGeom>
          <a:noFill/>
          <a:ln w="47625">
            <a:solidFill>
              <a:srgbClr val="F4845F"/>
            </a:solidFill>
            <a:prstDash val="solid"/>
          </a:ln>
        </p:spPr>
        <p:txBody>
          <a:bodyPr/>
          <a:lstStyle/>
          <a:p>
            <a:endParaRPr lang="en-US"/>
          </a:p>
        </p:txBody>
      </p:sp>
      <p:sp>
        <p:nvSpPr>
          <p:cNvPr id="12" name="Text 10"/>
          <p:cNvSpPr/>
          <p:nvPr/>
        </p:nvSpPr>
        <p:spPr>
          <a:xfrm>
            <a:off x="5406777" y="4439543"/>
            <a:ext cx="3008921" cy="285750"/>
          </a:xfrm>
          <a:prstGeom prst="rect">
            <a:avLst/>
          </a:prstGeom>
          <a:noFill/>
          <a:ln/>
        </p:spPr>
        <p:txBody>
          <a:bodyPr wrap="square" lIns="0" tIns="0" rIns="0" bIns="0" rtlCol="0" anchor="t"/>
          <a:lstStyle/>
          <a:p>
            <a:pPr marL="0" indent="0" algn="l">
              <a:spcAft>
                <a:spcPts val="400"/>
              </a:spcAft>
              <a:buNone/>
            </a:pPr>
            <a:r>
              <a:rPr lang="en-US" sz="900" b="1" dirty="0">
                <a:solidFill>
                  <a:srgbClr val="F4845F"/>
                </a:solidFill>
                <a:latin typeface="Verdana" pitchFamily="34" charset="0"/>
                <a:ea typeface="Verdana" pitchFamily="34" charset="-122"/>
                <a:cs typeface="Verdana" pitchFamily="34" charset="-120"/>
              </a:rPr>
              <a:t>STUDY BETWEEN SESSIONS -- MICROSOFT LEARN</a:t>
            </a:r>
            <a:endParaRPr lang="en-US" sz="900" dirty="0"/>
          </a:p>
        </p:txBody>
      </p:sp>
      <p:sp>
        <p:nvSpPr>
          <p:cNvPr id="13" name="Text 11"/>
          <p:cNvSpPr/>
          <p:nvPr/>
        </p:nvSpPr>
        <p:spPr>
          <a:xfrm>
            <a:off x="5406777" y="4776043"/>
            <a:ext cx="2949922" cy="154186"/>
          </a:xfrm>
          <a:prstGeom prst="rect">
            <a:avLst/>
          </a:prstGeom>
          <a:noFill/>
          <a:ln/>
        </p:spPr>
        <p:txBody>
          <a:bodyPr wrap="square" lIns="88900" tIns="0" rIns="0" bIns="0" rtlCol="0" anchor="t"/>
          <a:lstStyle/>
          <a:p>
            <a:pPr marL="88900" indent="-88900" algn="l">
              <a:lnSpc>
                <a:spcPts val="1215"/>
              </a:lnSpc>
              <a:spcAft>
                <a:spcPts val="100"/>
              </a:spcAft>
              <a:buSzPct val="100000"/>
              <a:buChar char="•"/>
            </a:pPr>
            <a:r>
              <a:rPr lang="en-US" sz="900" dirty="0">
                <a:solidFill>
                  <a:srgbClr val="E9ECF2"/>
                </a:solidFill>
                <a:latin typeface="Verdana" pitchFamily="34" charset="0"/>
                <a:ea typeface="Verdana" pitchFamily="34" charset="-122"/>
                <a:cs typeface="Verdana" pitchFamily="34" charset="-120"/>
              </a:rPr>
              <a:t>11. Responsible AI security and governance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61876"/>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0315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3.4</a:t>
            </a:r>
            <a:endParaRPr lang="en-US" sz="1100" dirty="0"/>
          </a:p>
        </p:txBody>
      </p:sp>
      <p:sp>
        <p:nvSpPr>
          <p:cNvPr id="4" name="Text 2"/>
          <p:cNvSpPr/>
          <p:nvPr/>
        </p:nvSpPr>
        <p:spPr>
          <a:xfrm>
            <a:off x="507950" y="425351"/>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Security, governance, and responsible AI</a:t>
            </a:r>
            <a:endParaRPr lang="en-US" sz="2200" dirty="0"/>
          </a:p>
        </p:txBody>
      </p:sp>
      <p:sp>
        <p:nvSpPr>
          <p:cNvPr id="5" name="Text 3"/>
          <p:cNvSpPr/>
          <p:nvPr/>
        </p:nvSpPr>
        <p:spPr>
          <a:xfrm>
            <a:off x="507950" y="1190476"/>
            <a:ext cx="4028745"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Defense in depth for agents</a:t>
            </a:r>
            <a:endParaRPr lang="en-US" sz="1300" dirty="0"/>
          </a:p>
        </p:txBody>
      </p:sp>
      <p:sp>
        <p:nvSpPr>
          <p:cNvPr id="6" name="Text 4"/>
          <p:cNvSpPr/>
          <p:nvPr/>
        </p:nvSpPr>
        <p:spPr>
          <a:xfrm>
            <a:off x="507950" y="1492002"/>
            <a:ext cx="1936700" cy="638473"/>
          </a:xfrm>
          <a:prstGeom prst="rect">
            <a:avLst/>
          </a:prstGeom>
          <a:solidFill>
            <a:srgbClr val="E9ECF2"/>
          </a:solidFill>
          <a:ln/>
        </p:spPr>
        <p:txBody>
          <a:bodyPr wrap="square" rtlCol="0" anchor="ctr"/>
          <a:lstStyle/>
          <a:p>
            <a:pPr marL="0" indent="0">
              <a:buNone/>
            </a:pPr>
            <a:endParaRPr lang="en-US" dirty="0"/>
          </a:p>
        </p:txBody>
      </p:sp>
      <p:sp>
        <p:nvSpPr>
          <p:cNvPr id="7" name="Shape 5"/>
          <p:cNvSpPr/>
          <p:nvPr/>
        </p:nvSpPr>
        <p:spPr>
          <a:xfrm>
            <a:off x="531763" y="1492002"/>
            <a:ext cx="0" cy="638473"/>
          </a:xfrm>
          <a:prstGeom prst="line">
            <a:avLst/>
          </a:prstGeom>
          <a:noFill/>
          <a:ln w="47625">
            <a:solidFill>
              <a:srgbClr val="00B4D8"/>
            </a:solidFill>
            <a:prstDash val="solid"/>
          </a:ln>
        </p:spPr>
        <p:txBody>
          <a:bodyPr/>
          <a:lstStyle/>
          <a:p>
            <a:endParaRPr lang="en-US"/>
          </a:p>
        </p:txBody>
      </p:sp>
      <p:sp>
        <p:nvSpPr>
          <p:cNvPr id="8" name="Text 6"/>
          <p:cNvSpPr/>
          <p:nvPr/>
        </p:nvSpPr>
        <p:spPr>
          <a:xfrm>
            <a:off x="657076" y="1568202"/>
            <a:ext cx="1719795"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Identity</a:t>
            </a:r>
            <a:endParaRPr lang="en-US" sz="1000" dirty="0"/>
          </a:p>
        </p:txBody>
      </p:sp>
      <p:sp>
        <p:nvSpPr>
          <p:cNvPr id="9" name="Text 7"/>
          <p:cNvSpPr/>
          <p:nvPr/>
        </p:nvSpPr>
        <p:spPr>
          <a:xfrm>
            <a:off x="657076" y="1745903"/>
            <a:ext cx="1719795" cy="308372"/>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Entra ID, RBAC, least privilege</a:t>
            </a:r>
            <a:endParaRPr lang="en-US" sz="900" dirty="0"/>
          </a:p>
        </p:txBody>
      </p:sp>
      <p:sp>
        <p:nvSpPr>
          <p:cNvPr id="10" name="Text 8"/>
          <p:cNvSpPr/>
          <p:nvPr/>
        </p:nvSpPr>
        <p:spPr>
          <a:xfrm>
            <a:off x="2520851" y="1492002"/>
            <a:ext cx="1936849" cy="638473"/>
          </a:xfrm>
          <a:prstGeom prst="rect">
            <a:avLst/>
          </a:prstGeom>
          <a:solidFill>
            <a:srgbClr val="E9ECF2"/>
          </a:solidFill>
          <a:ln/>
        </p:spPr>
        <p:txBody>
          <a:bodyPr wrap="square" rtlCol="0" anchor="ctr"/>
          <a:lstStyle/>
          <a:p>
            <a:pPr marL="0" indent="0">
              <a:buNone/>
            </a:pPr>
            <a:endParaRPr lang="en-US" dirty="0"/>
          </a:p>
        </p:txBody>
      </p:sp>
      <p:sp>
        <p:nvSpPr>
          <p:cNvPr id="11" name="Shape 9"/>
          <p:cNvSpPr/>
          <p:nvPr/>
        </p:nvSpPr>
        <p:spPr>
          <a:xfrm>
            <a:off x="2544663" y="1492002"/>
            <a:ext cx="0" cy="638473"/>
          </a:xfrm>
          <a:prstGeom prst="line">
            <a:avLst/>
          </a:prstGeom>
          <a:noFill/>
          <a:ln w="47625">
            <a:solidFill>
              <a:srgbClr val="00B4D8"/>
            </a:solidFill>
            <a:prstDash val="solid"/>
          </a:ln>
        </p:spPr>
        <p:txBody>
          <a:bodyPr/>
          <a:lstStyle/>
          <a:p>
            <a:endParaRPr lang="en-US"/>
          </a:p>
        </p:txBody>
      </p:sp>
      <p:sp>
        <p:nvSpPr>
          <p:cNvPr id="12" name="Text 10"/>
          <p:cNvSpPr/>
          <p:nvPr/>
        </p:nvSpPr>
        <p:spPr>
          <a:xfrm>
            <a:off x="2669977" y="1568202"/>
            <a:ext cx="1719947"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Data</a:t>
            </a:r>
            <a:endParaRPr lang="en-US" sz="1000" dirty="0"/>
          </a:p>
        </p:txBody>
      </p:sp>
      <p:sp>
        <p:nvSpPr>
          <p:cNvPr id="13" name="Text 11"/>
          <p:cNvSpPr/>
          <p:nvPr/>
        </p:nvSpPr>
        <p:spPr>
          <a:xfrm>
            <a:off x="2669977" y="1745903"/>
            <a:ext cx="1719947" cy="308372"/>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Knowledge ACLs, DLP, residency</a:t>
            </a:r>
            <a:endParaRPr lang="en-US" sz="900" dirty="0"/>
          </a:p>
        </p:txBody>
      </p:sp>
      <p:sp>
        <p:nvSpPr>
          <p:cNvPr id="14" name="Text 12"/>
          <p:cNvSpPr/>
          <p:nvPr/>
        </p:nvSpPr>
        <p:spPr>
          <a:xfrm>
            <a:off x="507950" y="2206675"/>
            <a:ext cx="1936700" cy="484287"/>
          </a:xfrm>
          <a:prstGeom prst="rect">
            <a:avLst/>
          </a:prstGeom>
          <a:solidFill>
            <a:srgbClr val="E9ECF2"/>
          </a:solidFill>
          <a:ln/>
        </p:spPr>
        <p:txBody>
          <a:bodyPr wrap="square" rtlCol="0" anchor="ctr"/>
          <a:lstStyle/>
          <a:p>
            <a:pPr marL="0" indent="0">
              <a:buNone/>
            </a:pPr>
            <a:endParaRPr lang="en-US" dirty="0"/>
          </a:p>
        </p:txBody>
      </p:sp>
      <p:sp>
        <p:nvSpPr>
          <p:cNvPr id="15" name="Shape 13"/>
          <p:cNvSpPr/>
          <p:nvPr/>
        </p:nvSpPr>
        <p:spPr>
          <a:xfrm>
            <a:off x="531763" y="2206675"/>
            <a:ext cx="0" cy="484287"/>
          </a:xfrm>
          <a:prstGeom prst="line">
            <a:avLst/>
          </a:prstGeom>
          <a:noFill/>
          <a:ln w="47625">
            <a:solidFill>
              <a:srgbClr val="00B4D8"/>
            </a:solidFill>
            <a:prstDash val="solid"/>
          </a:ln>
        </p:spPr>
        <p:txBody>
          <a:bodyPr/>
          <a:lstStyle/>
          <a:p>
            <a:endParaRPr lang="en-US"/>
          </a:p>
        </p:txBody>
      </p:sp>
      <p:sp>
        <p:nvSpPr>
          <p:cNvPr id="16" name="Text 14"/>
          <p:cNvSpPr/>
          <p:nvPr/>
        </p:nvSpPr>
        <p:spPr>
          <a:xfrm>
            <a:off x="657076" y="2282875"/>
            <a:ext cx="1719795"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Prompt shields</a:t>
            </a:r>
            <a:endParaRPr lang="en-US" sz="1000" dirty="0"/>
          </a:p>
        </p:txBody>
      </p:sp>
      <p:sp>
        <p:nvSpPr>
          <p:cNvPr id="17" name="Text 15"/>
          <p:cNvSpPr/>
          <p:nvPr/>
        </p:nvSpPr>
        <p:spPr>
          <a:xfrm>
            <a:off x="657076" y="2460575"/>
            <a:ext cx="1719795" cy="154186"/>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Direct and indirect injection</a:t>
            </a:r>
            <a:endParaRPr lang="en-US" sz="900" dirty="0"/>
          </a:p>
        </p:txBody>
      </p:sp>
      <p:sp>
        <p:nvSpPr>
          <p:cNvPr id="18" name="Text 16"/>
          <p:cNvSpPr/>
          <p:nvPr/>
        </p:nvSpPr>
        <p:spPr>
          <a:xfrm>
            <a:off x="2520851" y="2206675"/>
            <a:ext cx="1936849" cy="484287"/>
          </a:xfrm>
          <a:prstGeom prst="rect">
            <a:avLst/>
          </a:prstGeom>
          <a:solidFill>
            <a:srgbClr val="E9ECF2"/>
          </a:solidFill>
          <a:ln/>
        </p:spPr>
        <p:txBody>
          <a:bodyPr wrap="square" rtlCol="0" anchor="ctr"/>
          <a:lstStyle/>
          <a:p>
            <a:pPr marL="0" indent="0">
              <a:buNone/>
            </a:pPr>
            <a:endParaRPr lang="en-US" dirty="0"/>
          </a:p>
        </p:txBody>
      </p:sp>
      <p:sp>
        <p:nvSpPr>
          <p:cNvPr id="19" name="Shape 17"/>
          <p:cNvSpPr/>
          <p:nvPr/>
        </p:nvSpPr>
        <p:spPr>
          <a:xfrm>
            <a:off x="2544663" y="2206675"/>
            <a:ext cx="0" cy="484287"/>
          </a:xfrm>
          <a:prstGeom prst="line">
            <a:avLst/>
          </a:prstGeom>
          <a:noFill/>
          <a:ln w="47625">
            <a:solidFill>
              <a:srgbClr val="00B4D8"/>
            </a:solidFill>
            <a:prstDash val="solid"/>
          </a:ln>
        </p:spPr>
        <p:txBody>
          <a:bodyPr/>
          <a:lstStyle/>
          <a:p>
            <a:endParaRPr lang="en-US"/>
          </a:p>
        </p:txBody>
      </p:sp>
      <p:sp>
        <p:nvSpPr>
          <p:cNvPr id="20" name="Text 18"/>
          <p:cNvSpPr/>
          <p:nvPr/>
        </p:nvSpPr>
        <p:spPr>
          <a:xfrm>
            <a:off x="2669977" y="2282875"/>
            <a:ext cx="1719947"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Spotlighting</a:t>
            </a:r>
            <a:endParaRPr lang="en-US" sz="1000" dirty="0"/>
          </a:p>
        </p:txBody>
      </p:sp>
      <p:sp>
        <p:nvSpPr>
          <p:cNvPr id="21" name="Text 19"/>
          <p:cNvSpPr/>
          <p:nvPr/>
        </p:nvSpPr>
        <p:spPr>
          <a:xfrm>
            <a:off x="2669977" y="2460575"/>
            <a:ext cx="1719947" cy="154186"/>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Mark untrusted content</a:t>
            </a:r>
            <a:endParaRPr lang="en-US" sz="900" dirty="0"/>
          </a:p>
        </p:txBody>
      </p:sp>
      <p:sp>
        <p:nvSpPr>
          <p:cNvPr id="22" name="Text 20"/>
          <p:cNvSpPr/>
          <p:nvPr/>
        </p:nvSpPr>
        <p:spPr>
          <a:xfrm>
            <a:off x="507950" y="2767161"/>
            <a:ext cx="1936700" cy="484287"/>
          </a:xfrm>
          <a:prstGeom prst="rect">
            <a:avLst/>
          </a:prstGeom>
          <a:solidFill>
            <a:srgbClr val="E9ECF2"/>
          </a:solidFill>
          <a:ln/>
        </p:spPr>
        <p:txBody>
          <a:bodyPr wrap="square" rtlCol="0" anchor="ctr"/>
          <a:lstStyle/>
          <a:p>
            <a:pPr marL="0" indent="0">
              <a:buNone/>
            </a:pPr>
            <a:endParaRPr lang="en-US" dirty="0"/>
          </a:p>
        </p:txBody>
      </p:sp>
      <p:sp>
        <p:nvSpPr>
          <p:cNvPr id="23" name="Shape 21"/>
          <p:cNvSpPr/>
          <p:nvPr/>
        </p:nvSpPr>
        <p:spPr>
          <a:xfrm>
            <a:off x="531763" y="2767161"/>
            <a:ext cx="0" cy="484287"/>
          </a:xfrm>
          <a:prstGeom prst="line">
            <a:avLst/>
          </a:prstGeom>
          <a:noFill/>
          <a:ln w="47625">
            <a:solidFill>
              <a:srgbClr val="00B4D8"/>
            </a:solidFill>
            <a:prstDash val="solid"/>
          </a:ln>
        </p:spPr>
        <p:txBody>
          <a:bodyPr/>
          <a:lstStyle/>
          <a:p>
            <a:endParaRPr lang="en-US"/>
          </a:p>
        </p:txBody>
      </p:sp>
      <p:sp>
        <p:nvSpPr>
          <p:cNvPr id="24" name="Text 22"/>
          <p:cNvSpPr/>
          <p:nvPr/>
        </p:nvSpPr>
        <p:spPr>
          <a:xfrm>
            <a:off x="657076" y="2843361"/>
            <a:ext cx="1719795"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Critic agents</a:t>
            </a:r>
            <a:endParaRPr lang="en-US" sz="1000" dirty="0"/>
          </a:p>
        </p:txBody>
      </p:sp>
      <p:sp>
        <p:nvSpPr>
          <p:cNvPr id="25" name="Text 23"/>
          <p:cNvSpPr/>
          <p:nvPr/>
        </p:nvSpPr>
        <p:spPr>
          <a:xfrm>
            <a:off x="657076" y="3021062"/>
            <a:ext cx="1719795" cy="154186"/>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Audit inputs and outputs</a:t>
            </a:r>
            <a:endParaRPr lang="en-US" sz="900" dirty="0"/>
          </a:p>
        </p:txBody>
      </p:sp>
      <p:sp>
        <p:nvSpPr>
          <p:cNvPr id="26" name="Text 24"/>
          <p:cNvSpPr/>
          <p:nvPr/>
        </p:nvSpPr>
        <p:spPr>
          <a:xfrm>
            <a:off x="2520851" y="2767161"/>
            <a:ext cx="1936849" cy="484287"/>
          </a:xfrm>
          <a:prstGeom prst="rect">
            <a:avLst/>
          </a:prstGeom>
          <a:solidFill>
            <a:srgbClr val="E9ECF2"/>
          </a:solidFill>
          <a:ln/>
        </p:spPr>
        <p:txBody>
          <a:bodyPr wrap="square" rtlCol="0" anchor="ctr"/>
          <a:lstStyle/>
          <a:p>
            <a:pPr marL="0" indent="0">
              <a:buNone/>
            </a:pPr>
            <a:endParaRPr lang="en-US" dirty="0"/>
          </a:p>
        </p:txBody>
      </p:sp>
      <p:sp>
        <p:nvSpPr>
          <p:cNvPr id="27" name="Shape 25"/>
          <p:cNvSpPr/>
          <p:nvPr/>
        </p:nvSpPr>
        <p:spPr>
          <a:xfrm>
            <a:off x="2544663" y="2767161"/>
            <a:ext cx="0" cy="484287"/>
          </a:xfrm>
          <a:prstGeom prst="line">
            <a:avLst/>
          </a:prstGeom>
          <a:noFill/>
          <a:ln w="47625">
            <a:solidFill>
              <a:srgbClr val="00B4D8"/>
            </a:solidFill>
            <a:prstDash val="solid"/>
          </a:ln>
        </p:spPr>
        <p:txBody>
          <a:bodyPr/>
          <a:lstStyle/>
          <a:p>
            <a:endParaRPr lang="en-US"/>
          </a:p>
        </p:txBody>
      </p:sp>
      <p:sp>
        <p:nvSpPr>
          <p:cNvPr id="28" name="Text 26"/>
          <p:cNvSpPr/>
          <p:nvPr/>
        </p:nvSpPr>
        <p:spPr>
          <a:xfrm>
            <a:off x="2669977" y="2843361"/>
            <a:ext cx="1719947" cy="152400"/>
          </a:xfrm>
          <a:prstGeom prst="rect">
            <a:avLst/>
          </a:prstGeom>
          <a:noFill/>
          <a:ln/>
        </p:spPr>
        <p:txBody>
          <a:bodyPr wrap="square" lIns="0" tIns="0" rIns="0" bIns="0" rtlCol="0" anchor="t"/>
          <a:lstStyle/>
          <a:p>
            <a:pPr marL="0" indent="0" algn="l">
              <a:spcAft>
                <a:spcPts val="200"/>
              </a:spcAft>
              <a:buNone/>
            </a:pPr>
            <a:r>
              <a:rPr lang="en-US" sz="1000" b="1" dirty="0">
                <a:solidFill>
                  <a:srgbClr val="1F2A56"/>
                </a:solidFill>
                <a:latin typeface="Verdana" pitchFamily="34" charset="0"/>
                <a:ea typeface="Verdana" pitchFamily="34" charset="-122"/>
                <a:cs typeface="Verdana" pitchFamily="34" charset="-120"/>
              </a:rPr>
              <a:t>Human in loop</a:t>
            </a:r>
            <a:endParaRPr lang="en-US" sz="1000" dirty="0"/>
          </a:p>
        </p:txBody>
      </p:sp>
      <p:sp>
        <p:nvSpPr>
          <p:cNvPr id="29" name="Text 27"/>
          <p:cNvSpPr/>
          <p:nvPr/>
        </p:nvSpPr>
        <p:spPr>
          <a:xfrm>
            <a:off x="2669977" y="3021062"/>
            <a:ext cx="1719947" cy="154186"/>
          </a:xfrm>
          <a:prstGeom prst="rect">
            <a:avLst/>
          </a:prstGeom>
          <a:noFill/>
          <a:ln/>
        </p:spPr>
        <p:txBody>
          <a:bodyPr wrap="square" lIns="0" tIns="0" rIns="0" bIns="0" rtlCol="0" anchor="t"/>
          <a:lstStyle/>
          <a:p>
            <a:pPr marL="0" indent="0" algn="l">
              <a:lnSpc>
                <a:spcPts val="1215"/>
              </a:lnSpc>
              <a:buNone/>
            </a:pPr>
            <a:r>
              <a:rPr lang="en-US" sz="900" dirty="0">
                <a:solidFill>
                  <a:srgbClr val="1A1A2E"/>
                </a:solidFill>
                <a:latin typeface="Verdana" pitchFamily="34" charset="0"/>
                <a:ea typeface="Verdana" pitchFamily="34" charset="-122"/>
                <a:cs typeface="Verdana" pitchFamily="34" charset="-120"/>
              </a:rPr>
              <a:t>Verify risky actions</a:t>
            </a:r>
            <a:endParaRPr lang="en-US" sz="900" dirty="0"/>
          </a:p>
        </p:txBody>
      </p:sp>
      <p:sp>
        <p:nvSpPr>
          <p:cNvPr id="30" name="Text 28"/>
          <p:cNvSpPr/>
          <p:nvPr/>
        </p:nvSpPr>
        <p:spPr>
          <a:xfrm>
            <a:off x="507950" y="3327648"/>
            <a:ext cx="3949750" cy="716905"/>
          </a:xfrm>
          <a:prstGeom prst="rect">
            <a:avLst/>
          </a:prstGeom>
          <a:solidFill>
            <a:srgbClr val="1F2A56"/>
          </a:solidFill>
          <a:ln/>
        </p:spPr>
        <p:txBody>
          <a:bodyPr wrap="square" rtlCol="0" anchor="ctr"/>
          <a:lstStyle/>
          <a:p>
            <a:pPr marL="0" indent="0">
              <a:buNone/>
            </a:pPr>
            <a:endParaRPr lang="en-US" dirty="0"/>
          </a:p>
        </p:txBody>
      </p:sp>
      <p:sp>
        <p:nvSpPr>
          <p:cNvPr id="31" name="Shape 29"/>
          <p:cNvSpPr/>
          <p:nvPr/>
        </p:nvSpPr>
        <p:spPr>
          <a:xfrm>
            <a:off x="536525" y="3327648"/>
            <a:ext cx="0" cy="716905"/>
          </a:xfrm>
          <a:prstGeom prst="line">
            <a:avLst/>
          </a:prstGeom>
          <a:noFill/>
          <a:ln w="57150">
            <a:solidFill>
              <a:srgbClr val="F4845F"/>
            </a:solidFill>
            <a:prstDash val="solid"/>
          </a:ln>
        </p:spPr>
        <p:txBody>
          <a:bodyPr/>
          <a:lstStyle/>
          <a:p>
            <a:endParaRPr lang="en-US"/>
          </a:p>
        </p:txBody>
      </p:sp>
      <p:sp>
        <p:nvSpPr>
          <p:cNvPr id="32" name="Text 30"/>
          <p:cNvSpPr/>
          <p:nvPr/>
        </p:nvSpPr>
        <p:spPr>
          <a:xfrm>
            <a:off x="717500" y="3429149"/>
            <a:ext cx="3659556" cy="513904"/>
          </a:xfrm>
          <a:prstGeom prst="rect">
            <a:avLst/>
          </a:prstGeom>
          <a:noFill/>
          <a:ln/>
        </p:spPr>
        <p:txBody>
          <a:bodyPr wrap="square" lIns="0" tIns="0" rIns="0" bIns="0" rtlCol="0" anchor="t"/>
          <a:lstStyle/>
          <a:p>
            <a:pPr marL="0" indent="0" algn="l">
              <a:lnSpc>
                <a:spcPts val="1350"/>
              </a:lnSpc>
              <a:buNone/>
            </a:pPr>
            <a:r>
              <a:rPr lang="en-US" sz="1000" b="1" dirty="0">
                <a:solidFill>
                  <a:srgbClr val="F4845F"/>
                </a:solidFill>
                <a:latin typeface="Verdana" pitchFamily="34" charset="0"/>
                <a:ea typeface="Verdana" pitchFamily="34" charset="-122"/>
                <a:cs typeface="Verdana" pitchFamily="34" charset="-120"/>
              </a:rPr>
              <a:t>Indirect prompt injection</a:t>
            </a:r>
            <a:r>
              <a:rPr lang="en-US" sz="1000" dirty="0">
                <a:solidFill>
                  <a:srgbClr val="FFFFFF"/>
                </a:solidFill>
                <a:latin typeface="Verdana" pitchFamily="34" charset="0"/>
                <a:ea typeface="Verdana" pitchFamily="34" charset="-122"/>
                <a:cs typeface="Verdana" pitchFamily="34" charset="-120"/>
              </a:rPr>
              <a:t> hides instructions in documents the agent reads. Layer probabilistic and deterministic mitigations.</a:t>
            </a:r>
            <a:endParaRPr lang="en-US" sz="1000" dirty="0"/>
          </a:p>
        </p:txBody>
      </p:sp>
      <p:sp>
        <p:nvSpPr>
          <p:cNvPr id="33" name="Text 31"/>
          <p:cNvSpPr/>
          <p:nvPr/>
        </p:nvSpPr>
        <p:spPr>
          <a:xfrm>
            <a:off x="4686300" y="1190476"/>
            <a:ext cx="4028745" cy="200025"/>
          </a:xfrm>
          <a:prstGeom prst="rect">
            <a:avLst/>
          </a:prstGeom>
          <a:noFill/>
          <a:ln/>
        </p:spPr>
        <p:txBody>
          <a:bodyPr wrap="square" lIns="0" tIns="0" rIns="0" bIns="0" rtlCol="0" anchor="t"/>
          <a:lstStyle/>
          <a:p>
            <a:pPr marL="0" indent="0" algn="l">
              <a:spcAft>
                <a:spcPts val="800"/>
              </a:spcAft>
              <a:buNone/>
            </a:pPr>
            <a:r>
              <a:rPr lang="en-US" sz="1300" b="1" dirty="0">
                <a:solidFill>
                  <a:srgbClr val="1F2A56"/>
                </a:solidFill>
                <a:latin typeface="Verdana" pitchFamily="34" charset="0"/>
                <a:ea typeface="Verdana" pitchFamily="34" charset="-122"/>
                <a:cs typeface="Verdana" pitchFamily="34" charset="-120"/>
              </a:rPr>
              <a:t>Governance and compliance checklist</a:t>
            </a:r>
            <a:endParaRPr lang="en-US" sz="1300" dirty="0"/>
          </a:p>
        </p:txBody>
      </p:sp>
      <p:sp>
        <p:nvSpPr>
          <p:cNvPr id="34" name="Text 32"/>
          <p:cNvSpPr/>
          <p:nvPr/>
        </p:nvSpPr>
        <p:spPr>
          <a:xfrm>
            <a:off x="4686300" y="1492002"/>
            <a:ext cx="3949750" cy="1887141"/>
          </a:xfrm>
          <a:prstGeom prst="rect">
            <a:avLst/>
          </a:prstGeom>
          <a:noFill/>
          <a:ln/>
        </p:spPr>
        <p:txBody>
          <a:bodyPr wrap="square" lIns="101600" tIns="0" rIns="0" bIns="0" rtlCol="0" anchor="t"/>
          <a:lstStyle/>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Design security and governance for agents</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Design model security and tuning controls</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Analyze AI vulnerabilities and mitigations</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Review against responsible AI principles</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Validate data residency and movement</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Access controls on grounding and tuning</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Audit trails for model and data changes</a:t>
            </a:r>
            <a:endParaRPr lang="en-US" sz="1100" dirty="0"/>
          </a:p>
          <a:p>
            <a:pPr marL="101600" indent="-101600" algn="l">
              <a:lnSpc>
                <a:spcPts val="1595"/>
              </a:lnSpc>
              <a:spcAft>
                <a:spcPts val="300"/>
              </a:spcAft>
              <a:buSzPct val="100000"/>
              <a:buChar char="•"/>
            </a:pPr>
            <a:r>
              <a:rPr lang="en-US" sz="1100" dirty="0">
                <a:solidFill>
                  <a:srgbClr val="1A1A2E"/>
                </a:solidFill>
                <a:latin typeface="Verdana" pitchFamily="34" charset="0"/>
                <a:ea typeface="Verdana" pitchFamily="34" charset="-122"/>
                <a:cs typeface="Verdana" pitchFamily="34" charset="-120"/>
              </a:rPr>
              <a:t>Purview and Sentinel for end-user activity</a:t>
            </a:r>
            <a:endParaRPr lang="en-US" sz="1100" dirty="0"/>
          </a:p>
        </p:txBody>
      </p:sp>
      <p:sp>
        <p:nvSpPr>
          <p:cNvPr id="35" name="Text 33"/>
          <p:cNvSpPr/>
          <p:nvPr/>
        </p:nvSpPr>
        <p:spPr>
          <a:xfrm>
            <a:off x="507950" y="487367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Source: Microsoft Learn -- Defend against indirect prompt injection (Zero Trust SFI); Copilot Studio responsible AI.</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3.4 -- AI VULNERABILITY TAXONOMY</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Five buckets, five primary mitigations</a:t>
            </a:r>
            <a:endParaRPr lang="en-US" sz="2200" dirty="0"/>
          </a:p>
        </p:txBody>
      </p:sp>
      <p:sp>
        <p:nvSpPr>
          <p:cNvPr id="5" name="Text 3"/>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Concepts informed by Microsoft AB-100T00 official courseware; AB-100 Subdomain 3.4.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2775"/>
          </a:xfrm>
          <a:prstGeom prst="rect">
            <a:avLst/>
          </a:prstGeom>
          <a:solidFill>
            <a:srgbClr val="1F2A56"/>
          </a:solidFill>
          <a:ln/>
        </p:spPr>
        <p:txBody>
          <a:bodyPr wrap="square" rtlCol="0" anchor="ctr"/>
          <a:lstStyle/>
          <a:p>
            <a:pPr marL="0" indent="0">
              <a:buNone/>
            </a:pPr>
            <a:endParaRPr lang="en-US" dirty="0"/>
          </a:p>
        </p:txBody>
      </p:sp>
      <p:sp>
        <p:nvSpPr>
          <p:cNvPr id="3" name="Text 1"/>
          <p:cNvSpPr/>
          <p:nvPr/>
        </p:nvSpPr>
        <p:spPr>
          <a:xfrm>
            <a:off x="507950" y="228600"/>
            <a:ext cx="8290661" cy="171450"/>
          </a:xfrm>
          <a:prstGeom prst="rect">
            <a:avLst/>
          </a:prstGeom>
          <a:noFill/>
          <a:ln/>
        </p:spPr>
        <p:txBody>
          <a:bodyPr wrap="square" lIns="0" tIns="0" rIns="0" bIns="0" rtlCol="0" anchor="t"/>
          <a:lstStyle/>
          <a:p>
            <a:pPr marL="0" indent="0" algn="l">
              <a:spcAft>
                <a:spcPts val="400"/>
              </a:spcAft>
              <a:buNone/>
            </a:pPr>
            <a:r>
              <a:rPr lang="en-US" sz="1100" b="1" dirty="0">
                <a:solidFill>
                  <a:srgbClr val="00B4D8"/>
                </a:solidFill>
                <a:latin typeface="Verdana" pitchFamily="34" charset="0"/>
                <a:ea typeface="Verdana" pitchFamily="34" charset="-122"/>
                <a:cs typeface="Verdana" pitchFamily="34" charset="-120"/>
              </a:rPr>
              <a:t>SUBDOMAIN 3.4 -- RESPONSIBLE AI</a:t>
            </a:r>
            <a:endParaRPr lang="en-US" sz="1100" dirty="0"/>
          </a:p>
        </p:txBody>
      </p:sp>
      <p:sp>
        <p:nvSpPr>
          <p:cNvPr id="4" name="Text 2"/>
          <p:cNvSpPr/>
          <p:nvPr/>
        </p:nvSpPr>
        <p:spPr>
          <a:xfrm>
            <a:off x="507950" y="450800"/>
            <a:ext cx="8290661" cy="333375"/>
          </a:xfrm>
          <a:prstGeom prst="rect">
            <a:avLst/>
          </a:prstGeom>
          <a:noFill/>
          <a:ln/>
        </p:spPr>
        <p:txBody>
          <a:bodyPr wrap="square" lIns="0" tIns="0" rIns="0" bIns="0" rtlCol="0" anchor="t"/>
          <a:lstStyle/>
          <a:p>
            <a:pPr marL="0" indent="0" algn="l">
              <a:buNone/>
            </a:pPr>
            <a:r>
              <a:rPr lang="en-US" sz="2200" b="1" dirty="0">
                <a:solidFill>
                  <a:srgbClr val="FFFFFF"/>
                </a:solidFill>
                <a:latin typeface="Verdana" pitchFamily="34" charset="0"/>
                <a:ea typeface="Verdana" pitchFamily="34" charset="-122"/>
                <a:cs typeface="Verdana" pitchFamily="34" charset="-120"/>
              </a:rPr>
              <a:t>Six lenses for the architect review</a:t>
            </a:r>
            <a:endParaRPr lang="en-US" sz="2200" dirty="0"/>
          </a:p>
        </p:txBody>
      </p:sp>
      <p:sp>
        <p:nvSpPr>
          <p:cNvPr id="5" name="Text 3"/>
          <p:cNvSpPr/>
          <p:nvPr/>
        </p:nvSpPr>
        <p:spPr>
          <a:xfrm>
            <a:off x="507950" y="1190476"/>
            <a:ext cx="8290661" cy="426541"/>
          </a:xfrm>
          <a:prstGeom prst="rect">
            <a:avLst/>
          </a:prstGeom>
          <a:noFill/>
          <a:ln/>
        </p:spPr>
        <p:txBody>
          <a:bodyPr wrap="square" lIns="0" tIns="0" rIns="0" bIns="0" rtlCol="0" anchor="t"/>
          <a:lstStyle/>
          <a:p>
            <a:pPr marL="0" indent="0" algn="l">
              <a:lnSpc>
                <a:spcPts val="1680"/>
              </a:lnSpc>
              <a:buNone/>
            </a:pPr>
            <a:r>
              <a:rPr lang="en-US" sz="1200" dirty="0">
                <a:solidFill>
                  <a:srgbClr val="1F2A56"/>
                </a:solidFill>
                <a:latin typeface="Verdana" pitchFamily="34" charset="0"/>
                <a:ea typeface="Verdana" pitchFamily="34" charset="-122"/>
                <a:cs typeface="Verdana" pitchFamily="34" charset="-120"/>
              </a:rPr>
              <a:t>Pressure-test every model, agent, workflow, and UX choice against all six. Each lens is a question the architect must answer.</a:t>
            </a:r>
            <a:endParaRPr lang="en-US" sz="1200" dirty="0"/>
          </a:p>
        </p:txBody>
      </p:sp>
      <p:sp>
        <p:nvSpPr>
          <p:cNvPr id="6" name="Text 4"/>
          <p:cNvSpPr/>
          <p:nvPr/>
        </p:nvSpPr>
        <p:spPr>
          <a:xfrm>
            <a:off x="507950" y="1794718"/>
            <a:ext cx="2624733" cy="1298228"/>
          </a:xfrm>
          <a:prstGeom prst="rect">
            <a:avLst/>
          </a:prstGeom>
          <a:solidFill>
            <a:srgbClr val="E9ECF2"/>
          </a:solidFill>
          <a:ln/>
        </p:spPr>
        <p:txBody>
          <a:bodyPr wrap="square" rtlCol="0" anchor="ctr"/>
          <a:lstStyle/>
          <a:p>
            <a:pPr marL="0" indent="0">
              <a:buNone/>
            </a:pPr>
            <a:endParaRPr lang="en-US" dirty="0"/>
          </a:p>
        </p:txBody>
      </p:sp>
      <p:sp>
        <p:nvSpPr>
          <p:cNvPr id="7" name="Shape 5"/>
          <p:cNvSpPr/>
          <p:nvPr/>
        </p:nvSpPr>
        <p:spPr>
          <a:xfrm>
            <a:off x="507950" y="1818531"/>
            <a:ext cx="2624733" cy="0"/>
          </a:xfrm>
          <a:prstGeom prst="line">
            <a:avLst/>
          </a:prstGeom>
          <a:noFill/>
          <a:ln w="47625">
            <a:solidFill>
              <a:srgbClr val="00B4D8"/>
            </a:solidFill>
            <a:prstDash val="solid"/>
          </a:ln>
        </p:spPr>
        <p:txBody>
          <a:bodyPr/>
          <a:lstStyle/>
          <a:p>
            <a:endParaRPr lang="en-US"/>
          </a:p>
        </p:txBody>
      </p:sp>
      <p:sp>
        <p:nvSpPr>
          <p:cNvPr id="8" name="Text 6"/>
          <p:cNvSpPr/>
          <p:nvPr/>
        </p:nvSpPr>
        <p:spPr>
          <a:xfrm>
            <a:off x="660350" y="1969294"/>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00B4D8"/>
                </a:solidFill>
                <a:latin typeface="Verdana" pitchFamily="34" charset="0"/>
                <a:ea typeface="Verdana" pitchFamily="34" charset="-122"/>
                <a:cs typeface="Verdana" pitchFamily="34" charset="-120"/>
              </a:rPr>
              <a:t>LENS 1</a:t>
            </a:r>
            <a:endParaRPr lang="en-US" sz="900" dirty="0"/>
          </a:p>
        </p:txBody>
      </p:sp>
      <p:sp>
        <p:nvSpPr>
          <p:cNvPr id="9" name="Text 7"/>
          <p:cNvSpPr/>
          <p:nvPr/>
        </p:nvSpPr>
        <p:spPr>
          <a:xfrm>
            <a:off x="660350" y="2154585"/>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Fairness</a:t>
            </a:r>
            <a:endParaRPr lang="en-US" sz="1300" dirty="0"/>
          </a:p>
        </p:txBody>
      </p:sp>
      <p:sp>
        <p:nvSpPr>
          <p:cNvPr id="10" name="Text 8"/>
          <p:cNvSpPr/>
          <p:nvPr/>
        </p:nvSpPr>
        <p:spPr>
          <a:xfrm>
            <a:off x="660350" y="2405360"/>
            <a:ext cx="2366331" cy="5331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Did the training data and grounding sources represent every user group the agent will serve?</a:t>
            </a:r>
            <a:endParaRPr lang="en-US" sz="1000" dirty="0"/>
          </a:p>
        </p:txBody>
      </p:sp>
      <p:sp>
        <p:nvSpPr>
          <p:cNvPr id="11" name="Text 9"/>
          <p:cNvSpPr/>
          <p:nvPr/>
        </p:nvSpPr>
        <p:spPr>
          <a:xfrm>
            <a:off x="3259634" y="1794718"/>
            <a:ext cx="2624733" cy="1298228"/>
          </a:xfrm>
          <a:prstGeom prst="rect">
            <a:avLst/>
          </a:prstGeom>
          <a:solidFill>
            <a:srgbClr val="E9ECF2"/>
          </a:solidFill>
          <a:ln/>
        </p:spPr>
        <p:txBody>
          <a:bodyPr wrap="square" rtlCol="0" anchor="ctr"/>
          <a:lstStyle/>
          <a:p>
            <a:pPr marL="0" indent="0">
              <a:buNone/>
            </a:pPr>
            <a:endParaRPr lang="en-US" dirty="0"/>
          </a:p>
        </p:txBody>
      </p:sp>
      <p:sp>
        <p:nvSpPr>
          <p:cNvPr id="12" name="Shape 10"/>
          <p:cNvSpPr/>
          <p:nvPr/>
        </p:nvSpPr>
        <p:spPr>
          <a:xfrm>
            <a:off x="3259634" y="1818531"/>
            <a:ext cx="2624733" cy="0"/>
          </a:xfrm>
          <a:prstGeom prst="line">
            <a:avLst/>
          </a:prstGeom>
          <a:noFill/>
          <a:ln w="47625">
            <a:solidFill>
              <a:srgbClr val="F4845F"/>
            </a:solidFill>
            <a:prstDash val="solid"/>
          </a:ln>
        </p:spPr>
        <p:txBody>
          <a:bodyPr/>
          <a:lstStyle/>
          <a:p>
            <a:endParaRPr lang="en-US"/>
          </a:p>
        </p:txBody>
      </p:sp>
      <p:sp>
        <p:nvSpPr>
          <p:cNvPr id="13" name="Text 11"/>
          <p:cNvSpPr/>
          <p:nvPr/>
        </p:nvSpPr>
        <p:spPr>
          <a:xfrm>
            <a:off x="3412034" y="1969294"/>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F4845F"/>
                </a:solidFill>
                <a:latin typeface="Verdana" pitchFamily="34" charset="0"/>
                <a:ea typeface="Verdana" pitchFamily="34" charset="-122"/>
                <a:cs typeface="Verdana" pitchFamily="34" charset="-120"/>
              </a:rPr>
              <a:t>LENS 2</a:t>
            </a:r>
            <a:endParaRPr lang="en-US" sz="900" dirty="0"/>
          </a:p>
        </p:txBody>
      </p:sp>
      <p:sp>
        <p:nvSpPr>
          <p:cNvPr id="14" name="Text 12"/>
          <p:cNvSpPr/>
          <p:nvPr/>
        </p:nvSpPr>
        <p:spPr>
          <a:xfrm>
            <a:off x="3412034" y="2154585"/>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Reliability and safety</a:t>
            </a:r>
            <a:endParaRPr lang="en-US" sz="1300" dirty="0"/>
          </a:p>
        </p:txBody>
      </p:sp>
      <p:sp>
        <p:nvSpPr>
          <p:cNvPr id="15" name="Text 13"/>
          <p:cNvSpPr/>
          <p:nvPr/>
        </p:nvSpPr>
        <p:spPr>
          <a:xfrm>
            <a:off x="3412034" y="2405360"/>
            <a:ext cx="2366331" cy="5331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Does the agent fail predictably and safely on edge cases, with content filters and rollback?</a:t>
            </a:r>
            <a:endParaRPr lang="en-US" sz="1000" dirty="0"/>
          </a:p>
        </p:txBody>
      </p:sp>
      <p:sp>
        <p:nvSpPr>
          <p:cNvPr id="16" name="Text 14"/>
          <p:cNvSpPr/>
          <p:nvPr/>
        </p:nvSpPr>
        <p:spPr>
          <a:xfrm>
            <a:off x="6011317" y="1794718"/>
            <a:ext cx="2624733" cy="1298228"/>
          </a:xfrm>
          <a:prstGeom prst="rect">
            <a:avLst/>
          </a:prstGeom>
          <a:solidFill>
            <a:srgbClr val="E9ECF2"/>
          </a:solidFill>
          <a:ln/>
        </p:spPr>
        <p:txBody>
          <a:bodyPr wrap="square" rtlCol="0" anchor="ctr"/>
          <a:lstStyle/>
          <a:p>
            <a:pPr marL="0" indent="0">
              <a:buNone/>
            </a:pPr>
            <a:endParaRPr lang="en-US" dirty="0"/>
          </a:p>
        </p:txBody>
      </p:sp>
      <p:sp>
        <p:nvSpPr>
          <p:cNvPr id="17" name="Shape 15"/>
          <p:cNvSpPr/>
          <p:nvPr/>
        </p:nvSpPr>
        <p:spPr>
          <a:xfrm>
            <a:off x="6011317" y="1818531"/>
            <a:ext cx="2624733" cy="0"/>
          </a:xfrm>
          <a:prstGeom prst="line">
            <a:avLst/>
          </a:prstGeom>
          <a:noFill/>
          <a:ln w="47625">
            <a:solidFill>
              <a:srgbClr val="00B4D8"/>
            </a:solidFill>
            <a:prstDash val="solid"/>
          </a:ln>
        </p:spPr>
        <p:txBody>
          <a:bodyPr/>
          <a:lstStyle/>
          <a:p>
            <a:endParaRPr lang="en-US"/>
          </a:p>
        </p:txBody>
      </p:sp>
      <p:sp>
        <p:nvSpPr>
          <p:cNvPr id="18" name="Text 16"/>
          <p:cNvSpPr/>
          <p:nvPr/>
        </p:nvSpPr>
        <p:spPr>
          <a:xfrm>
            <a:off x="6163717" y="1969294"/>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00B4D8"/>
                </a:solidFill>
                <a:latin typeface="Verdana" pitchFamily="34" charset="0"/>
                <a:ea typeface="Verdana" pitchFamily="34" charset="-122"/>
                <a:cs typeface="Verdana" pitchFamily="34" charset="-120"/>
              </a:rPr>
              <a:t>LENS 3</a:t>
            </a:r>
            <a:endParaRPr lang="en-US" sz="900" dirty="0"/>
          </a:p>
        </p:txBody>
      </p:sp>
      <p:sp>
        <p:nvSpPr>
          <p:cNvPr id="19" name="Text 17"/>
          <p:cNvSpPr/>
          <p:nvPr/>
        </p:nvSpPr>
        <p:spPr>
          <a:xfrm>
            <a:off x="6163717" y="2154585"/>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Privacy and security</a:t>
            </a:r>
            <a:endParaRPr lang="en-US" sz="1300" dirty="0"/>
          </a:p>
        </p:txBody>
      </p:sp>
      <p:sp>
        <p:nvSpPr>
          <p:cNvPr id="20" name="Text 18"/>
          <p:cNvSpPr/>
          <p:nvPr/>
        </p:nvSpPr>
        <p:spPr>
          <a:xfrm>
            <a:off x="6163717" y="2405360"/>
            <a:ext cx="2366331" cy="5331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Are knowledge sources, prompts, and outputs scoped to the user, with DLP and residency enforced?</a:t>
            </a:r>
            <a:endParaRPr lang="en-US" sz="1000" dirty="0"/>
          </a:p>
        </p:txBody>
      </p:sp>
      <p:sp>
        <p:nvSpPr>
          <p:cNvPr id="21" name="Text 19"/>
          <p:cNvSpPr/>
          <p:nvPr/>
        </p:nvSpPr>
        <p:spPr>
          <a:xfrm>
            <a:off x="507950" y="3219896"/>
            <a:ext cx="2624733" cy="1475929"/>
          </a:xfrm>
          <a:prstGeom prst="rect">
            <a:avLst/>
          </a:prstGeom>
          <a:solidFill>
            <a:srgbClr val="E9ECF2"/>
          </a:solidFill>
          <a:ln/>
        </p:spPr>
        <p:txBody>
          <a:bodyPr wrap="square" rtlCol="0" anchor="ctr"/>
          <a:lstStyle/>
          <a:p>
            <a:pPr marL="0" indent="0">
              <a:buNone/>
            </a:pPr>
            <a:endParaRPr lang="en-US" dirty="0"/>
          </a:p>
        </p:txBody>
      </p:sp>
      <p:sp>
        <p:nvSpPr>
          <p:cNvPr id="22" name="Shape 20"/>
          <p:cNvSpPr/>
          <p:nvPr/>
        </p:nvSpPr>
        <p:spPr>
          <a:xfrm>
            <a:off x="507950" y="3243709"/>
            <a:ext cx="2624733" cy="0"/>
          </a:xfrm>
          <a:prstGeom prst="line">
            <a:avLst/>
          </a:prstGeom>
          <a:noFill/>
          <a:ln w="47625">
            <a:solidFill>
              <a:srgbClr val="F4845F"/>
            </a:solidFill>
            <a:prstDash val="solid"/>
          </a:ln>
        </p:spPr>
        <p:txBody>
          <a:bodyPr/>
          <a:lstStyle/>
          <a:p>
            <a:endParaRPr lang="en-US"/>
          </a:p>
        </p:txBody>
      </p:sp>
      <p:sp>
        <p:nvSpPr>
          <p:cNvPr id="23" name="Text 21"/>
          <p:cNvSpPr/>
          <p:nvPr/>
        </p:nvSpPr>
        <p:spPr>
          <a:xfrm>
            <a:off x="660350" y="3394472"/>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F4845F"/>
                </a:solidFill>
                <a:latin typeface="Verdana" pitchFamily="34" charset="0"/>
                <a:ea typeface="Verdana" pitchFamily="34" charset="-122"/>
                <a:cs typeface="Verdana" pitchFamily="34" charset="-120"/>
              </a:rPr>
              <a:t>LENS 4</a:t>
            </a:r>
            <a:endParaRPr lang="en-US" sz="900" dirty="0"/>
          </a:p>
        </p:txBody>
      </p:sp>
      <p:sp>
        <p:nvSpPr>
          <p:cNvPr id="24" name="Text 22"/>
          <p:cNvSpPr/>
          <p:nvPr/>
        </p:nvSpPr>
        <p:spPr>
          <a:xfrm>
            <a:off x="660350" y="3579763"/>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Inclusiveness</a:t>
            </a:r>
            <a:endParaRPr lang="en-US" sz="1300" dirty="0"/>
          </a:p>
        </p:txBody>
      </p:sp>
      <p:sp>
        <p:nvSpPr>
          <p:cNvPr id="25" name="Text 23"/>
          <p:cNvSpPr/>
          <p:nvPr/>
        </p:nvSpPr>
        <p:spPr>
          <a:xfrm>
            <a:off x="660350" y="3830538"/>
            <a:ext cx="2366331" cy="710803"/>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Does the experience work across language, accessibility, and modality (text, voice, screen reader)?</a:t>
            </a:r>
            <a:endParaRPr lang="en-US" sz="1000" dirty="0"/>
          </a:p>
        </p:txBody>
      </p:sp>
      <p:sp>
        <p:nvSpPr>
          <p:cNvPr id="26" name="Text 24"/>
          <p:cNvSpPr/>
          <p:nvPr/>
        </p:nvSpPr>
        <p:spPr>
          <a:xfrm>
            <a:off x="3259634" y="3219896"/>
            <a:ext cx="2624733" cy="1475929"/>
          </a:xfrm>
          <a:prstGeom prst="rect">
            <a:avLst/>
          </a:prstGeom>
          <a:solidFill>
            <a:srgbClr val="E9ECF2"/>
          </a:solidFill>
          <a:ln/>
        </p:spPr>
        <p:txBody>
          <a:bodyPr wrap="square" rtlCol="0" anchor="ctr"/>
          <a:lstStyle/>
          <a:p>
            <a:pPr marL="0" indent="0">
              <a:buNone/>
            </a:pPr>
            <a:endParaRPr lang="en-US" dirty="0"/>
          </a:p>
        </p:txBody>
      </p:sp>
      <p:sp>
        <p:nvSpPr>
          <p:cNvPr id="27" name="Shape 25"/>
          <p:cNvSpPr/>
          <p:nvPr/>
        </p:nvSpPr>
        <p:spPr>
          <a:xfrm>
            <a:off x="3259634" y="3243709"/>
            <a:ext cx="2624733" cy="0"/>
          </a:xfrm>
          <a:prstGeom prst="line">
            <a:avLst/>
          </a:prstGeom>
          <a:noFill/>
          <a:ln w="47625">
            <a:solidFill>
              <a:srgbClr val="00B4D8"/>
            </a:solidFill>
            <a:prstDash val="solid"/>
          </a:ln>
        </p:spPr>
        <p:txBody>
          <a:bodyPr/>
          <a:lstStyle/>
          <a:p>
            <a:endParaRPr lang="en-US"/>
          </a:p>
        </p:txBody>
      </p:sp>
      <p:sp>
        <p:nvSpPr>
          <p:cNvPr id="28" name="Text 26"/>
          <p:cNvSpPr/>
          <p:nvPr/>
        </p:nvSpPr>
        <p:spPr>
          <a:xfrm>
            <a:off x="3412034" y="3394472"/>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00B4D8"/>
                </a:solidFill>
                <a:latin typeface="Verdana" pitchFamily="34" charset="0"/>
                <a:ea typeface="Verdana" pitchFamily="34" charset="-122"/>
                <a:cs typeface="Verdana" pitchFamily="34" charset="-120"/>
              </a:rPr>
              <a:t>LENS 5</a:t>
            </a:r>
            <a:endParaRPr lang="en-US" sz="900" dirty="0"/>
          </a:p>
        </p:txBody>
      </p:sp>
      <p:sp>
        <p:nvSpPr>
          <p:cNvPr id="29" name="Text 27"/>
          <p:cNvSpPr/>
          <p:nvPr/>
        </p:nvSpPr>
        <p:spPr>
          <a:xfrm>
            <a:off x="3412034" y="3579763"/>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Transparency</a:t>
            </a:r>
            <a:endParaRPr lang="en-US" sz="1300" dirty="0"/>
          </a:p>
        </p:txBody>
      </p:sp>
      <p:sp>
        <p:nvSpPr>
          <p:cNvPr id="30" name="Text 28"/>
          <p:cNvSpPr/>
          <p:nvPr/>
        </p:nvSpPr>
        <p:spPr>
          <a:xfrm>
            <a:off x="3412034" y="3830538"/>
            <a:ext cx="2366331" cy="5331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Can users tell they are interacting with an agent and see the basis for its answer?</a:t>
            </a:r>
            <a:endParaRPr lang="en-US" sz="1000" dirty="0"/>
          </a:p>
        </p:txBody>
      </p:sp>
      <p:sp>
        <p:nvSpPr>
          <p:cNvPr id="31" name="Text 29"/>
          <p:cNvSpPr/>
          <p:nvPr/>
        </p:nvSpPr>
        <p:spPr>
          <a:xfrm>
            <a:off x="6011317" y="3219896"/>
            <a:ext cx="2624733" cy="1475929"/>
          </a:xfrm>
          <a:prstGeom prst="rect">
            <a:avLst/>
          </a:prstGeom>
          <a:solidFill>
            <a:srgbClr val="E9ECF2"/>
          </a:solidFill>
          <a:ln/>
        </p:spPr>
        <p:txBody>
          <a:bodyPr wrap="square" rtlCol="0" anchor="ctr"/>
          <a:lstStyle/>
          <a:p>
            <a:pPr marL="0" indent="0">
              <a:buNone/>
            </a:pPr>
            <a:endParaRPr lang="en-US" dirty="0"/>
          </a:p>
        </p:txBody>
      </p:sp>
      <p:sp>
        <p:nvSpPr>
          <p:cNvPr id="32" name="Shape 30"/>
          <p:cNvSpPr/>
          <p:nvPr/>
        </p:nvSpPr>
        <p:spPr>
          <a:xfrm>
            <a:off x="6011317" y="3243709"/>
            <a:ext cx="2624733" cy="0"/>
          </a:xfrm>
          <a:prstGeom prst="line">
            <a:avLst/>
          </a:prstGeom>
          <a:noFill/>
          <a:ln w="47625">
            <a:solidFill>
              <a:srgbClr val="F4845F"/>
            </a:solidFill>
            <a:prstDash val="solid"/>
          </a:ln>
        </p:spPr>
        <p:txBody>
          <a:bodyPr/>
          <a:lstStyle/>
          <a:p>
            <a:endParaRPr lang="en-US"/>
          </a:p>
        </p:txBody>
      </p:sp>
      <p:sp>
        <p:nvSpPr>
          <p:cNvPr id="33" name="Text 31"/>
          <p:cNvSpPr/>
          <p:nvPr/>
        </p:nvSpPr>
        <p:spPr>
          <a:xfrm>
            <a:off x="6163717" y="3394472"/>
            <a:ext cx="2366331" cy="159990"/>
          </a:xfrm>
          <a:prstGeom prst="rect">
            <a:avLst/>
          </a:prstGeom>
          <a:noFill/>
          <a:ln/>
        </p:spPr>
        <p:txBody>
          <a:bodyPr wrap="square" lIns="0" tIns="0" rIns="0" bIns="0" rtlCol="0" anchor="t"/>
          <a:lstStyle/>
          <a:p>
            <a:pPr marL="0" indent="0" algn="l">
              <a:lnSpc>
                <a:spcPts val="1260"/>
              </a:lnSpc>
              <a:buNone/>
            </a:pPr>
            <a:r>
              <a:rPr lang="en-US" sz="900" b="1" dirty="0">
                <a:solidFill>
                  <a:srgbClr val="F4845F"/>
                </a:solidFill>
                <a:latin typeface="Verdana" pitchFamily="34" charset="0"/>
                <a:ea typeface="Verdana" pitchFamily="34" charset="-122"/>
                <a:cs typeface="Verdana" pitchFamily="34" charset="-120"/>
              </a:rPr>
              <a:t>LENS 6</a:t>
            </a:r>
            <a:endParaRPr lang="en-US" sz="900" dirty="0"/>
          </a:p>
        </p:txBody>
      </p:sp>
      <p:sp>
        <p:nvSpPr>
          <p:cNvPr id="34" name="Text 32"/>
          <p:cNvSpPr/>
          <p:nvPr/>
        </p:nvSpPr>
        <p:spPr>
          <a:xfrm>
            <a:off x="6163717" y="3579763"/>
            <a:ext cx="2366331" cy="200025"/>
          </a:xfrm>
          <a:prstGeom prst="rect">
            <a:avLst/>
          </a:prstGeom>
          <a:noFill/>
          <a:ln/>
        </p:spPr>
        <p:txBody>
          <a:bodyPr wrap="square" lIns="0" tIns="0" rIns="0" bIns="0" rtlCol="0" anchor="t"/>
          <a:lstStyle/>
          <a:p>
            <a:pPr marL="0" indent="0" algn="l">
              <a:spcBef>
                <a:spcPts val="200"/>
              </a:spcBef>
              <a:spcAft>
                <a:spcPts val="400"/>
              </a:spcAft>
              <a:buNone/>
            </a:pPr>
            <a:r>
              <a:rPr lang="en-US" sz="1300" b="1" dirty="0">
                <a:solidFill>
                  <a:srgbClr val="1F2A56"/>
                </a:solidFill>
                <a:latin typeface="Verdana" pitchFamily="34" charset="0"/>
                <a:ea typeface="Verdana" pitchFamily="34" charset="-122"/>
                <a:cs typeface="Verdana" pitchFamily="34" charset="-120"/>
              </a:rPr>
              <a:t>Accountability</a:t>
            </a:r>
            <a:endParaRPr lang="en-US" sz="1300" dirty="0"/>
          </a:p>
        </p:txBody>
      </p:sp>
      <p:sp>
        <p:nvSpPr>
          <p:cNvPr id="35" name="Text 33"/>
          <p:cNvSpPr/>
          <p:nvPr/>
        </p:nvSpPr>
        <p:spPr>
          <a:xfrm>
            <a:off x="6163717" y="3830538"/>
            <a:ext cx="2366331" cy="533102"/>
          </a:xfrm>
          <a:prstGeom prst="rect">
            <a:avLst/>
          </a:prstGeom>
          <a:noFill/>
          <a:ln/>
        </p:spPr>
        <p:txBody>
          <a:bodyPr wrap="square" lIns="0" tIns="0" rIns="0" bIns="0" rtlCol="0" anchor="t"/>
          <a:lstStyle/>
          <a:p>
            <a:pPr marL="0" indent="0" algn="l">
              <a:lnSpc>
                <a:spcPts val="1400"/>
              </a:lnSpc>
              <a:buNone/>
            </a:pPr>
            <a:r>
              <a:rPr lang="en-US" sz="1000" dirty="0">
                <a:solidFill>
                  <a:srgbClr val="1A1A2E"/>
                </a:solidFill>
                <a:latin typeface="Verdana" pitchFamily="34" charset="0"/>
                <a:ea typeface="Verdana" pitchFamily="34" charset="-122"/>
                <a:cs typeface="Verdana" pitchFamily="34" charset="-120"/>
              </a:rPr>
              <a:t>Is there a named owner, an agent registry entry, and an audit trail of changes and decisions?</a:t>
            </a:r>
            <a:endParaRPr lang="en-US" sz="1000" dirty="0"/>
          </a:p>
        </p:txBody>
      </p:sp>
      <p:sp>
        <p:nvSpPr>
          <p:cNvPr id="36" name="Text 34"/>
          <p:cNvSpPr/>
          <p:nvPr/>
        </p:nvSpPr>
        <p:spPr>
          <a:xfrm>
            <a:off x="507950" y="4848225"/>
            <a:ext cx="8290661" cy="142875"/>
          </a:xfrm>
          <a:prstGeom prst="rect">
            <a:avLst/>
          </a:prstGeom>
          <a:noFill/>
          <a:ln/>
        </p:spPr>
        <p:txBody>
          <a:bodyPr wrap="square" lIns="0" tIns="0" rIns="0" bIns="0" rtlCol="0" anchor="t"/>
          <a:lstStyle/>
          <a:p>
            <a:pPr marL="0" indent="0" algn="l">
              <a:buNone/>
            </a:pPr>
            <a:r>
              <a:rPr lang="en-US" sz="900" dirty="0">
                <a:solidFill>
                  <a:srgbClr val="6B7280"/>
                </a:solidFill>
                <a:latin typeface="Verdana" pitchFamily="34" charset="0"/>
                <a:ea typeface="Verdana" pitchFamily="34" charset="-122"/>
                <a:cs typeface="Verdana" pitchFamily="34" charset="-120"/>
              </a:rPr>
              <a:t>Microsoft Responsible AI Standard v2; concepts informed by AB-100T00 official courseware; AB-100 Subdomain 3.4.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3">
    <p:bg>
      <p:bgPr>
        <a:solidFill>
          <a:srgbClr val="1F2A56"/>
        </a:solidFill>
        <a:effectLst/>
      </p:bgPr>
    </p:bg>
    <p:spTree>
      <p:nvGrpSpPr>
        <p:cNvPr id="1" name=""/>
        <p:cNvGrpSpPr/>
        <p:nvPr/>
      </p:nvGrpSpPr>
      <p:grpSpPr>
        <a:xfrm>
          <a:off x="0" y="0"/>
          <a:ext cx="0" cy="0"/>
          <a:chOff x="0" y="0"/>
          <a:chExt cx="0" cy="0"/>
        </a:xfrm>
      </p:grpSpPr>
      <p:sp>
        <p:nvSpPr>
          <p:cNvPr id="2" name="Text 0"/>
          <p:cNvSpPr/>
          <p:nvPr/>
        </p:nvSpPr>
        <p:spPr>
          <a:xfrm>
            <a:off x="634901" y="279350"/>
            <a:ext cx="8031682" cy="180975"/>
          </a:xfrm>
          <a:prstGeom prst="rect">
            <a:avLst/>
          </a:prstGeom>
          <a:noFill/>
          <a:ln/>
        </p:spPr>
        <p:txBody>
          <a:bodyPr wrap="square" lIns="0" tIns="0" rIns="0" bIns="0" rtlCol="0" anchor="t"/>
          <a:lstStyle/>
          <a:p>
            <a:pPr marL="0" indent="0" algn="l">
              <a:spcAft>
                <a:spcPts val="400"/>
              </a:spcAft>
              <a:buNone/>
            </a:pPr>
            <a:r>
              <a:rPr lang="en-US" sz="1200" b="1" dirty="0">
                <a:solidFill>
                  <a:srgbClr val="00B4D8"/>
                </a:solidFill>
                <a:latin typeface="Verdana" pitchFamily="34" charset="0"/>
                <a:ea typeface="Verdana" pitchFamily="34" charset="-122"/>
                <a:cs typeface="Verdana" pitchFamily="34" charset="-120"/>
              </a:rPr>
              <a:t>EXAM MASTERY</a:t>
            </a:r>
            <a:endParaRPr lang="en-US" sz="1200" dirty="0"/>
          </a:p>
        </p:txBody>
      </p:sp>
      <p:sp>
        <p:nvSpPr>
          <p:cNvPr id="3" name="Text 1"/>
          <p:cNvSpPr/>
          <p:nvPr/>
        </p:nvSpPr>
        <p:spPr>
          <a:xfrm>
            <a:off x="634901" y="511076"/>
            <a:ext cx="8031682" cy="371475"/>
          </a:xfrm>
          <a:prstGeom prst="rect">
            <a:avLst/>
          </a:prstGeom>
          <a:noFill/>
          <a:ln/>
        </p:spPr>
        <p:txBody>
          <a:bodyPr wrap="square" lIns="0" tIns="0" rIns="0" bIns="0" rtlCol="0" anchor="t"/>
          <a:lstStyle/>
          <a:p>
            <a:pPr marL="0" indent="0" algn="l">
              <a:buNone/>
            </a:pPr>
            <a:r>
              <a:rPr lang="en-US" sz="2400" b="1" dirty="0">
                <a:solidFill>
                  <a:srgbClr val="FFFFFF"/>
                </a:solidFill>
                <a:latin typeface="Verdana" pitchFamily="34" charset="0"/>
                <a:ea typeface="Verdana" pitchFamily="34" charset="-122"/>
                <a:cs typeface="Verdana" pitchFamily="34" charset="-120"/>
              </a:rPr>
              <a:t>Walk in confident on exam day</a:t>
            </a:r>
            <a:endParaRPr lang="en-US" sz="2400" dirty="0"/>
          </a:p>
        </p:txBody>
      </p:sp>
      <p:sp>
        <p:nvSpPr>
          <p:cNvPr id="4" name="Text 2"/>
          <p:cNvSpPr/>
          <p:nvPr/>
        </p:nvSpPr>
        <p:spPr>
          <a:xfrm>
            <a:off x="634901" y="1085701"/>
            <a:ext cx="3899255" cy="180975"/>
          </a:xfrm>
          <a:prstGeom prst="rect">
            <a:avLst/>
          </a:prstGeom>
          <a:noFill/>
          <a:ln/>
        </p:spPr>
        <p:txBody>
          <a:bodyPr wrap="square" lIns="0" tIns="0" rIns="0" bIns="0" rtlCol="0" anchor="t"/>
          <a:lstStyle/>
          <a:p>
            <a:pPr marL="0" indent="0" algn="l">
              <a:spcAft>
                <a:spcPts val="600"/>
              </a:spcAft>
              <a:buNone/>
            </a:pPr>
            <a:r>
              <a:rPr lang="en-US" sz="1200" b="1" dirty="0">
                <a:solidFill>
                  <a:srgbClr val="00B4D8"/>
                </a:solidFill>
                <a:latin typeface="Verdana" pitchFamily="34" charset="0"/>
                <a:ea typeface="Verdana" pitchFamily="34" charset="-122"/>
                <a:cs typeface="Verdana" pitchFamily="34" charset="-120"/>
              </a:rPr>
              <a:t>AB-100 AT A GLANCE</a:t>
            </a:r>
            <a:endParaRPr lang="en-US" sz="1200" dirty="0"/>
          </a:p>
        </p:txBody>
      </p:sp>
      <p:sp>
        <p:nvSpPr>
          <p:cNvPr id="5" name="Text 3"/>
          <p:cNvSpPr/>
          <p:nvPr/>
        </p:nvSpPr>
        <p:spPr>
          <a:xfrm>
            <a:off x="634901" y="1342876"/>
            <a:ext cx="3822799" cy="2514005"/>
          </a:xfrm>
          <a:prstGeom prst="rect">
            <a:avLst/>
          </a:prstGeom>
          <a:solidFill>
            <a:srgbClr val="2A3A6E"/>
          </a:solidFill>
          <a:ln/>
        </p:spPr>
        <p:txBody>
          <a:bodyPr wrap="square" rtlCol="0" anchor="ctr"/>
          <a:lstStyle/>
          <a:p>
            <a:pPr marL="0" indent="0">
              <a:buNone/>
            </a:pPr>
            <a:endParaRPr lang="en-US" dirty="0"/>
          </a:p>
        </p:txBody>
      </p:sp>
      <p:sp>
        <p:nvSpPr>
          <p:cNvPr id="6" name="Text 4"/>
          <p:cNvSpPr/>
          <p:nvPr/>
        </p:nvSpPr>
        <p:spPr>
          <a:xfrm>
            <a:off x="812602" y="1469827"/>
            <a:ext cx="3536746" cy="39112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Exam:</a:t>
            </a:r>
            <a:r>
              <a:rPr lang="en-US" sz="1100" dirty="0">
                <a:solidFill>
                  <a:srgbClr val="E9ECF2"/>
                </a:solidFill>
                <a:latin typeface="Verdana" pitchFamily="34" charset="0"/>
                <a:ea typeface="Verdana" pitchFamily="34" charset="-122"/>
                <a:cs typeface="Verdana" pitchFamily="34" charset="-120"/>
              </a:rPr>
              <a:t> AB-100 -- Agentic AI Business Solutions Architect</a:t>
            </a:r>
            <a:endParaRPr lang="en-US" sz="1100" dirty="0"/>
          </a:p>
        </p:txBody>
      </p:sp>
      <p:sp>
        <p:nvSpPr>
          <p:cNvPr id="7" name="Text 5"/>
          <p:cNvSpPr/>
          <p:nvPr/>
        </p:nvSpPr>
        <p:spPr>
          <a:xfrm>
            <a:off x="812602" y="1911697"/>
            <a:ext cx="3536746" cy="19556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Level:</a:t>
            </a:r>
            <a:r>
              <a:rPr lang="en-US" sz="1100" dirty="0">
                <a:solidFill>
                  <a:srgbClr val="E9ECF2"/>
                </a:solidFill>
                <a:latin typeface="Verdana" pitchFamily="34" charset="0"/>
                <a:ea typeface="Verdana" pitchFamily="34" charset="-122"/>
                <a:cs typeface="Verdana" pitchFamily="34" charset="-120"/>
              </a:rPr>
              <a:t> Advanced (Expert) -- Solution Architect</a:t>
            </a:r>
            <a:endParaRPr lang="en-US" sz="1100" dirty="0"/>
          </a:p>
        </p:txBody>
      </p:sp>
      <p:sp>
        <p:nvSpPr>
          <p:cNvPr id="8" name="Text 6"/>
          <p:cNvSpPr/>
          <p:nvPr/>
        </p:nvSpPr>
        <p:spPr>
          <a:xfrm>
            <a:off x="812602" y="2158008"/>
            <a:ext cx="3536746" cy="19556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Passing score:</a:t>
            </a:r>
            <a:r>
              <a:rPr lang="en-US" sz="1100" dirty="0">
                <a:solidFill>
                  <a:srgbClr val="E9ECF2"/>
                </a:solidFill>
                <a:latin typeface="Verdana" pitchFamily="34" charset="0"/>
                <a:ea typeface="Verdana" pitchFamily="34" charset="-122"/>
                <a:cs typeface="Verdana" pitchFamily="34" charset="-120"/>
              </a:rPr>
              <a:t> 700 / 1000</a:t>
            </a:r>
            <a:endParaRPr lang="en-US" sz="1100" dirty="0"/>
          </a:p>
        </p:txBody>
      </p:sp>
      <p:sp>
        <p:nvSpPr>
          <p:cNvPr id="9" name="Text 7"/>
          <p:cNvSpPr/>
          <p:nvPr/>
        </p:nvSpPr>
        <p:spPr>
          <a:xfrm>
            <a:off x="812602" y="2404318"/>
            <a:ext cx="3536746" cy="39112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Renewal:</a:t>
            </a:r>
            <a:r>
              <a:rPr lang="en-US" sz="1100" dirty="0">
                <a:solidFill>
                  <a:srgbClr val="E9ECF2"/>
                </a:solidFill>
                <a:latin typeface="Verdana" pitchFamily="34" charset="0"/>
                <a:ea typeface="Verdana" pitchFamily="34" charset="-122"/>
                <a:cs typeface="Verdana" pitchFamily="34" charset="-120"/>
              </a:rPr>
              <a:t> 12 months -- free Microsoft Learn assessment</a:t>
            </a:r>
            <a:endParaRPr lang="en-US" sz="1100" dirty="0"/>
          </a:p>
        </p:txBody>
      </p:sp>
      <p:sp>
        <p:nvSpPr>
          <p:cNvPr id="10" name="Text 8"/>
          <p:cNvSpPr/>
          <p:nvPr/>
        </p:nvSpPr>
        <p:spPr>
          <a:xfrm>
            <a:off x="812602" y="2846189"/>
            <a:ext cx="3536746" cy="39112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Prerequisite:</a:t>
            </a:r>
            <a:r>
              <a:rPr lang="en-US" sz="1100" dirty="0">
                <a:solidFill>
                  <a:srgbClr val="E9ECF2"/>
                </a:solidFill>
                <a:latin typeface="Verdana" pitchFamily="34" charset="0"/>
                <a:ea typeface="Verdana" pitchFamily="34" charset="-122"/>
                <a:cs typeface="Verdana" pitchFamily="34" charset="-120"/>
              </a:rPr>
              <a:t> one qualifying associate certification</a:t>
            </a:r>
            <a:endParaRPr lang="en-US" sz="1100" dirty="0"/>
          </a:p>
        </p:txBody>
      </p:sp>
      <p:sp>
        <p:nvSpPr>
          <p:cNvPr id="11" name="Text 9"/>
          <p:cNvSpPr/>
          <p:nvPr/>
        </p:nvSpPr>
        <p:spPr>
          <a:xfrm>
            <a:off x="812602" y="3288060"/>
            <a:ext cx="3536746" cy="39112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FFFFFF"/>
                </a:solidFill>
                <a:latin typeface="Verdana" pitchFamily="34" charset="0"/>
                <a:ea typeface="Verdana" pitchFamily="34" charset="-122"/>
                <a:cs typeface="Verdana" pitchFamily="34" charset="-120"/>
              </a:rPr>
              <a:t>Domains:</a:t>
            </a:r>
            <a:r>
              <a:rPr lang="en-US" sz="1100" dirty="0">
                <a:solidFill>
                  <a:srgbClr val="E9ECF2"/>
                </a:solidFill>
                <a:latin typeface="Verdana" pitchFamily="34" charset="0"/>
                <a:ea typeface="Verdana" pitchFamily="34" charset="-122"/>
                <a:cs typeface="Verdana" pitchFamily="34" charset="-120"/>
              </a:rPr>
              <a:t> Plan 25-30, Design 25-30, Deploy 40-45</a:t>
            </a:r>
            <a:endParaRPr lang="en-US" sz="1100" dirty="0"/>
          </a:p>
        </p:txBody>
      </p:sp>
      <p:sp>
        <p:nvSpPr>
          <p:cNvPr id="12" name="Text 10"/>
          <p:cNvSpPr/>
          <p:nvPr/>
        </p:nvSpPr>
        <p:spPr>
          <a:xfrm>
            <a:off x="4686300" y="1085701"/>
            <a:ext cx="3899255" cy="180975"/>
          </a:xfrm>
          <a:prstGeom prst="rect">
            <a:avLst/>
          </a:prstGeom>
          <a:noFill/>
          <a:ln/>
        </p:spPr>
        <p:txBody>
          <a:bodyPr wrap="square" lIns="0" tIns="0" rIns="0" bIns="0" rtlCol="0" anchor="t"/>
          <a:lstStyle/>
          <a:p>
            <a:pPr marL="0" indent="0" algn="l">
              <a:spcAft>
                <a:spcPts val="600"/>
              </a:spcAft>
              <a:buNone/>
            </a:pPr>
            <a:r>
              <a:rPr lang="en-US" sz="1200" b="1" dirty="0">
                <a:solidFill>
                  <a:srgbClr val="00B4D8"/>
                </a:solidFill>
                <a:latin typeface="Verdana" pitchFamily="34" charset="0"/>
                <a:ea typeface="Verdana" pitchFamily="34" charset="-122"/>
                <a:cs typeface="Verdana" pitchFamily="34" charset="-120"/>
              </a:rPr>
              <a:t>FINAL-WEEK PLAN</a:t>
            </a:r>
            <a:endParaRPr lang="en-US" sz="1200" dirty="0"/>
          </a:p>
        </p:txBody>
      </p:sp>
      <p:sp>
        <p:nvSpPr>
          <p:cNvPr id="13" name="Text 11"/>
          <p:cNvSpPr/>
          <p:nvPr/>
        </p:nvSpPr>
        <p:spPr>
          <a:xfrm>
            <a:off x="4686300" y="1342876"/>
            <a:ext cx="3822799" cy="2059632"/>
          </a:xfrm>
          <a:prstGeom prst="rect">
            <a:avLst/>
          </a:prstGeom>
          <a:solidFill>
            <a:srgbClr val="F4845F"/>
          </a:solidFill>
          <a:ln/>
        </p:spPr>
        <p:txBody>
          <a:bodyPr wrap="square" rtlCol="0" anchor="ctr"/>
          <a:lstStyle/>
          <a:p>
            <a:pPr marL="0" indent="0">
              <a:buNone/>
            </a:pPr>
            <a:endParaRPr lang="en-US" dirty="0"/>
          </a:p>
        </p:txBody>
      </p:sp>
      <p:sp>
        <p:nvSpPr>
          <p:cNvPr id="14" name="Text 12"/>
          <p:cNvSpPr/>
          <p:nvPr/>
        </p:nvSpPr>
        <p:spPr>
          <a:xfrm>
            <a:off x="4864001" y="1469827"/>
            <a:ext cx="3536746" cy="195560"/>
          </a:xfrm>
          <a:prstGeom prst="rect">
            <a:avLst/>
          </a:prstGeom>
          <a:noFill/>
          <a:ln/>
        </p:spPr>
        <p:txBody>
          <a:bodyPr wrap="square" lIns="0" tIns="0" rIns="0" bIns="0" rtlCol="0" anchor="t"/>
          <a:lstStyle/>
          <a:p>
            <a:pPr marL="0" indent="0" algn="l">
              <a:lnSpc>
                <a:spcPts val="1540"/>
              </a:lnSpc>
              <a:spcAft>
                <a:spcPts val="400"/>
              </a:spcAft>
              <a:buNone/>
            </a:pPr>
            <a:r>
              <a:rPr lang="en-US" sz="1100" b="1" dirty="0">
                <a:solidFill>
                  <a:srgbClr val="1F2A56"/>
                </a:solidFill>
                <a:latin typeface="Verdana" pitchFamily="34" charset="0"/>
                <a:ea typeface="Verdana" pitchFamily="34" charset="-122"/>
                <a:cs typeface="Verdana" pitchFamily="34" charset="-120"/>
              </a:rPr>
              <a:t>Your 5-step closer:</a:t>
            </a:r>
            <a:endParaRPr lang="en-US" sz="1100" dirty="0"/>
          </a:p>
        </p:txBody>
      </p:sp>
      <p:sp>
        <p:nvSpPr>
          <p:cNvPr id="15" name="Text 13"/>
          <p:cNvSpPr/>
          <p:nvPr/>
        </p:nvSpPr>
        <p:spPr>
          <a:xfrm>
            <a:off x="4864001" y="1716137"/>
            <a:ext cx="3467398" cy="1521321"/>
          </a:xfrm>
          <a:prstGeom prst="rect">
            <a:avLst/>
          </a:prstGeom>
          <a:noFill/>
          <a:ln/>
        </p:spPr>
        <p:txBody>
          <a:bodyPr wrap="square" lIns="114300" tIns="0" rIns="0" bIns="0" rtlCol="0" anchor="t"/>
          <a:lstStyle/>
          <a:p>
            <a:pPr marL="114300" indent="-114300" algn="l">
              <a:lnSpc>
                <a:spcPts val="154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Re-read docs/ab100-exam-objectives.md word for word</a:t>
            </a:r>
            <a:endParaRPr lang="en-US" sz="1100" dirty="0"/>
          </a:p>
          <a:p>
            <a:pPr marL="114300" indent="-114300" algn="l">
              <a:lnSpc>
                <a:spcPts val="154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Run the AB-100 Cert Buddy: questions and labs</a:t>
            </a:r>
            <a:endParaRPr lang="en-US" sz="1100" dirty="0"/>
          </a:p>
          <a:p>
            <a:pPr marL="114300" indent="-114300" algn="l">
              <a:lnSpc>
                <a:spcPts val="154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Drill Subdomain 3.4 -- highest-yield section</a:t>
            </a:r>
            <a:endParaRPr lang="en-US" sz="1100" dirty="0"/>
          </a:p>
          <a:p>
            <a:pPr marL="114300" indent="-114300" algn="l">
              <a:lnSpc>
                <a:spcPts val="154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Watch Exam Readiness Zone for AB-100</a:t>
            </a:r>
            <a:endParaRPr lang="en-US" sz="1100" dirty="0"/>
          </a:p>
          <a:p>
            <a:pPr marL="114300" indent="-114300" algn="l">
              <a:lnSpc>
                <a:spcPts val="1540"/>
              </a:lnSpc>
              <a:spcAft>
                <a:spcPts val="300"/>
              </a:spcAft>
              <a:buSzPct val="100000"/>
              <a:buChar char="•"/>
            </a:pPr>
            <a:r>
              <a:rPr lang="en-US" sz="1100" dirty="0">
                <a:solidFill>
                  <a:srgbClr val="1F2A56"/>
                </a:solidFill>
                <a:latin typeface="Verdana" pitchFamily="34" charset="0"/>
                <a:ea typeface="Verdana" pitchFamily="34" charset="-122"/>
                <a:cs typeface="Verdana" pitchFamily="34" charset="-120"/>
              </a:rPr>
              <a:t>Sleep, hydrate, register early at Pearson VUE</a:t>
            </a:r>
            <a:endParaRPr lang="en-US" sz="1100" dirty="0"/>
          </a:p>
        </p:txBody>
      </p:sp>
      <p:sp>
        <p:nvSpPr>
          <p:cNvPr id="16" name="Text 14"/>
          <p:cNvSpPr/>
          <p:nvPr/>
        </p:nvSpPr>
        <p:spPr>
          <a:xfrm>
            <a:off x="0" y="4708624"/>
            <a:ext cx="9144000" cy="434876"/>
          </a:xfrm>
          <a:prstGeom prst="rect">
            <a:avLst/>
          </a:prstGeom>
          <a:solidFill>
            <a:srgbClr val="00B4D8"/>
          </a:solidFill>
          <a:ln/>
        </p:spPr>
        <p:txBody>
          <a:bodyPr wrap="square" rtlCol="0" anchor="ctr"/>
          <a:lstStyle/>
          <a:p>
            <a:pPr marL="0" indent="0">
              <a:buNone/>
            </a:pPr>
            <a:endParaRPr lang="en-US" dirty="0"/>
          </a:p>
        </p:txBody>
      </p:sp>
      <p:sp>
        <p:nvSpPr>
          <p:cNvPr id="17" name="Text 15"/>
          <p:cNvSpPr/>
          <p:nvPr/>
        </p:nvSpPr>
        <p:spPr>
          <a:xfrm>
            <a:off x="634901" y="4835575"/>
            <a:ext cx="8031682" cy="180975"/>
          </a:xfrm>
          <a:prstGeom prst="rect">
            <a:avLst/>
          </a:prstGeom>
          <a:noFill/>
          <a:ln/>
        </p:spPr>
        <p:txBody>
          <a:bodyPr wrap="square" lIns="0" tIns="0" rIns="0" bIns="0" rtlCol="0" anchor="t"/>
          <a:lstStyle/>
          <a:p>
            <a:pPr marL="0" indent="0" algn="l">
              <a:buNone/>
            </a:pPr>
            <a:r>
              <a:rPr lang="en-US" sz="1200" b="1" dirty="0">
                <a:solidFill>
                  <a:srgbClr val="1F2A56"/>
                </a:solidFill>
                <a:latin typeface="Verdana" pitchFamily="34" charset="0"/>
                <a:ea typeface="Verdana" pitchFamily="34" charset="-122"/>
                <a:cs typeface="Verdana" pitchFamily="34" charset="-120"/>
              </a:rPr>
              <a:t>Next steps: /ab100-practice-question :: /ab100-practice-lab :: /ab100-study-planner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2805</Words>
  <Application>Microsoft Office PowerPoint</Application>
  <PresentationFormat>On-screen Show (16:9)</PresentationFormat>
  <Paragraphs>460</Paragraphs>
  <Slides>38</Slides>
  <Notes>25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Arial</vt:lpstr>
      <vt:lpstr>Calibri</vt:lpstr>
      <vt:lpstr>JetBrains Mono</vt:lpstr>
      <vt:lpstr>Myriad Pro</vt:lpstr>
      <vt:lpstr>Open Sans</vt:lpstr>
      <vt:lpstr>PS TT Commons</vt:lpstr>
      <vt:lpstr>PS TT Commons DemiBold</vt:lpstr>
      <vt:lpstr>Segoe Pro</vt:lpstr>
      <vt:lpstr>Segoe UI</vt:lpstr>
      <vt:lpstr>Verdana</vt:lpstr>
      <vt:lpstr>Office Theme</vt:lpstr>
      <vt:lpstr>Standard_LiveLessons_2017</vt:lpstr>
      <vt:lpstr>PowerPoint Presentation</vt:lpstr>
      <vt:lpstr>Tim Warner</vt:lpstr>
      <vt:lpstr>Course Flow (Central Time Zone)</vt:lpstr>
      <vt:lpstr>Course materials</vt:lpstr>
      <vt:lpstr>Session Recording + Badge</vt:lpstr>
      <vt:lpstr>Session Recording + Badge</vt:lpstr>
      <vt:lpstr>Session Recording + Badge</vt:lpstr>
      <vt:lpstr>Mobile Browser: learning.oreilly.com</vt:lpstr>
      <vt:lpstr>O'Reilly Mobile App</vt:lpstr>
      <vt:lpstr>Session Recording + Badge</vt:lpstr>
      <vt:lpstr>Questions?</vt:lpstr>
      <vt:lpstr>Prerequisites</vt:lpstr>
      <vt:lpstr>Azure AI Engineer Associate</vt:lpstr>
      <vt:lpstr>Tim's IT Certification Study Model</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Tim Warner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AB-100 Agentic AI Business Solutions Architect</dc:title>
  <dc:subject>O'Reilly Live Learning -- 4 hours</dc:subject>
  <dc:creator>Tim Warner</dc:creator>
  <cp:lastModifiedBy>Tim Warner</cp:lastModifiedBy>
  <cp:revision>5</cp:revision>
  <dcterms:created xsi:type="dcterms:W3CDTF">2026-04-29T14:58:12Z</dcterms:created>
  <dcterms:modified xsi:type="dcterms:W3CDTF">2026-04-29T18:47:11Z</dcterms:modified>
</cp:coreProperties>
</file>