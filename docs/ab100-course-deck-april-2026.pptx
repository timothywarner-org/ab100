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50050" y="0"/>
            <a:ext cx="2793950" cy="5143500"/>
          </a:xfrm>
          <a:prstGeom prst="rect">
            <a:avLst/>
          </a:prstGeom>
          <a:solidFill>
            <a:srgbClr val="2A3A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620149" y="3810000"/>
            <a:ext cx="1015901" cy="101501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168301" y="762000"/>
            <a:ext cx="735797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14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MICROSOFT AB-100 EXAM PREP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68301" y="1362075"/>
            <a:ext cx="7357973" cy="1117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spcAft>
                <a:spcPts val="1800"/>
              </a:spcAft>
              <a:buNone/>
            </a:pPr>
            <a:r>
              <a:rPr lang="en-US" sz="4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Agentic AI Business Solutions Architect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168301" y="2708077"/>
            <a:ext cx="7357973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0"/>
              </a:spcAft>
              <a:buNone/>
            </a:pPr>
            <a:r>
              <a:rPr lang="en-US" sz="20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Plan, design, and deploy AI-powered business solutions in 4 hours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68301" y="3844677"/>
            <a:ext cx="73579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 Warner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68301" y="4133552"/>
            <a:ext cx="73579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A8B5D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O'Reilly Live Learning -- 4 hours, four 50-minute segments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61876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YOU WILL LEARN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25351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Course agenda -- four 50-minute segments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55550" y="1190476"/>
            <a:ext cx="1993850" cy="326097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93650" y="1190476"/>
            <a:ext cx="0" cy="3260973"/>
          </a:xfrm>
          <a:prstGeom prst="line">
            <a:avLst/>
          </a:prstGeom>
          <a:noFill/>
          <a:ln w="762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4150" y="1368177"/>
            <a:ext cx="164510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84150" y="1793528"/>
            <a:ext cx="164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-- 25-30%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4150" y="2012603"/>
            <a:ext cx="16451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AI Solutions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4150" y="2269778"/>
            <a:ext cx="1645107" cy="88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Requirements, grounding data, CAF AI adoption, platform choice, ROI and TCO, build vs buy vs extend.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01801" y="1190476"/>
            <a:ext cx="1993999" cy="326097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2539901" y="1190476"/>
            <a:ext cx="0" cy="3260973"/>
          </a:xfrm>
          <a:prstGeom prst="line">
            <a:avLst/>
          </a:prstGeom>
          <a:noFill/>
          <a:ln w="762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30401" y="1368177"/>
            <a:ext cx="164525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730401" y="1793528"/>
            <a:ext cx="1645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-- 25-30%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30401" y="2012603"/>
            <a:ext cx="1645259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AI Solutions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30401" y="2450753"/>
            <a:ext cx="1645259" cy="88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typology, Copilot Studio topics and flows, Foundry Tools, MCP and A2A, prebuilt orchestration.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48200" y="1190476"/>
            <a:ext cx="1993850" cy="326097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686300" y="1190476"/>
            <a:ext cx="0" cy="3260973"/>
          </a:xfrm>
          <a:prstGeom prst="line">
            <a:avLst/>
          </a:prstGeom>
          <a:noFill/>
          <a:ln w="76200">
            <a:solidFill>
              <a:srgbClr val="F484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6800" y="1368177"/>
            <a:ext cx="164510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876800" y="1793528"/>
            <a:ext cx="164510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 OPS -- ~20-25%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76800" y="2155478"/>
            <a:ext cx="164510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Deploy: Ops, Test, ALM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76800" y="2593628"/>
            <a:ext cx="1645107" cy="88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Monitoring and telemetry, agent testing, ALM across data, agents, custom models, and Dynamics 365.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94450" y="1190476"/>
            <a:ext cx="1993999" cy="326097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832550" y="1190476"/>
            <a:ext cx="0" cy="3260973"/>
          </a:xfrm>
          <a:prstGeom prst="line">
            <a:avLst/>
          </a:prstGeom>
          <a:noFill/>
          <a:ln w="76200">
            <a:solidFill>
              <a:srgbClr val="F484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23050" y="1368177"/>
            <a:ext cx="164525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023050" y="1793528"/>
            <a:ext cx="16452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 SEC -- ~20-25%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23050" y="2155478"/>
            <a:ext cx="1645259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Security and Exam Mastery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23050" y="2593628"/>
            <a:ext cx="1645259" cy="88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and model security, governance, prompt manipulation, residency, audit, exam-day plan.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7950" y="4680049"/>
            <a:ext cx="82906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Exam AB-100 study guide (synced 2026-04-21). Companion: Microsoft Learn path -- Architect AI solutions for business productivity (11 modules).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698802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634901"/>
            <a:ext cx="3627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SEGMENT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34901" y="1012627"/>
            <a:ext cx="3627069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0"/>
              </a:lnSpc>
              <a:buNone/>
            </a:pPr>
            <a:r>
              <a:rPr lang="en-US" sz="1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34901" y="2447627"/>
            <a:ext cx="362706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0:00 -- 0:50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06752" y="507950"/>
            <a:ext cx="33683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DOMAIN WEIGHT 25-30%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206752" y="860375"/>
            <a:ext cx="3368394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AI-powered business solutions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206752" y="1755725"/>
            <a:ext cx="1015901" cy="50750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06752" y="1958876"/>
            <a:ext cx="3302347" cy="142666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Analyze requirements and grounding data</a:t>
            </a:r>
            <a:endParaRPr lang="en-US" sz="1200" dirty="0"/>
          </a:p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overall AI strategy on the Cloud Adoption Framework</a:t>
            </a:r>
            <a:endParaRPr lang="en-US" sz="1200" dirty="0"/>
          </a:p>
          <a:p>
            <a:pPr algn="l" marL="114300" indent="-114300">
              <a:lnSpc>
                <a:spcPts val="174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Evaluate cost, ROI, build vs buy vs extend, and model router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06752" y="3537942"/>
            <a:ext cx="3302347" cy="1206847"/>
          </a:xfrm>
          <a:prstGeom prst="rect">
            <a:avLst/>
          </a:prstGeom>
          <a:solidFill>
            <a:srgbClr val="2A36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30564" y="3537942"/>
            <a:ext cx="0" cy="1206847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06777" y="3639443"/>
            <a:ext cx="300892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STUDY BETWEEN SESSIONS -- MICROSOFT LEARN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06777" y="3975943"/>
            <a:ext cx="2949922" cy="65469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215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01. Introduction to agentic AI</a:t>
            </a:r>
            <a:endParaRPr lang="en-US" sz="900" dirty="0"/>
          </a:p>
          <a:p>
            <a:pPr algn="l" marL="88900" indent="-88900">
              <a:lnSpc>
                <a:spcPts val="1215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02. Analyze requirements</a:t>
            </a:r>
            <a:endParaRPr lang="en-US" sz="900" dirty="0"/>
          </a:p>
          <a:p>
            <a:pPr algn="l" marL="88900" indent="-88900">
              <a:lnSpc>
                <a:spcPts val="1215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03. Design overall AI strategy</a:t>
            </a:r>
            <a:endParaRPr lang="en-US" sz="900" dirty="0"/>
          </a:p>
          <a:p>
            <a:pPr algn="l" marL="88900" indent="-88900">
              <a:lnSpc>
                <a:spcPts val="1215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04. Evaluate costs and benefits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6202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6744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1.1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00050"/>
            <a:ext cx="674407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Analyze requirements and grounding data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66825"/>
            <a:ext cx="400278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Where do agents fit?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7950" y="1612850"/>
            <a:ext cx="3924300" cy="8126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Task automation -- bounded, repeatable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Data analytics -- summarize and surface insight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Decision-making -- recommend, route, escalate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950" y="2603153"/>
            <a:ext cx="400278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Five grounding data tests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950" y="2949178"/>
            <a:ext cx="3924300" cy="8126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Accuracy and relevance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Timeliness and cleanliness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Availability for downstream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11601" y="1266825"/>
            <a:ext cx="400293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Architect lens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11601" y="1612850"/>
            <a:ext cx="3924449" cy="8126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Score data before you score the model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 sources to channels and identities</a:t>
            </a:r>
            <a:endParaRPr lang="en-US" sz="1200" dirty="0"/>
          </a:p>
          <a:p>
            <a:pPr algn="l" marL="101600" indent="-1016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organization-wide data architecture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11601" y="2603153"/>
            <a:ext cx="3924449" cy="840581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40176" y="2603153"/>
            <a:ext cx="0" cy="840581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21151" y="2730103"/>
            <a:ext cx="3633749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 tip.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Bad grounding data is the most common reason an agent fails review. Always evaluate the source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AB-100 study guide; Cloud Adoption Framework AI agent adoption.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1.2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overall AI strategy on CAF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87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87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Strategy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795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8795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703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703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Plan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511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2511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419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419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Ready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227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6227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35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135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Govern AI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943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9943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51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51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Manage AI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65950" y="1292126"/>
            <a:ext cx="1270099" cy="66347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7365950" y="1315938"/>
            <a:ext cx="12700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56780" y="1466701"/>
            <a:ext cx="1088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56780" y="1657201"/>
            <a:ext cx="10884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Secure AI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7950" y="2184202"/>
            <a:ext cx="40158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Platform decision tree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7950" y="2485727"/>
            <a:ext cx="3937099" cy="99045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Extend Microsoft 365 Copilot for in-flow productivity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Copilot Studio agent for business workflow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in Microsoft Foundry for custom models or A2A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prebuilt agents in Dynamics 365 when possible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98950" y="2184202"/>
            <a:ext cx="3937099" cy="139065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851350" y="2336602"/>
            <a:ext cx="37049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CENTER OF EXCELLENCE INPUTS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51350" y="2584252"/>
            <a:ext cx="3632299" cy="8382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 library and engineering guidelines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Rules and constraints for Foundry Tools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Multi-agent solution patterns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Small language model use cases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Cloud Adoption Framework AI adoption; AB-100 Subdomain 1.2.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1.2 -- AGENT TECHNOLOGY 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SaaS first, then low-code, then pro-code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2641699" cy="1190327"/>
          </a:xfrm>
          <a:prstGeom prst="rect">
            <a:avLst/>
          </a:prstGeom>
          <a:solidFill>
            <a:srgbClr val="E9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320701"/>
            <a:ext cx="2641699" cy="0"/>
          </a:xfrm>
          <a:prstGeom prst="line">
            <a:avLst/>
          </a:prstGeom>
          <a:noFill/>
          <a:ln w="5715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1023" y="1501676"/>
            <a:ext cx="2435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1023" y="1704826"/>
            <a:ext cx="243555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1023" y="1974652"/>
            <a:ext cx="2435554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Microsoft 365 Copilot, prebuilt Dynamics 365 agents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51150" y="1292126"/>
            <a:ext cx="2641699" cy="1190327"/>
          </a:xfrm>
          <a:prstGeom prst="rect">
            <a:avLst/>
          </a:prstGeom>
          <a:solidFill>
            <a:srgbClr val="FFF4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251150" y="1320701"/>
            <a:ext cx="2641699" cy="0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4223" y="1501676"/>
            <a:ext cx="2435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54223" y="1704826"/>
            <a:ext cx="243555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Low code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54223" y="1974652"/>
            <a:ext cx="2435554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Microsoft Copilot Studio agents and agent flows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94350" y="1292126"/>
            <a:ext cx="2641699" cy="1190327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994350" y="1320701"/>
            <a:ext cx="2641699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7423" y="1501676"/>
            <a:ext cx="2435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STEP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97423" y="1704826"/>
            <a:ext cx="243555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 code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97423" y="1974652"/>
            <a:ext cx="2435554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Microsoft Foundry, custom models, A2A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7950" y="2685604"/>
            <a:ext cx="40158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to drop a tier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7950" y="2987129"/>
            <a:ext cx="3937099" cy="99045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SaaS does not meet the requirement out of the box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Low code cannot model the workflow or scale path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Custom model, custom protocol, or A2A is required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Default to SaaS when the cost case is unclear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98950" y="2634853"/>
            <a:ext cx="3937099" cy="160020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851350" y="2787253"/>
            <a:ext cx="37049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FIVE ORCHESTRATION PATTERNS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51350" y="3034903"/>
            <a:ext cx="3632299" cy="10477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Sequential -- linear handoff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Concurrent -- parallel work, then merge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Group chat -- shared context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Handoff -- routed to a specialist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Magentic -- planner directs workers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Concepts informed by Microsoft AB-100T00 official courseware; AB-100 Subdomain 1.2.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1.3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Cost, benefit, and the model router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317575"/>
            <a:ext cx="40287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ROI and total cost of ownership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7950" y="1663601"/>
            <a:ext cx="3949750" cy="109701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Capacity, licensing, and Copilot Credits</a:t>
            </a:r>
            <a:endParaRPr lang="en-US" sz="1200" dirty="0"/>
          </a:p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Build, run, and improve costs over 12 months</a:t>
            </a:r>
            <a:endParaRPr lang="en-US" sz="1200" dirty="0"/>
          </a:p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 saved, deflection rate, conversion lift</a:t>
            </a:r>
            <a:endParaRPr lang="en-US" sz="1200" dirty="0"/>
          </a:p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Risk and compliance reduction value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950" y="2913013"/>
            <a:ext cx="3949750" cy="89148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36525" y="2913013"/>
            <a:ext cx="0" cy="891480"/>
          </a:xfrm>
          <a:prstGeom prst="line">
            <a:avLst/>
          </a:prstGeom>
          <a:noFill/>
          <a:ln w="5715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2801" y="3065413"/>
            <a:ext cx="3607942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Model router pattern.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Send each request to the most suitable model -- balance latency, cost, and quality.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86300" y="1317575"/>
            <a:ext cx="40287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vs buy vs extend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86300" y="1663601"/>
            <a:ext cx="1248817" cy="119285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686300" y="2832646"/>
            <a:ext cx="1248817" cy="0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77343" y="1790551"/>
            <a:ext cx="10667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77343" y="2022277"/>
            <a:ext cx="1066732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Custom Foundry agent or model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36618" y="1663601"/>
            <a:ext cx="1248966" cy="119285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036618" y="2832646"/>
            <a:ext cx="1248966" cy="0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7659" y="1790551"/>
            <a:ext cx="106688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7659" y="2022277"/>
            <a:ext cx="1066883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Prebuilt Dynamics 365 or M365 agent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87084" y="1663601"/>
            <a:ext cx="1248966" cy="119285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7387084" y="2832646"/>
            <a:ext cx="1248966" cy="0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78125" y="1790551"/>
            <a:ext cx="106688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78125" y="2022277"/>
            <a:ext cx="1066883" cy="659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Copilot Studio agent atop Microsoft 365 Copilot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86300" y="3034159"/>
            <a:ext cx="402874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Choose the cheapest path that meets the requirement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86300" y="3599259"/>
            <a:ext cx="3949750" cy="52313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Default to extend, then buy, then build</a:t>
            </a:r>
            <a:endParaRPr lang="en-US" sz="1200" dirty="0"/>
          </a:p>
          <a:p>
            <a:pPr algn="l" marL="101600" indent="-1016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Reserve build for differentiated capability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AB-100 Subdomain 1.3; Foundry model router guidance.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1.3 -- BUILD VS BUY VS EXTEND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TCO across five cost drivers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94350" y="1241375"/>
            <a:ext cx="2641699" cy="1523256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146750" y="1368326"/>
            <a:ext cx="23836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SCORING WEIGHTS (1-5)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46750" y="1571476"/>
            <a:ext cx="2336899" cy="106620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Strategic fit -- Build wins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 to value -- Buy wins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TCO -- compare across years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Customization need -- Build wins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Maintainability -- Extend balanced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94350" y="2891582"/>
            <a:ext cx="2641699" cy="1167854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018163" y="2891582"/>
            <a:ext cx="0" cy="1167854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94375" y="3018532"/>
            <a:ext cx="23350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SENSITIVITY BANDS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94375" y="3221682"/>
            <a:ext cx="2289274" cy="710803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Optimistic / expected / conservative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buSzPct val="100000"/>
              <a:buChar char="•"/>
            </a:pPr>
            <a:r>
              <a:rPr lang="en-US" sz="10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Vary adoption, time saved, labor mix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Concepts informed by Microsoft AB-100T00 official courseware; AB-100 Subdomain 1.3.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698802" cy="514350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634901"/>
            <a:ext cx="3627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SEGMENT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34901" y="1012627"/>
            <a:ext cx="3627069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0"/>
              </a:lnSpc>
              <a:buNone/>
            </a:pPr>
            <a:r>
              <a:rPr lang="en-US" sz="1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34901" y="2447627"/>
            <a:ext cx="362706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1:00 -- 1:50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06752" y="507950"/>
            <a:ext cx="33683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DOMAIN WEIGHT 25-30%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206752" y="834926"/>
            <a:ext cx="3368394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AI-powered business solutions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206752" y="2076301"/>
            <a:ext cx="1015901" cy="50750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06752" y="2279452"/>
            <a:ext cx="3302347" cy="1355824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AI and agents -- topics, flows, agent types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extensibility with custom models, MCP, and Computer Use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Orchestrate prebuilt AI features across Dynamics 365 and M365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06752" y="3787676"/>
            <a:ext cx="3302347" cy="1040011"/>
          </a:xfrm>
          <a:prstGeom prst="rect">
            <a:avLst/>
          </a:prstGeom>
          <a:solidFill>
            <a:srgbClr val="2A36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30564" y="3787676"/>
            <a:ext cx="0" cy="1040011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06777" y="3889177"/>
            <a:ext cx="300892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STUDY BETWEEN SESSIONS -- MICROSOFT LEARN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06777" y="4225677"/>
            <a:ext cx="2949922" cy="487859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215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05. Design AI agents</a:t>
            </a:r>
            <a:endParaRPr lang="en-US" sz="900" dirty="0"/>
          </a:p>
          <a:p>
            <a:pPr algn="l" marL="88900" indent="-88900">
              <a:lnSpc>
                <a:spcPts val="1215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06. Design extensibility</a:t>
            </a:r>
            <a:endParaRPr lang="en-US" sz="900" dirty="0"/>
          </a:p>
          <a:p>
            <a:pPr algn="l" marL="88900" indent="-88900">
              <a:lnSpc>
                <a:spcPts val="1215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07. Orchestrate prebuilt agents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2.1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Three agent types in Copilot Studio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2607766" cy="1835944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320701"/>
            <a:ext cx="2607766" cy="0"/>
          </a:xfrm>
          <a:prstGeom prst="line">
            <a:avLst/>
          </a:prstGeom>
          <a:noFill/>
          <a:ln w="5715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651" y="1526977"/>
            <a:ext cx="2297412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 AND RESPONSE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651" y="1794123"/>
            <a:ext cx="229741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Conversational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651" y="2063948"/>
            <a:ext cx="2297412" cy="81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Topic-driven dialog with NLU, fallback, and generative orchestration. Best for FAQ, lookup, and guided flows.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68117" y="1292126"/>
            <a:ext cx="2607766" cy="1835944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268117" y="1320701"/>
            <a:ext cx="2607766" cy="0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5818" y="1526977"/>
            <a:ext cx="2297412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TASK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45818" y="1794123"/>
            <a:ext cx="229741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Workflow runner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45818" y="2063948"/>
            <a:ext cx="2297412" cy="81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Calls tools and connectors to complete a defined task -- create a record, send a message, kick off a flow.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28283" y="1292126"/>
            <a:ext cx="2607766" cy="1835944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028283" y="1320701"/>
            <a:ext cx="2607766" cy="0"/>
          </a:xfrm>
          <a:prstGeom prst="line">
            <a:avLst/>
          </a:prstGeom>
          <a:noFill/>
          <a:ln w="57150">
            <a:solidFill>
              <a:srgbClr val="1F2A5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05984" y="1526977"/>
            <a:ext cx="2297412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AUTONOMOUS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05984" y="1794123"/>
            <a:ext cx="229741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Event-driven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05984" y="2063948"/>
            <a:ext cx="2297412" cy="81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Triggers on events such as new email or record change. Runs in the background within scoped permissions.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7950" y="3305770"/>
            <a:ext cx="3987850" cy="645021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85651" y="3432721"/>
            <a:ext cx="370509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Topics: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classic, generative answers, fallback. Choose NLP, CLU, or generative orchestration.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48200" y="3305770"/>
            <a:ext cx="3987850" cy="645021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825901" y="3432721"/>
            <a:ext cx="370509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flows: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orchestrate multi-step actions.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 actions: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structured AI calls.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Copilot Studio agent types, autonomous agents, generative orchestration.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34615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2.1 -- NLP DECISION LANE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Pick standard NLP, CLU, or generative orchestration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625501"/>
            <a:ext cx="2607766" cy="2994273"/>
          </a:xfrm>
          <a:prstGeom prst="rect">
            <a:avLst/>
          </a:prstGeom>
          <a:solidFill>
            <a:srgbClr val="E9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654076"/>
            <a:ext cx="2607766" cy="0"/>
          </a:xfrm>
          <a:prstGeom prst="line">
            <a:avLst/>
          </a:prstGeom>
          <a:noFill/>
          <a:ln w="5715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0350" y="1860352"/>
            <a:ext cx="234902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Standard NLP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0350" y="2130177"/>
            <a:ext cx="23490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Deterministic, rule-locked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0350" y="2384078"/>
            <a:ext cx="2302966" cy="7429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Regulated and audited flows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Fixed intent set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Reproducible outcomes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0350" y="4108698"/>
            <a:ext cx="2349026" cy="219075"/>
          </a:xfrm>
          <a:prstGeom prst="rect">
            <a:avLst/>
          </a:prstGeom>
          <a:noFill/>
          <a:ln/>
        </p:spPr>
        <p:txBody>
          <a:bodyPr wrap="square" lIns="0" tIns="76200" rIns="0" bIns="0" rtlCol="0" anchor="t"/>
          <a:lstStyle/>
          <a:p>
            <a:pPr algn="l" indent="0" marL="0">
              <a:spcBef>
                <a:spcPts val="693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VERB: rigid, prescribed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68117" y="1625501"/>
            <a:ext cx="2607766" cy="2994273"/>
          </a:xfrm>
          <a:prstGeom prst="rect">
            <a:avLst/>
          </a:prstGeom>
          <a:solidFill>
            <a:srgbClr val="FFF4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268117" y="1654076"/>
            <a:ext cx="2607766" cy="0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0517" y="1860352"/>
            <a:ext cx="234902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Azure CLU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0517" y="2130177"/>
            <a:ext cx="23490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Trainable, varied phrasing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0517" y="2384078"/>
            <a:ext cx="2302966" cy="11620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Known topics, many ways to ask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Slot filling and entity extraction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Trained models per language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20517" y="4108698"/>
            <a:ext cx="2349026" cy="219075"/>
          </a:xfrm>
          <a:prstGeom prst="rect">
            <a:avLst/>
          </a:prstGeom>
          <a:noFill/>
          <a:ln/>
        </p:spPr>
        <p:txBody>
          <a:bodyPr wrap="square" lIns="0" tIns="76200" rIns="0" bIns="0" rtlCol="0" anchor="t"/>
          <a:lstStyle/>
          <a:p>
            <a:pPr algn="l" indent="0" marL="0">
              <a:spcBef>
                <a:spcPts val="363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VERB: varied, trainable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28283" y="1625501"/>
            <a:ext cx="2607766" cy="2994273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028283" y="1654076"/>
            <a:ext cx="2607766" cy="0"/>
          </a:xfrm>
          <a:prstGeom prst="line">
            <a:avLst/>
          </a:prstGeom>
          <a:noFill/>
          <a:ln w="571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80683" y="1860352"/>
            <a:ext cx="234902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Generative orchestration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80683" y="2349252"/>
            <a:ext cx="23490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Open-ended, knowledge-grounded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80683" y="2603153"/>
            <a:ext cx="2302966" cy="9525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Multi-turn conversation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Reasoning across knowledge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Topic + agent flow + prompt action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80683" y="4108698"/>
            <a:ext cx="2349026" cy="219075"/>
          </a:xfrm>
          <a:prstGeom prst="rect">
            <a:avLst/>
          </a:prstGeom>
          <a:noFill/>
          <a:ln/>
        </p:spPr>
        <p:txBody>
          <a:bodyPr wrap="square" lIns="0" tIns="76200" rIns="0" bIns="0" rtlCol="0" anchor="t"/>
          <a:lstStyle/>
          <a:p>
            <a:pPr algn="l" indent="0" marL="0">
              <a:spcBef>
                <a:spcPts val="3555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VERB: open-ended, grounded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Concepts informed by Microsoft AB-100T00 official courseware; AB-100 Subdomain 2.1.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2.2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Extensibility -- MCP, A2A, custom models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400278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Open protocols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7950" y="1663601"/>
            <a:ext cx="1911400" cy="76795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31763" y="1663601"/>
            <a:ext cx="0" cy="767953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2526" y="1765102"/>
            <a:ext cx="16420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MCP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2526" y="1974652"/>
            <a:ext cx="1642071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Model Context Protocol -- tools and resources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20851" y="1663601"/>
            <a:ext cx="1911400" cy="76795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544663" y="1663601"/>
            <a:ext cx="0" cy="767953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5426" y="1765102"/>
            <a:ext cx="16420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A2A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95426" y="1974652"/>
            <a:ext cx="1642071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Agent2Agent -- cross-agent calls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7950" y="2533055"/>
            <a:ext cx="1911400" cy="59025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31763" y="2533055"/>
            <a:ext cx="0" cy="590252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2526" y="2634555"/>
            <a:ext cx="16420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OpenAPI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2526" y="2844105"/>
            <a:ext cx="164207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HTTP API tools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20851" y="2533055"/>
            <a:ext cx="1911400" cy="59025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544663" y="2533055"/>
            <a:ext cx="0" cy="590252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95426" y="2634555"/>
            <a:ext cx="16420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Toolbox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95426" y="2844105"/>
            <a:ext cx="164207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Bundled MCP endpoint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7950" y="3250257"/>
            <a:ext cx="3924300" cy="89148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85651" y="3402657"/>
            <a:ext cx="3640276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MCP requires generative orchestration.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Connect once on the server, reuse across agents and runtimes.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11601" y="1292126"/>
            <a:ext cx="400293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Behavior and reach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11601" y="1663601"/>
            <a:ext cx="3924449" cy="1832818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Custom models in Microsoft Foundry</a:t>
            </a:r>
            <a:endParaRPr lang="en-US" sz="1100" dirty="0"/>
          </a:p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Agents in Microsoft 365 Copilot</a:t>
            </a:r>
            <a:endParaRPr lang="en-US" sz="1100" dirty="0"/>
          </a:p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Computer Use -- automate apps and websites</a:t>
            </a:r>
            <a:endParaRPr lang="en-US" sz="1100" dirty="0"/>
          </a:p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Reasoning and voice mode behaviors</a:t>
            </a:r>
            <a:endParaRPr lang="en-US" sz="1100" dirty="0"/>
          </a:p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Optimize across Teams and SharePoint</a:t>
            </a:r>
            <a:endParaRPr lang="en-US" sz="1100" dirty="0"/>
          </a:p>
          <a:p>
            <a:pPr algn="l" marL="101600" indent="-101600">
              <a:lnSpc>
                <a:spcPts val="1705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Foundry Tools: Web search, Code Interpreter, File Search, AI Search, Functions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Foundry Agent Service tool catalog; Copilot Studio MCP extensibility.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2.2 -- AGENT BEHAVIOR TRIGGERS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Reasoning, voice, and Computer Use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41375"/>
            <a:ext cx="3975199" cy="1370409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36525" y="1241375"/>
            <a:ext cx="0" cy="1370409"/>
          </a:xfrm>
          <a:prstGeom prst="line">
            <a:avLst/>
          </a:prstGeom>
          <a:noFill/>
          <a:ln w="5715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2801" y="1368326"/>
            <a:ext cx="363390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Standard reasoning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2801" y="1619101"/>
            <a:ext cx="36339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WHEN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2801" y="1822252"/>
            <a:ext cx="3562648" cy="63728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Summaries, lookups, greetings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Single-step retrieval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Latency budget is tight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950" y="2738735"/>
            <a:ext cx="3975199" cy="1370409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36525" y="2738735"/>
            <a:ext cx="0" cy="1370409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2801" y="2865686"/>
            <a:ext cx="363390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2801" y="3116461"/>
            <a:ext cx="36339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WHEN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2801" y="3319611"/>
            <a:ext cx="3562648" cy="63728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Multi-step validation chains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Constraint and policy evaluation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Finance, compliance, engineering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0850" y="1241375"/>
            <a:ext cx="3975199" cy="1370409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689425" y="1241375"/>
            <a:ext cx="0" cy="1370409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5701" y="1368326"/>
            <a:ext cx="363390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Voice mode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5701" y="1619101"/>
            <a:ext cx="36339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RULES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95701" y="1822252"/>
            <a:ext cx="3562648" cy="63728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Short phrasing, confirm before action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Confidence checks, graceful backtrack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Interruption handling required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60850" y="2738735"/>
            <a:ext cx="3975199" cy="1334691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38551" y="2891135"/>
            <a:ext cx="369219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COMPUTER USE -- LAST RESORT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38551" y="3138785"/>
            <a:ext cx="3619798" cy="78224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only when no API or connector exists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Legacy desktop, vendor portals, dynamic UI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Reasoning over visible elements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an API exists, do not pick Computer Use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Concepts informed by Microsoft AB-100T00 official courseware; AB-100 Subdomain 2.2.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2.3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Orchestrate prebuilt agents and apps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3949750" cy="123676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36525" y="1292126"/>
            <a:ext cx="0" cy="1236762"/>
          </a:xfrm>
          <a:prstGeom prst="line">
            <a:avLst/>
          </a:prstGeom>
          <a:noFill/>
          <a:ln w="5715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2801" y="1469827"/>
            <a:ext cx="36079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Dynamics 365 customer experience and service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2801" y="1946077"/>
            <a:ext cx="3607942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Copilot for Sales and Service, business terms, connectors, Contact Center channel agents.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950" y="2655838"/>
            <a:ext cx="3949750" cy="123676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36525" y="2655838"/>
            <a:ext cx="0" cy="1236762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2801" y="2833539"/>
            <a:ext cx="36079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Dynamics 365 finance and supply chain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2801" y="3309789"/>
            <a:ext cx="3607942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 and O agent chats with extra knowledge sources, in-app help and guidance, AI features.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86300" y="1292126"/>
            <a:ext cx="3949750" cy="123676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714875" y="1292126"/>
            <a:ext cx="0" cy="1236762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1151" y="1469827"/>
            <a:ext cx="36079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Microsoft 365 Copilot for Sales and Service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21151" y="1946077"/>
            <a:ext cx="3607942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Configure CRM grounding, agent surfaces, and Sales-specific actions across email and Teams.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86300" y="2655838"/>
            <a:ext cx="3949750" cy="179233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714875" y="2655838"/>
            <a:ext cx="0" cy="1792337"/>
          </a:xfrm>
          <a:prstGeom prst="line">
            <a:avLst/>
          </a:prstGeom>
          <a:noFill/>
          <a:ln w="5715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21151" y="2833539"/>
            <a:ext cx="36079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Power Platform AI hub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21151" y="3109764"/>
            <a:ext cx="3607942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Catalog of AI prompts, models, and AI Builder features that intelligent canvas apps can call.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21151" y="3565624"/>
            <a:ext cx="3537198" cy="6667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Propose M365 agents for business scenarios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Apply Power Platform Well-Architected to intelligent workloads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AB-100 Subdomain 2.3; Microsoft 365 agents deployment checklist.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698802" cy="5143500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634901"/>
            <a:ext cx="3627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SEGMENT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34901" y="1012627"/>
            <a:ext cx="3627069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0"/>
              </a:lnSpc>
              <a:buNone/>
            </a:pPr>
            <a:r>
              <a:rPr lang="en-US" sz="1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34901" y="2447627"/>
            <a:ext cx="362706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2:00 -- 2:50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06752" y="457200"/>
            <a:ext cx="3368394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 DOMAIN -- OPS, TEST, ALM (~20-25%)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206752" y="920651"/>
            <a:ext cx="3368394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Deploy: monitor, test, and ALM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206752" y="1688902"/>
            <a:ext cx="1015901" cy="5075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06752" y="1866602"/>
            <a:ext cx="3302347" cy="1355824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Analyze, monitor, and tune AI-powered solutions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Manage testing of agents and custom AI models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ALM across data, agents, and Dynamics 365 AI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06752" y="3349377"/>
            <a:ext cx="3302347" cy="1040011"/>
          </a:xfrm>
          <a:prstGeom prst="rect">
            <a:avLst/>
          </a:prstGeom>
          <a:solidFill>
            <a:srgbClr val="2A36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30564" y="3349377"/>
            <a:ext cx="0" cy="1040011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06777" y="3450878"/>
            <a:ext cx="300892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STUDY BETWEEN SESSIONS -- MICROSOFT LEARN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06777" y="3787378"/>
            <a:ext cx="2949922" cy="487859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215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08. Monitor, analyze, and tune agents</a:t>
            </a:r>
            <a:endParaRPr lang="en-US" sz="900" dirty="0"/>
          </a:p>
          <a:p>
            <a:pPr algn="l" marL="88900" indent="-88900">
              <a:lnSpc>
                <a:spcPts val="1215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09. Manage testing</a:t>
            </a:r>
            <a:endParaRPr lang="en-US" sz="900" dirty="0"/>
          </a:p>
          <a:p>
            <a:pPr algn="l" marL="88900" indent="-88900">
              <a:lnSpc>
                <a:spcPts val="1215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10. Design ALM process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206752" y="4490889"/>
            <a:ext cx="33683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900" i="1" dirty="0">
                <a:solidFill>
                  <a:srgbClr val="A8B5D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Note: Microsoft groups Deploy as one 40-45 percent domain. Tim splits it across segments 3 and 4 for pacing.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3.1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Monitor agents and tune from telemetry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15926"/>
            <a:ext cx="2624733" cy="131043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239738"/>
            <a:ext cx="2624733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0350" y="1390501"/>
            <a:ext cx="23663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BUCKET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60350" y="1558677"/>
            <a:ext cx="23663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Operational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0350" y="1790402"/>
            <a:ext cx="2319933" cy="58370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Latency and throughput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Error rate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Resource utilization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59634" y="1215926"/>
            <a:ext cx="2624733" cy="131043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259634" y="1239738"/>
            <a:ext cx="2624733" cy="0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2034" y="1390501"/>
            <a:ext cx="23663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BUCKET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12034" y="1558677"/>
            <a:ext cx="23663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Quality and reasoning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12034" y="1790402"/>
            <a:ext cx="2319933" cy="58370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Response accuracy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Knowledge coverage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Action effectiveness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11317" y="1215926"/>
            <a:ext cx="2624733" cy="1310432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011317" y="1239738"/>
            <a:ext cx="2624733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63717" y="1390501"/>
            <a:ext cx="23663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BUCKET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63717" y="1558677"/>
            <a:ext cx="23663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User-centered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63717" y="1790402"/>
            <a:ext cx="2319933" cy="58370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Task completion rate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Satisfaction (CSAT)</a:t>
            </a:r>
            <a:endParaRPr lang="en-US" sz="1000" dirty="0"/>
          </a:p>
          <a:p>
            <a:pPr algn="l" marL="88900" indent="-88900">
              <a:lnSpc>
                <a:spcPts val="14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Abandonment rate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7950" y="2653308"/>
            <a:ext cx="1117699" cy="30480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0304" y="2729508"/>
            <a:ext cx="9329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Monitor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701701" y="2715220"/>
            <a:ext cx="1348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&gt;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909911" y="2653308"/>
            <a:ext cx="1117848" cy="30480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002264" y="2729508"/>
            <a:ext cx="9331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Detect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03811" y="2715220"/>
            <a:ext cx="1348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&gt;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12021" y="2653308"/>
            <a:ext cx="1117699" cy="30480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04375" y="2729508"/>
            <a:ext cx="9329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Correlate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05771" y="2715220"/>
            <a:ext cx="1348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&gt;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13982" y="2653308"/>
            <a:ext cx="1117848" cy="30480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6334" y="2729508"/>
            <a:ext cx="9331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Root cause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07881" y="2715220"/>
            <a:ext cx="1348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&gt;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16092" y="2653308"/>
            <a:ext cx="1117848" cy="30480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208444" y="2729508"/>
            <a:ext cx="9331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09991" y="2715220"/>
            <a:ext cx="1348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&gt;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518202" y="2653308"/>
            <a:ext cx="1117848" cy="304800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610554" y="2729508"/>
            <a:ext cx="9331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Validate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7950" y="3085058"/>
            <a:ext cx="8128099" cy="558403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536525" y="3085058"/>
            <a:ext cx="0" cy="558403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7500" y="3186559"/>
            <a:ext cx="7921472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Task completion rate is the user-success metric.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Sudden drop in output relevancy is the strongest model-drift signal. Tune from patterns, not isolated events.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7950" y="487367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Concepts informed by Microsoft AB-100T00 official courseware; AB-100 Subdomain 3.1.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SUBDOMAINS 3.2 AND 3.3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Test strategy and ALM golden rules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92126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Test strategy (3.2)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593652"/>
            <a:ext cx="3949750" cy="12001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Process and metrics to test agents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Validation criteria for custom AI models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Validate Copilot prompt best practices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End-to-end tests across multiple Dynamics 365 apps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Generate test cases by using Copilot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7950" y="2920752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ALM covers (3.3)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7950" y="3222278"/>
            <a:ext cx="3949750" cy="9525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Data used in AI models and agents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Copilot Studio agents, connectors, actions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Microsoft Foundry agents and custom models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in Dynamics 365 finance, supply chain, and CES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86300" y="1292126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Three-environment pipeline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86300" y="1593652"/>
            <a:ext cx="1096417" cy="355402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53060" y="1695152"/>
            <a:ext cx="9628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DEV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58917" y="1661815"/>
            <a:ext cx="18125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&gt;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12818" y="1593652"/>
            <a:ext cx="1096566" cy="355402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179576" y="1695152"/>
            <a:ext cx="963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285583" y="1661815"/>
            <a:ext cx="18125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&gt;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539484" y="1593652"/>
            <a:ext cx="1096566" cy="355402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606242" y="1695152"/>
            <a:ext cx="963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86300" y="2126754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ALM golden rules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86300" y="2428280"/>
            <a:ext cx="3949750" cy="12001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Never customize outside dev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Always work in solutions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environment variables for settings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 managed solutions to test and prod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Automate with Power Platform pipelines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86300" y="3755380"/>
            <a:ext cx="3949750" cy="645021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14875" y="3755380"/>
            <a:ext cx="0" cy="645021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5850" y="3882330"/>
            <a:ext cx="365955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out: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some Copilot Studio settings are not solution-aware -- App Insights, channels, sharing.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ALM strategy for Copilot Studio; Power Platform pipelines for agents.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3.3 -- ENVIRONMENT STRATEGY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Dev to Test to Pre-Prod to Prod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241375"/>
            <a:ext cx="1955899" cy="68252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265188"/>
            <a:ext cx="19558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1922" y="1415951"/>
            <a:ext cx="1787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1922" y="1596926"/>
            <a:ext cx="17879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5350" y="1241375"/>
            <a:ext cx="1955899" cy="68252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565350" y="1265188"/>
            <a:ext cx="1955899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49322" y="1415951"/>
            <a:ext cx="1787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STAGE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49322" y="1596926"/>
            <a:ext cx="17879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22750" y="1241375"/>
            <a:ext cx="1955899" cy="682526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622750" y="1265188"/>
            <a:ext cx="1955899" cy="0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6722" y="1415951"/>
            <a:ext cx="1787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STAGE 3 -- CANARY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06722" y="1596926"/>
            <a:ext cx="17879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Pre-Prod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80150" y="1241375"/>
            <a:ext cx="1955899" cy="682526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680150" y="1265188"/>
            <a:ext cx="1955899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4122" y="1415951"/>
            <a:ext cx="1787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STAGE 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64122" y="1596926"/>
            <a:ext cx="17879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7950" y="3323183"/>
            <a:ext cx="8128099" cy="609302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36525" y="3323183"/>
            <a:ext cx="0" cy="609302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801" y="3450134"/>
            <a:ext cx="786985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Red is mutable, gold is frozen.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Only frozen, evaluation-passed datasets cross into Prod. Promotion is a control plane decision, not a deployment step.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7950" y="4084737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Concepts informed by Microsoft AB-100T00 official courseware; AB-100 Subdomain 3.3.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698802" cy="5143500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634901"/>
            <a:ext cx="3627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SEGMENT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34901" y="1012627"/>
            <a:ext cx="3627069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0"/>
              </a:lnSpc>
              <a:buNone/>
            </a:pPr>
            <a:r>
              <a:rPr lang="en-US" sz="1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34901" y="2447627"/>
            <a:ext cx="362706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6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3:00 -- 3:50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06752" y="507950"/>
            <a:ext cx="336839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DEPLOY DOMAIN -- SEC AND GOV (~20-25%)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206752" y="1034951"/>
            <a:ext cx="3368394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Security, governance, and exam mastery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206752" y="2162026"/>
            <a:ext cx="1015901" cy="5075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06752" y="2365177"/>
            <a:ext cx="3302347" cy="1820466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security and governance for agents and models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Defend against prompt manipulation and indirect injection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Validate residency, access controls, and audit trails</a:t>
            </a:r>
            <a:endParaRPr lang="en-US" sz="1200" dirty="0"/>
          </a:p>
          <a:p>
            <a:pPr algn="l" marL="114300" indent="-114300">
              <a:lnSpc>
                <a:spcPts val="168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Walk in confident -- AB-100 exam-day plan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06752" y="4338042"/>
            <a:ext cx="3302347" cy="706338"/>
          </a:xfrm>
          <a:prstGeom prst="rect">
            <a:avLst/>
          </a:prstGeom>
          <a:solidFill>
            <a:srgbClr val="2A36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30564" y="4338042"/>
            <a:ext cx="0" cy="706338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06777" y="4439543"/>
            <a:ext cx="300892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STUDY BETWEEN SESSIONS -- MICROSOFT LEARN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06777" y="4776043"/>
            <a:ext cx="2949922" cy="154186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215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11. Responsible AI security and governance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61876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0315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3.4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25351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Security, governance, and responsible AI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190476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Defense in depth for agents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492002"/>
            <a:ext cx="1936700" cy="63847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31763" y="1492002"/>
            <a:ext cx="0" cy="638473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076" y="1568202"/>
            <a:ext cx="17197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7076" y="1745903"/>
            <a:ext cx="171979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Entra ID, RBAC, least privilege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20851" y="1492002"/>
            <a:ext cx="1936849" cy="638473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544663" y="1492002"/>
            <a:ext cx="0" cy="638473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9977" y="1568202"/>
            <a:ext cx="17199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69977" y="1745903"/>
            <a:ext cx="1719947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Knowledge ACLs, DLP, residency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206675"/>
            <a:ext cx="1936700" cy="48428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31763" y="2206675"/>
            <a:ext cx="0" cy="484287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076" y="2282875"/>
            <a:ext cx="17197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 shields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7076" y="2460575"/>
            <a:ext cx="171979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Direct and indirect injection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520851" y="2206675"/>
            <a:ext cx="1936849" cy="48428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544663" y="2206675"/>
            <a:ext cx="0" cy="484287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69977" y="2282875"/>
            <a:ext cx="17199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Spotlighting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69977" y="2460575"/>
            <a:ext cx="1719947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Mark untrusted content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7950" y="2767161"/>
            <a:ext cx="1936700" cy="48428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31763" y="2767161"/>
            <a:ext cx="0" cy="484287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7076" y="2843361"/>
            <a:ext cx="17197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Critic agents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7076" y="3021062"/>
            <a:ext cx="171979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Audit inputs and outputs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520851" y="2767161"/>
            <a:ext cx="1936849" cy="484287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2544663" y="2767161"/>
            <a:ext cx="0" cy="484287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9977" y="2843361"/>
            <a:ext cx="17199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Human in loop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669977" y="3021062"/>
            <a:ext cx="1719947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Verify risky actions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7950" y="3327648"/>
            <a:ext cx="3949750" cy="71690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536525" y="3327648"/>
            <a:ext cx="0" cy="716905"/>
          </a:xfrm>
          <a:prstGeom prst="line">
            <a:avLst/>
          </a:prstGeom>
          <a:noFill/>
          <a:ln w="57150">
            <a:solidFill>
              <a:srgbClr val="F484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500" y="3429149"/>
            <a:ext cx="3659556" cy="51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Indirect prompt injection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hides instructions in documents the agent reads. Layer probabilistic and deterministic mitigations.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86300" y="1190476"/>
            <a:ext cx="40287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Governance and compliance checklist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686300" y="1492002"/>
            <a:ext cx="3949750" cy="188714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security and governance for agents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Design model security and tuning controls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Analyze AI vulnerabilities and mitigations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Review against responsible AI principles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Validate data residency and movement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Access controls on grounding and tuning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Audit trails for model and data changes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Purview and Sentinel for end-user activity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7950" y="487367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Microsoft Learn -- Defend against indirect prompt injection (Zero Trust SFI); Copilot Studio responsible AI.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3.4 -- AI VULNERABILITY TAXONOMY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Five buckets, five primary mitigations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Concepts informed by Microsoft AB-100T00 official courseware; AB-100 Subdomain 3.4.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2775"/>
          </a:xfrm>
          <a:prstGeom prst="rect">
            <a:avLst/>
          </a:prstGeom>
          <a:solidFill>
            <a:srgbClr val="1F2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28600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SUBDOMAIN 3.4 -- RESPONSIBLE AI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7950" y="450800"/>
            <a:ext cx="829066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Six lenses for the architect review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1190476"/>
            <a:ext cx="8290661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Pressure-test every model, agent, workflow, and UX choice against all six. Each lens is a question the architect must answer.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7950" y="1794718"/>
            <a:ext cx="2624733" cy="1298228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818531"/>
            <a:ext cx="2624733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0350" y="1969294"/>
            <a:ext cx="23663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LENS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60350" y="2154585"/>
            <a:ext cx="23663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Fairness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0350" y="2405360"/>
            <a:ext cx="2366331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Did the training data and grounding sources represent every user group the agent will serve?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59634" y="1794718"/>
            <a:ext cx="2624733" cy="1298228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259634" y="1818531"/>
            <a:ext cx="2624733" cy="0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2034" y="1969294"/>
            <a:ext cx="23663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LENS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12034" y="2154585"/>
            <a:ext cx="23663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Reliability and safety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12034" y="2405360"/>
            <a:ext cx="2366331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Does the agent fail predictably and safely on edge cases, with content filters and rollback?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11317" y="1794718"/>
            <a:ext cx="2624733" cy="1298228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011317" y="1818531"/>
            <a:ext cx="2624733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63717" y="1969294"/>
            <a:ext cx="23663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LENS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63717" y="2154585"/>
            <a:ext cx="23663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Privacy and security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63717" y="2405360"/>
            <a:ext cx="2366331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Are knowledge sources, prompts, and outputs scoped to the user, with DLP and residency enforced?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7950" y="3219896"/>
            <a:ext cx="2624733" cy="1475929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07950" y="3243709"/>
            <a:ext cx="2624733" cy="0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350" y="3394472"/>
            <a:ext cx="23663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LENS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60350" y="3579763"/>
            <a:ext cx="23663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Inclusiveness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0350" y="3830538"/>
            <a:ext cx="2366331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Does the experience work across language, accessibility, and modality (text, voice, screen reader)?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59634" y="3219896"/>
            <a:ext cx="2624733" cy="1475929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259634" y="3243709"/>
            <a:ext cx="2624733" cy="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12034" y="3394472"/>
            <a:ext cx="23663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LENS 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12034" y="3579763"/>
            <a:ext cx="23663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Transparency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412034" y="3830538"/>
            <a:ext cx="2366331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Can users tell they are interacting with an agent and see the basis for its answer?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11317" y="3219896"/>
            <a:ext cx="2624733" cy="1475929"/>
          </a:xfrm>
          <a:prstGeom prst="rect">
            <a:avLst/>
          </a:prstGeom>
          <a:solidFill>
            <a:srgbClr val="E9EC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6011317" y="3243709"/>
            <a:ext cx="2624733" cy="0"/>
          </a:xfrm>
          <a:prstGeom prst="line">
            <a:avLst/>
          </a:prstGeom>
          <a:noFill/>
          <a:ln w="47625">
            <a:solidFill>
              <a:srgbClr val="F484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63717" y="3394472"/>
            <a:ext cx="23663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484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LENS 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63717" y="3579763"/>
            <a:ext cx="23663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Accountability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163717" y="3830538"/>
            <a:ext cx="2366331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Is there a named owner, an agent registry entry, and an audit trail of changes and decisions?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7950" y="4848225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Microsoft Responsible AI Standard v2; concepts informed by AB-100T00 official courseware; AB-100 Subdomain 3.4.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F2A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279350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 MASTERY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34901" y="511076"/>
            <a:ext cx="803168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Walk in confident on exam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34901" y="1085701"/>
            <a:ext cx="3899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AB-100 AT A GLANCE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42876"/>
            <a:ext cx="3822799" cy="2514005"/>
          </a:xfrm>
          <a:prstGeom prst="rect">
            <a:avLst/>
          </a:prstGeom>
          <a:solidFill>
            <a:srgbClr val="2A3A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12602" y="1469827"/>
            <a:ext cx="353674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AB-100 -- Agentic AI Business Solutions Architect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2602" y="1911697"/>
            <a:ext cx="353674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Level: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Advanced (Expert) -- Solution Architect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12602" y="2158008"/>
            <a:ext cx="353674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Passing score: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700 / 1000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12602" y="2404318"/>
            <a:ext cx="353674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Renewal: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12 months -- free Microsoft Learn assessment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2602" y="2846189"/>
            <a:ext cx="353674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Prerequisite: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one qualifying associate certification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12602" y="3288060"/>
            <a:ext cx="353674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Domains:</a:t>
            </a:r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E9ECF2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Plan 25-30, Design 25-30, Deploy 40-45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86300" y="1085701"/>
            <a:ext cx="3899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0B4D8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FINAL-WEEK PLAN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86300" y="1342876"/>
            <a:ext cx="3822799" cy="2059632"/>
          </a:xfrm>
          <a:prstGeom prst="rect">
            <a:avLst/>
          </a:prstGeom>
          <a:solidFill>
            <a:srgbClr val="F484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64001" y="1469827"/>
            <a:ext cx="353674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Your 5-step closer: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64001" y="1716137"/>
            <a:ext cx="3467398" cy="152132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54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Re-read docs/ab100-exam-objectives.md word for word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Run the AB-100 Cert Buddy: questions and labs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Drill Subdomain 3.4 -- highest-yield section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Exam Readiness Zone for AB-100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Sleep, hydrate, register early at Pearson VUE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0" y="4708624"/>
            <a:ext cx="9144000" cy="434876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4901" y="4835575"/>
            <a:ext cx="80316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Next steps: /ab100-practice-question :: /ab100-practice-lab :: /ab100-study-planner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Tim Warner Training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AB-100 Agentic AI Business Solutions Architect</dc:title>
  <dc:subject>O'Reilly Live Learning -- 4 hours</dc:subject>
  <dc:creator>Tim Warner</dc:creator>
  <cp:lastModifiedBy>Tim Warner</cp:lastModifiedBy>
  <cp:revision>1</cp:revision>
  <dcterms:created xsi:type="dcterms:W3CDTF">2026-04-29T14:58:12Z</dcterms:created>
  <dcterms:modified xsi:type="dcterms:W3CDTF">2026-04-29T14:58:12Z</dcterms:modified>
</cp:coreProperties>
</file>